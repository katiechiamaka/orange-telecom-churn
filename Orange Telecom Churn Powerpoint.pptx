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64" r:id="rId3"/>
    <p:sldId id="263" r:id="rId4"/>
    <p:sldId id="266" r:id="rId5"/>
    <p:sldId id="267" r:id="rId6"/>
    <p:sldId id="256" r:id="rId7"/>
    <p:sldId id="274" r:id="rId8"/>
    <p:sldId id="265" r:id="rId9"/>
    <p:sldId id="271" r:id="rId10"/>
    <p:sldId id="261" r:id="rId11"/>
    <p:sldId id="259" r:id="rId12"/>
    <p:sldId id="269" r:id="rId13"/>
    <p:sldId id="270" r:id="rId14"/>
    <p:sldId id="273" r:id="rId15"/>
    <p:sldId id="262" r:id="rId16"/>
    <p:sldId id="27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825"/>
    <a:srgbClr val="534D5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741" autoAdjust="0"/>
  </p:normalViewPr>
  <p:slideViewPr>
    <p:cSldViewPr snapToGrid="0">
      <p:cViewPr>
        <p:scale>
          <a:sx n="50" d="100"/>
          <a:sy n="50" d="100"/>
        </p:scale>
        <p:origin x="1284" y="39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ECEDBA-5A0B-4B63-AA53-9C131EEA15CE}" type="datetimeFigureOut">
              <a:rPr lang="en-US" smtClean="0"/>
              <a:t>3/30/2026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FD6263-2AA3-45FA-B881-DFD52E76DA74}" type="slidenum">
              <a:rPr lang="en-US" smtClean="0"/>
              <a:t>‹#›</a:t>
            </a:fld>
            <a:endParaRPr lang="en-US"/>
          </a:p>
        </p:txBody>
      </p:sp>
    </p:spTree>
    <p:extLst>
      <p:ext uri="{BB962C8B-B14F-4D97-AF65-F5344CB8AC3E}">
        <p14:creationId xmlns:p14="http://schemas.microsoft.com/office/powerpoint/2010/main" val="35411488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FD6263-2AA3-45FA-B881-DFD52E76DA74}" type="slidenum">
              <a:rPr lang="en-US" smtClean="0"/>
              <a:t>6</a:t>
            </a:fld>
            <a:endParaRPr lang="en-US"/>
          </a:p>
        </p:txBody>
      </p:sp>
    </p:spTree>
    <p:extLst>
      <p:ext uri="{BB962C8B-B14F-4D97-AF65-F5344CB8AC3E}">
        <p14:creationId xmlns:p14="http://schemas.microsoft.com/office/powerpoint/2010/main" val="39813554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5F65E-2C20-EFF9-E8A6-4698BE685E6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9638EB9-1A21-C199-7996-B3B3056935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B0C1522-E22A-9960-BC89-37681CA3BCB7}"/>
              </a:ext>
            </a:extLst>
          </p:cNvPr>
          <p:cNvSpPr>
            <a:spLocks noGrp="1"/>
          </p:cNvSpPr>
          <p:nvPr>
            <p:ph type="dt" sz="half" idx="10"/>
          </p:nvPr>
        </p:nvSpPr>
        <p:spPr/>
        <p:txBody>
          <a:bodyPr/>
          <a:lstStyle/>
          <a:p>
            <a:fld id="{469EB048-1F6A-49A1-BCBF-63608C42B126}" type="datetimeFigureOut">
              <a:rPr lang="en-US" smtClean="0"/>
              <a:t>3/30/2026</a:t>
            </a:fld>
            <a:endParaRPr lang="en-US"/>
          </a:p>
        </p:txBody>
      </p:sp>
      <p:sp>
        <p:nvSpPr>
          <p:cNvPr id="5" name="Footer Placeholder 4">
            <a:extLst>
              <a:ext uri="{FF2B5EF4-FFF2-40B4-BE49-F238E27FC236}">
                <a16:creationId xmlns:a16="http://schemas.microsoft.com/office/drawing/2014/main" id="{3C27D3A8-756E-3BDE-C03F-C63CFF5A5C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E0F35F-4A1F-30A0-887A-19331073B62D}"/>
              </a:ext>
            </a:extLst>
          </p:cNvPr>
          <p:cNvSpPr>
            <a:spLocks noGrp="1"/>
          </p:cNvSpPr>
          <p:nvPr>
            <p:ph type="sldNum" sz="quarter" idx="12"/>
          </p:nvPr>
        </p:nvSpPr>
        <p:spPr/>
        <p:txBody>
          <a:bodyPr/>
          <a:lstStyle/>
          <a:p>
            <a:fld id="{20B44BB5-D7FD-4738-9560-5F37D004161E}" type="slidenum">
              <a:rPr lang="en-US" smtClean="0"/>
              <a:t>‹#›</a:t>
            </a:fld>
            <a:endParaRPr lang="en-US"/>
          </a:p>
        </p:txBody>
      </p:sp>
    </p:spTree>
    <p:extLst>
      <p:ext uri="{BB962C8B-B14F-4D97-AF65-F5344CB8AC3E}">
        <p14:creationId xmlns:p14="http://schemas.microsoft.com/office/powerpoint/2010/main" val="18622014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2A33A-AEDB-995C-5375-455C6232C8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E6527A-B1E3-B73B-9AAA-E2E09BF35E2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B4A4B0-E2F3-DB99-CB1F-3A52D9E41E8D}"/>
              </a:ext>
            </a:extLst>
          </p:cNvPr>
          <p:cNvSpPr>
            <a:spLocks noGrp="1"/>
          </p:cNvSpPr>
          <p:nvPr>
            <p:ph type="dt" sz="half" idx="10"/>
          </p:nvPr>
        </p:nvSpPr>
        <p:spPr/>
        <p:txBody>
          <a:bodyPr/>
          <a:lstStyle/>
          <a:p>
            <a:fld id="{469EB048-1F6A-49A1-BCBF-63608C42B126}" type="datetimeFigureOut">
              <a:rPr lang="en-US" smtClean="0"/>
              <a:t>3/30/2026</a:t>
            </a:fld>
            <a:endParaRPr lang="en-US"/>
          </a:p>
        </p:txBody>
      </p:sp>
      <p:sp>
        <p:nvSpPr>
          <p:cNvPr id="5" name="Footer Placeholder 4">
            <a:extLst>
              <a:ext uri="{FF2B5EF4-FFF2-40B4-BE49-F238E27FC236}">
                <a16:creationId xmlns:a16="http://schemas.microsoft.com/office/drawing/2014/main" id="{B92746EA-384D-3044-F224-2D63C96942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E6E3A7-CB6D-FCAD-7DFF-04CC28135435}"/>
              </a:ext>
            </a:extLst>
          </p:cNvPr>
          <p:cNvSpPr>
            <a:spLocks noGrp="1"/>
          </p:cNvSpPr>
          <p:nvPr>
            <p:ph type="sldNum" sz="quarter" idx="12"/>
          </p:nvPr>
        </p:nvSpPr>
        <p:spPr/>
        <p:txBody>
          <a:bodyPr/>
          <a:lstStyle/>
          <a:p>
            <a:fld id="{20B44BB5-D7FD-4738-9560-5F37D004161E}" type="slidenum">
              <a:rPr lang="en-US" smtClean="0"/>
              <a:t>‹#›</a:t>
            </a:fld>
            <a:endParaRPr lang="en-US"/>
          </a:p>
        </p:txBody>
      </p:sp>
    </p:spTree>
    <p:extLst>
      <p:ext uri="{BB962C8B-B14F-4D97-AF65-F5344CB8AC3E}">
        <p14:creationId xmlns:p14="http://schemas.microsoft.com/office/powerpoint/2010/main" val="19234104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02D92-F481-D611-9164-A218819151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5CDEBCB-4290-DB60-A617-06B29B10D90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639423-5AF9-3A1F-B685-92F8CFB7F57A}"/>
              </a:ext>
            </a:extLst>
          </p:cNvPr>
          <p:cNvSpPr>
            <a:spLocks noGrp="1"/>
          </p:cNvSpPr>
          <p:nvPr>
            <p:ph type="dt" sz="half" idx="10"/>
          </p:nvPr>
        </p:nvSpPr>
        <p:spPr/>
        <p:txBody>
          <a:bodyPr/>
          <a:lstStyle/>
          <a:p>
            <a:fld id="{469EB048-1F6A-49A1-BCBF-63608C42B126}" type="datetimeFigureOut">
              <a:rPr lang="en-US" smtClean="0"/>
              <a:t>3/30/2026</a:t>
            </a:fld>
            <a:endParaRPr lang="en-US"/>
          </a:p>
        </p:txBody>
      </p:sp>
      <p:sp>
        <p:nvSpPr>
          <p:cNvPr id="5" name="Footer Placeholder 4">
            <a:extLst>
              <a:ext uri="{FF2B5EF4-FFF2-40B4-BE49-F238E27FC236}">
                <a16:creationId xmlns:a16="http://schemas.microsoft.com/office/drawing/2014/main" id="{AF660847-1B6A-E949-060D-0BDBF522E2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1B164A-86F3-4329-A487-B7F0FE46D105}"/>
              </a:ext>
            </a:extLst>
          </p:cNvPr>
          <p:cNvSpPr>
            <a:spLocks noGrp="1"/>
          </p:cNvSpPr>
          <p:nvPr>
            <p:ph type="sldNum" sz="quarter" idx="12"/>
          </p:nvPr>
        </p:nvSpPr>
        <p:spPr/>
        <p:txBody>
          <a:bodyPr/>
          <a:lstStyle/>
          <a:p>
            <a:fld id="{20B44BB5-D7FD-4738-9560-5F37D004161E}" type="slidenum">
              <a:rPr lang="en-US" smtClean="0"/>
              <a:t>‹#›</a:t>
            </a:fld>
            <a:endParaRPr lang="en-US"/>
          </a:p>
        </p:txBody>
      </p:sp>
    </p:spTree>
    <p:extLst>
      <p:ext uri="{BB962C8B-B14F-4D97-AF65-F5344CB8AC3E}">
        <p14:creationId xmlns:p14="http://schemas.microsoft.com/office/powerpoint/2010/main" val="14895030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61F1D-B19C-8D76-BB9C-CE0F9206C6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95F0074-F232-A62D-044D-D65675BD40C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F68800D-89BD-EBC5-B4F2-986645D9C69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1AE5805-29C5-A752-2B9F-0D839EB248DC}"/>
              </a:ext>
            </a:extLst>
          </p:cNvPr>
          <p:cNvSpPr>
            <a:spLocks noGrp="1"/>
          </p:cNvSpPr>
          <p:nvPr>
            <p:ph type="dt" sz="half" idx="10"/>
          </p:nvPr>
        </p:nvSpPr>
        <p:spPr/>
        <p:txBody>
          <a:bodyPr/>
          <a:lstStyle/>
          <a:p>
            <a:fld id="{469EB048-1F6A-49A1-BCBF-63608C42B126}" type="datetimeFigureOut">
              <a:rPr lang="en-US" smtClean="0"/>
              <a:t>3/30/2026</a:t>
            </a:fld>
            <a:endParaRPr lang="en-US"/>
          </a:p>
        </p:txBody>
      </p:sp>
      <p:sp>
        <p:nvSpPr>
          <p:cNvPr id="6" name="Footer Placeholder 5">
            <a:extLst>
              <a:ext uri="{FF2B5EF4-FFF2-40B4-BE49-F238E27FC236}">
                <a16:creationId xmlns:a16="http://schemas.microsoft.com/office/drawing/2014/main" id="{E0E1BD3A-99A7-D65A-D2BC-5F68A30136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2D6C3A-CB50-1CC0-BC16-2C68CE2A8991}"/>
              </a:ext>
            </a:extLst>
          </p:cNvPr>
          <p:cNvSpPr>
            <a:spLocks noGrp="1"/>
          </p:cNvSpPr>
          <p:nvPr>
            <p:ph type="sldNum" sz="quarter" idx="12"/>
          </p:nvPr>
        </p:nvSpPr>
        <p:spPr/>
        <p:txBody>
          <a:bodyPr/>
          <a:lstStyle/>
          <a:p>
            <a:fld id="{20B44BB5-D7FD-4738-9560-5F37D004161E}" type="slidenum">
              <a:rPr lang="en-US" smtClean="0"/>
              <a:t>‹#›</a:t>
            </a:fld>
            <a:endParaRPr lang="en-US"/>
          </a:p>
        </p:txBody>
      </p:sp>
    </p:spTree>
    <p:extLst>
      <p:ext uri="{BB962C8B-B14F-4D97-AF65-F5344CB8AC3E}">
        <p14:creationId xmlns:p14="http://schemas.microsoft.com/office/powerpoint/2010/main" val="14032740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3DEF4-6078-0EE3-BC7B-2DEF41038F0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30B7F5D-C1EC-4F90-836C-6CE1E7DF74A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234C5C0-0F3E-75B7-F9D5-7EA4C3D8E31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B680862-8690-95A2-2482-8811B5F085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1641416-EE18-F4CD-AC79-050E3005193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B0501DF-AF8A-891F-955A-DB757A4A9758}"/>
              </a:ext>
            </a:extLst>
          </p:cNvPr>
          <p:cNvSpPr>
            <a:spLocks noGrp="1"/>
          </p:cNvSpPr>
          <p:nvPr>
            <p:ph type="dt" sz="half" idx="10"/>
          </p:nvPr>
        </p:nvSpPr>
        <p:spPr/>
        <p:txBody>
          <a:bodyPr/>
          <a:lstStyle/>
          <a:p>
            <a:fld id="{469EB048-1F6A-49A1-BCBF-63608C42B126}" type="datetimeFigureOut">
              <a:rPr lang="en-US" smtClean="0"/>
              <a:t>3/30/2026</a:t>
            </a:fld>
            <a:endParaRPr lang="en-US"/>
          </a:p>
        </p:txBody>
      </p:sp>
      <p:sp>
        <p:nvSpPr>
          <p:cNvPr id="8" name="Footer Placeholder 7">
            <a:extLst>
              <a:ext uri="{FF2B5EF4-FFF2-40B4-BE49-F238E27FC236}">
                <a16:creationId xmlns:a16="http://schemas.microsoft.com/office/drawing/2014/main" id="{FFDD549D-FBC6-BF6D-9C8D-294EE604E40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F72F51A-59D4-3652-2C40-12BCA91B0C07}"/>
              </a:ext>
            </a:extLst>
          </p:cNvPr>
          <p:cNvSpPr>
            <a:spLocks noGrp="1"/>
          </p:cNvSpPr>
          <p:nvPr>
            <p:ph type="sldNum" sz="quarter" idx="12"/>
          </p:nvPr>
        </p:nvSpPr>
        <p:spPr/>
        <p:txBody>
          <a:bodyPr/>
          <a:lstStyle/>
          <a:p>
            <a:fld id="{20B44BB5-D7FD-4738-9560-5F37D004161E}" type="slidenum">
              <a:rPr lang="en-US" smtClean="0"/>
              <a:t>‹#›</a:t>
            </a:fld>
            <a:endParaRPr lang="en-US"/>
          </a:p>
        </p:txBody>
      </p:sp>
    </p:spTree>
    <p:extLst>
      <p:ext uri="{BB962C8B-B14F-4D97-AF65-F5344CB8AC3E}">
        <p14:creationId xmlns:p14="http://schemas.microsoft.com/office/powerpoint/2010/main" val="27202699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CD14C-82B4-8223-65C0-A28C89B20D6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75921A4-5DEC-2F26-C8F8-D4F7445CDC2C}"/>
              </a:ext>
            </a:extLst>
          </p:cNvPr>
          <p:cNvSpPr>
            <a:spLocks noGrp="1"/>
          </p:cNvSpPr>
          <p:nvPr>
            <p:ph type="dt" sz="half" idx="10"/>
          </p:nvPr>
        </p:nvSpPr>
        <p:spPr/>
        <p:txBody>
          <a:bodyPr/>
          <a:lstStyle/>
          <a:p>
            <a:fld id="{469EB048-1F6A-49A1-BCBF-63608C42B126}" type="datetimeFigureOut">
              <a:rPr lang="en-US" smtClean="0"/>
              <a:t>3/30/2026</a:t>
            </a:fld>
            <a:endParaRPr lang="en-US"/>
          </a:p>
        </p:txBody>
      </p:sp>
      <p:sp>
        <p:nvSpPr>
          <p:cNvPr id="4" name="Footer Placeholder 3">
            <a:extLst>
              <a:ext uri="{FF2B5EF4-FFF2-40B4-BE49-F238E27FC236}">
                <a16:creationId xmlns:a16="http://schemas.microsoft.com/office/drawing/2014/main" id="{2A23BB6D-85BD-8EFD-FFFD-2CD665F7728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1108865-88DF-6EEA-34A2-4E99DBCA96AE}"/>
              </a:ext>
            </a:extLst>
          </p:cNvPr>
          <p:cNvSpPr>
            <a:spLocks noGrp="1"/>
          </p:cNvSpPr>
          <p:nvPr>
            <p:ph type="sldNum" sz="quarter" idx="12"/>
          </p:nvPr>
        </p:nvSpPr>
        <p:spPr/>
        <p:txBody>
          <a:bodyPr/>
          <a:lstStyle/>
          <a:p>
            <a:fld id="{20B44BB5-D7FD-4738-9560-5F37D004161E}" type="slidenum">
              <a:rPr lang="en-US" smtClean="0"/>
              <a:t>‹#›</a:t>
            </a:fld>
            <a:endParaRPr lang="en-US"/>
          </a:p>
        </p:txBody>
      </p:sp>
    </p:spTree>
    <p:extLst>
      <p:ext uri="{BB962C8B-B14F-4D97-AF65-F5344CB8AC3E}">
        <p14:creationId xmlns:p14="http://schemas.microsoft.com/office/powerpoint/2010/main" val="14586301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B857D2-32DB-E7F3-C6A1-1AF59CBE38D4}"/>
              </a:ext>
            </a:extLst>
          </p:cNvPr>
          <p:cNvSpPr>
            <a:spLocks noGrp="1"/>
          </p:cNvSpPr>
          <p:nvPr>
            <p:ph type="dt" sz="half" idx="10"/>
          </p:nvPr>
        </p:nvSpPr>
        <p:spPr/>
        <p:txBody>
          <a:bodyPr/>
          <a:lstStyle/>
          <a:p>
            <a:fld id="{469EB048-1F6A-49A1-BCBF-63608C42B126}" type="datetimeFigureOut">
              <a:rPr lang="en-US" smtClean="0"/>
              <a:t>3/30/2026</a:t>
            </a:fld>
            <a:endParaRPr lang="en-US"/>
          </a:p>
        </p:txBody>
      </p:sp>
      <p:sp>
        <p:nvSpPr>
          <p:cNvPr id="3" name="Footer Placeholder 2">
            <a:extLst>
              <a:ext uri="{FF2B5EF4-FFF2-40B4-BE49-F238E27FC236}">
                <a16:creationId xmlns:a16="http://schemas.microsoft.com/office/drawing/2014/main" id="{8B06C79D-6E7E-EFE2-D907-7670647E5F8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1869FB2-CAEB-7BE5-03FA-CAD3385EB227}"/>
              </a:ext>
            </a:extLst>
          </p:cNvPr>
          <p:cNvSpPr>
            <a:spLocks noGrp="1"/>
          </p:cNvSpPr>
          <p:nvPr>
            <p:ph type="sldNum" sz="quarter" idx="12"/>
          </p:nvPr>
        </p:nvSpPr>
        <p:spPr/>
        <p:txBody>
          <a:bodyPr/>
          <a:lstStyle/>
          <a:p>
            <a:fld id="{20B44BB5-D7FD-4738-9560-5F37D004161E}" type="slidenum">
              <a:rPr lang="en-US" smtClean="0"/>
              <a:t>‹#›</a:t>
            </a:fld>
            <a:endParaRPr lang="en-US"/>
          </a:p>
        </p:txBody>
      </p:sp>
    </p:spTree>
    <p:extLst>
      <p:ext uri="{BB962C8B-B14F-4D97-AF65-F5344CB8AC3E}">
        <p14:creationId xmlns:p14="http://schemas.microsoft.com/office/powerpoint/2010/main" val="28683000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81698-E3B4-010E-3249-2BD51507CF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E8ACB6E-9927-6133-EE7D-C6DACACE73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8766DDE-F831-91AE-3ADC-F4E360EFE5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CBCEE8-20F6-B152-8C9A-16D33F4A3F90}"/>
              </a:ext>
            </a:extLst>
          </p:cNvPr>
          <p:cNvSpPr>
            <a:spLocks noGrp="1"/>
          </p:cNvSpPr>
          <p:nvPr>
            <p:ph type="dt" sz="half" idx="10"/>
          </p:nvPr>
        </p:nvSpPr>
        <p:spPr/>
        <p:txBody>
          <a:bodyPr/>
          <a:lstStyle/>
          <a:p>
            <a:fld id="{469EB048-1F6A-49A1-BCBF-63608C42B126}" type="datetimeFigureOut">
              <a:rPr lang="en-US" smtClean="0"/>
              <a:t>3/30/2026</a:t>
            </a:fld>
            <a:endParaRPr lang="en-US"/>
          </a:p>
        </p:txBody>
      </p:sp>
      <p:sp>
        <p:nvSpPr>
          <p:cNvPr id="6" name="Footer Placeholder 5">
            <a:extLst>
              <a:ext uri="{FF2B5EF4-FFF2-40B4-BE49-F238E27FC236}">
                <a16:creationId xmlns:a16="http://schemas.microsoft.com/office/drawing/2014/main" id="{7B38C5FD-6D7D-D580-40AB-9AEB131721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3C2215-5A81-BD5F-3118-C22A89695A37}"/>
              </a:ext>
            </a:extLst>
          </p:cNvPr>
          <p:cNvSpPr>
            <a:spLocks noGrp="1"/>
          </p:cNvSpPr>
          <p:nvPr>
            <p:ph type="sldNum" sz="quarter" idx="12"/>
          </p:nvPr>
        </p:nvSpPr>
        <p:spPr/>
        <p:txBody>
          <a:bodyPr/>
          <a:lstStyle/>
          <a:p>
            <a:fld id="{20B44BB5-D7FD-4738-9560-5F37D004161E}" type="slidenum">
              <a:rPr lang="en-US" smtClean="0"/>
              <a:t>‹#›</a:t>
            </a:fld>
            <a:endParaRPr lang="en-US"/>
          </a:p>
        </p:txBody>
      </p:sp>
    </p:spTree>
    <p:extLst>
      <p:ext uri="{BB962C8B-B14F-4D97-AF65-F5344CB8AC3E}">
        <p14:creationId xmlns:p14="http://schemas.microsoft.com/office/powerpoint/2010/main" val="26415209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08F45-09E1-1A11-B549-6A76563707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8B5460F-0FF7-C063-44B5-938867B6C0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9ECE062-2443-BCAC-1891-56B51F244D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5FA93D-0412-19F4-CAFB-1EC139F5518A}"/>
              </a:ext>
            </a:extLst>
          </p:cNvPr>
          <p:cNvSpPr>
            <a:spLocks noGrp="1"/>
          </p:cNvSpPr>
          <p:nvPr>
            <p:ph type="dt" sz="half" idx="10"/>
          </p:nvPr>
        </p:nvSpPr>
        <p:spPr/>
        <p:txBody>
          <a:bodyPr/>
          <a:lstStyle/>
          <a:p>
            <a:fld id="{469EB048-1F6A-49A1-BCBF-63608C42B126}" type="datetimeFigureOut">
              <a:rPr lang="en-US" smtClean="0"/>
              <a:t>3/30/2026</a:t>
            </a:fld>
            <a:endParaRPr lang="en-US"/>
          </a:p>
        </p:txBody>
      </p:sp>
      <p:sp>
        <p:nvSpPr>
          <p:cNvPr id="6" name="Footer Placeholder 5">
            <a:extLst>
              <a:ext uri="{FF2B5EF4-FFF2-40B4-BE49-F238E27FC236}">
                <a16:creationId xmlns:a16="http://schemas.microsoft.com/office/drawing/2014/main" id="{573D08A9-A68D-79A6-463E-D493010956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CE2EDF-110C-0B09-6D79-D0D8E24A0983}"/>
              </a:ext>
            </a:extLst>
          </p:cNvPr>
          <p:cNvSpPr>
            <a:spLocks noGrp="1"/>
          </p:cNvSpPr>
          <p:nvPr>
            <p:ph type="sldNum" sz="quarter" idx="12"/>
          </p:nvPr>
        </p:nvSpPr>
        <p:spPr/>
        <p:txBody>
          <a:bodyPr/>
          <a:lstStyle/>
          <a:p>
            <a:fld id="{20B44BB5-D7FD-4738-9560-5F37D004161E}" type="slidenum">
              <a:rPr lang="en-US" smtClean="0"/>
              <a:t>‹#›</a:t>
            </a:fld>
            <a:endParaRPr lang="en-US"/>
          </a:p>
        </p:txBody>
      </p:sp>
    </p:spTree>
    <p:extLst>
      <p:ext uri="{BB962C8B-B14F-4D97-AF65-F5344CB8AC3E}">
        <p14:creationId xmlns:p14="http://schemas.microsoft.com/office/powerpoint/2010/main" val="17616524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7F9F4-5CCB-1783-8940-B5F3149B733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062EF9E-C111-41ED-A3A5-40B12025113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088856-829C-EFE8-8E9C-1E6D1CF4EC09}"/>
              </a:ext>
            </a:extLst>
          </p:cNvPr>
          <p:cNvSpPr>
            <a:spLocks noGrp="1"/>
          </p:cNvSpPr>
          <p:nvPr>
            <p:ph type="dt" sz="half" idx="10"/>
          </p:nvPr>
        </p:nvSpPr>
        <p:spPr/>
        <p:txBody>
          <a:bodyPr/>
          <a:lstStyle/>
          <a:p>
            <a:fld id="{469EB048-1F6A-49A1-BCBF-63608C42B126}" type="datetimeFigureOut">
              <a:rPr lang="en-US" smtClean="0"/>
              <a:t>3/30/2026</a:t>
            </a:fld>
            <a:endParaRPr lang="en-US"/>
          </a:p>
        </p:txBody>
      </p:sp>
      <p:sp>
        <p:nvSpPr>
          <p:cNvPr id="5" name="Footer Placeholder 4">
            <a:extLst>
              <a:ext uri="{FF2B5EF4-FFF2-40B4-BE49-F238E27FC236}">
                <a16:creationId xmlns:a16="http://schemas.microsoft.com/office/drawing/2014/main" id="{514707C9-E69D-40B6-2AC6-ACB6A7E729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3034B4-C10B-D134-0A0F-8724BEE52879}"/>
              </a:ext>
            </a:extLst>
          </p:cNvPr>
          <p:cNvSpPr>
            <a:spLocks noGrp="1"/>
          </p:cNvSpPr>
          <p:nvPr>
            <p:ph type="sldNum" sz="quarter" idx="12"/>
          </p:nvPr>
        </p:nvSpPr>
        <p:spPr/>
        <p:txBody>
          <a:bodyPr/>
          <a:lstStyle/>
          <a:p>
            <a:fld id="{20B44BB5-D7FD-4738-9560-5F37D004161E}" type="slidenum">
              <a:rPr lang="en-US" smtClean="0"/>
              <a:t>‹#›</a:t>
            </a:fld>
            <a:endParaRPr lang="en-US"/>
          </a:p>
        </p:txBody>
      </p:sp>
    </p:spTree>
    <p:extLst>
      <p:ext uri="{BB962C8B-B14F-4D97-AF65-F5344CB8AC3E}">
        <p14:creationId xmlns:p14="http://schemas.microsoft.com/office/powerpoint/2010/main" val="32598352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E813EC-B286-5258-BB2B-662DBA3A24C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FC36ECD-9172-20F5-5895-16C5670229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366CBB-4E28-2795-91F9-D2F2B6DD729E}"/>
              </a:ext>
            </a:extLst>
          </p:cNvPr>
          <p:cNvSpPr>
            <a:spLocks noGrp="1"/>
          </p:cNvSpPr>
          <p:nvPr>
            <p:ph type="dt" sz="half" idx="10"/>
          </p:nvPr>
        </p:nvSpPr>
        <p:spPr/>
        <p:txBody>
          <a:bodyPr/>
          <a:lstStyle/>
          <a:p>
            <a:fld id="{469EB048-1F6A-49A1-BCBF-63608C42B126}" type="datetimeFigureOut">
              <a:rPr lang="en-US" smtClean="0"/>
              <a:t>3/30/2026</a:t>
            </a:fld>
            <a:endParaRPr lang="en-US"/>
          </a:p>
        </p:txBody>
      </p:sp>
      <p:sp>
        <p:nvSpPr>
          <p:cNvPr id="5" name="Footer Placeholder 4">
            <a:extLst>
              <a:ext uri="{FF2B5EF4-FFF2-40B4-BE49-F238E27FC236}">
                <a16:creationId xmlns:a16="http://schemas.microsoft.com/office/drawing/2014/main" id="{90CF4BDA-496F-953E-8430-AA369B7DBF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979801-936C-ECE1-B2AA-3CE569C570C1}"/>
              </a:ext>
            </a:extLst>
          </p:cNvPr>
          <p:cNvSpPr>
            <a:spLocks noGrp="1"/>
          </p:cNvSpPr>
          <p:nvPr>
            <p:ph type="sldNum" sz="quarter" idx="12"/>
          </p:nvPr>
        </p:nvSpPr>
        <p:spPr/>
        <p:txBody>
          <a:bodyPr/>
          <a:lstStyle/>
          <a:p>
            <a:fld id="{20B44BB5-D7FD-4738-9560-5F37D004161E}" type="slidenum">
              <a:rPr lang="en-US" smtClean="0"/>
              <a:t>‹#›</a:t>
            </a:fld>
            <a:endParaRPr lang="en-US"/>
          </a:p>
        </p:txBody>
      </p:sp>
    </p:spTree>
    <p:extLst>
      <p:ext uri="{BB962C8B-B14F-4D97-AF65-F5344CB8AC3E}">
        <p14:creationId xmlns:p14="http://schemas.microsoft.com/office/powerpoint/2010/main" val="18889945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D6225B-EAA1-379B-19DC-799407A780A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85BD07E-AFAA-B149-C3A7-87257FB673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774EF1-0A06-80B9-C3BC-31E7A51F3F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9EB048-1F6A-49A1-BCBF-63608C42B126}" type="datetimeFigureOut">
              <a:rPr lang="en-US" smtClean="0"/>
              <a:t>3/30/2026</a:t>
            </a:fld>
            <a:endParaRPr lang="en-US"/>
          </a:p>
        </p:txBody>
      </p:sp>
      <p:sp>
        <p:nvSpPr>
          <p:cNvPr id="5" name="Footer Placeholder 4">
            <a:extLst>
              <a:ext uri="{FF2B5EF4-FFF2-40B4-BE49-F238E27FC236}">
                <a16:creationId xmlns:a16="http://schemas.microsoft.com/office/drawing/2014/main" id="{C7039804-330C-16F3-376C-0F9F04D493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28BA945-B14E-E280-3A47-C196DB3FE3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B44BB5-D7FD-4738-9560-5F37D004161E}" type="slidenum">
              <a:rPr lang="en-US" smtClean="0"/>
              <a:t>‹#›</a:t>
            </a:fld>
            <a:endParaRPr lang="en-US"/>
          </a:p>
        </p:txBody>
      </p:sp>
    </p:spTree>
    <p:extLst>
      <p:ext uri="{BB962C8B-B14F-4D97-AF65-F5344CB8AC3E}">
        <p14:creationId xmlns:p14="http://schemas.microsoft.com/office/powerpoint/2010/main" val="30951148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lowchart: Document 2">
            <a:extLst>
              <a:ext uri="{FF2B5EF4-FFF2-40B4-BE49-F238E27FC236}">
                <a16:creationId xmlns:a16="http://schemas.microsoft.com/office/drawing/2014/main" id="{55DFE2BD-20EF-13A4-21E0-FFB242FFB467}"/>
              </a:ext>
            </a:extLst>
          </p:cNvPr>
          <p:cNvSpPr/>
          <p:nvPr/>
        </p:nvSpPr>
        <p:spPr>
          <a:xfrm rot="16200000">
            <a:off x="-146198" y="146195"/>
            <a:ext cx="6858002" cy="6565605"/>
          </a:xfrm>
          <a:prstGeom prst="flowChartDocument">
            <a:avLst/>
          </a:prstGeom>
          <a:solidFill>
            <a:srgbClr val="534D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B65632A6-39D7-5CAE-9225-AC51429917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91294" y="228599"/>
            <a:ext cx="6473321" cy="6473321"/>
          </a:xfrm>
          <a:prstGeom prst="rect">
            <a:avLst/>
          </a:prstGeom>
        </p:spPr>
      </p:pic>
      <p:sp>
        <p:nvSpPr>
          <p:cNvPr id="7" name="Google Shape;1663;p58">
            <a:extLst>
              <a:ext uri="{FF2B5EF4-FFF2-40B4-BE49-F238E27FC236}">
                <a16:creationId xmlns:a16="http://schemas.microsoft.com/office/drawing/2014/main" id="{49F0C144-2AA9-BD5A-4A19-0CE1A15D29ED}"/>
              </a:ext>
            </a:extLst>
          </p:cNvPr>
          <p:cNvSpPr txBox="1">
            <a:spLocks/>
          </p:cNvSpPr>
          <p:nvPr/>
        </p:nvSpPr>
        <p:spPr>
          <a:xfrm>
            <a:off x="527384" y="609600"/>
            <a:ext cx="6565606" cy="3525242"/>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6600" dirty="0">
                <a:solidFill>
                  <a:srgbClr val="FF6825"/>
                </a:solidFill>
                <a:latin typeface="Arial Black" panose="020B0A04020102020204" pitchFamily="34" charset="0"/>
              </a:rPr>
              <a:t>ORANGE </a:t>
            </a:r>
            <a:r>
              <a:rPr lang="en-US" sz="6600" dirty="0">
                <a:solidFill>
                  <a:schemeClr val="bg1"/>
                </a:solidFill>
                <a:latin typeface="Arial Black" panose="020B0A04020102020204" pitchFamily="34" charset="0"/>
              </a:rPr>
              <a:t>TELECOM</a:t>
            </a:r>
            <a:r>
              <a:rPr lang="en-US" sz="6600" dirty="0">
                <a:solidFill>
                  <a:srgbClr val="FF6825"/>
                </a:solidFill>
                <a:latin typeface="Arial Black" panose="020B0A04020102020204" pitchFamily="34" charset="0"/>
              </a:rPr>
              <a:t> CHURN</a:t>
            </a:r>
          </a:p>
        </p:txBody>
      </p:sp>
      <p:sp>
        <p:nvSpPr>
          <p:cNvPr id="8" name="TextBox 7">
            <a:extLst>
              <a:ext uri="{FF2B5EF4-FFF2-40B4-BE49-F238E27FC236}">
                <a16:creationId xmlns:a16="http://schemas.microsoft.com/office/drawing/2014/main" id="{AB86D882-F838-D9FB-E01A-EAAD488A9A90}"/>
              </a:ext>
            </a:extLst>
          </p:cNvPr>
          <p:cNvSpPr txBox="1"/>
          <p:nvPr/>
        </p:nvSpPr>
        <p:spPr>
          <a:xfrm>
            <a:off x="547142" y="5743239"/>
            <a:ext cx="3796087" cy="830997"/>
          </a:xfrm>
          <a:prstGeom prst="rect">
            <a:avLst/>
          </a:prstGeom>
          <a:noFill/>
        </p:spPr>
        <p:txBody>
          <a:bodyPr wrap="square" rtlCol="0">
            <a:spAutoFit/>
          </a:bodyPr>
          <a:lstStyle/>
          <a:p>
            <a:r>
              <a:rPr lang="en-US" sz="2400" dirty="0">
                <a:solidFill>
                  <a:schemeClr val="bg1"/>
                </a:solidFill>
              </a:rPr>
              <a:t>Presented by</a:t>
            </a:r>
          </a:p>
          <a:p>
            <a:r>
              <a:rPr lang="en-US" sz="2400" dirty="0">
                <a:solidFill>
                  <a:schemeClr val="bg1"/>
                </a:solidFill>
              </a:rPr>
              <a:t>Ihediohamma Confidence .C.</a:t>
            </a:r>
          </a:p>
        </p:txBody>
      </p:sp>
      <p:sp>
        <p:nvSpPr>
          <p:cNvPr id="9" name="TextBox 8">
            <a:extLst>
              <a:ext uri="{FF2B5EF4-FFF2-40B4-BE49-F238E27FC236}">
                <a16:creationId xmlns:a16="http://schemas.microsoft.com/office/drawing/2014/main" id="{30B98872-5F8A-02ED-B6BD-7A924990F859}"/>
              </a:ext>
            </a:extLst>
          </p:cNvPr>
          <p:cNvSpPr txBox="1"/>
          <p:nvPr/>
        </p:nvSpPr>
        <p:spPr>
          <a:xfrm>
            <a:off x="761277" y="3815058"/>
            <a:ext cx="4357491" cy="461665"/>
          </a:xfrm>
          <a:prstGeom prst="rect">
            <a:avLst/>
          </a:prstGeom>
          <a:noFill/>
        </p:spPr>
        <p:txBody>
          <a:bodyPr wrap="square" rtlCol="0">
            <a:spAutoFit/>
          </a:bodyPr>
          <a:lstStyle/>
          <a:p>
            <a:r>
              <a:rPr lang="en-US" sz="2400" i="1" dirty="0">
                <a:solidFill>
                  <a:schemeClr val="bg1"/>
                </a:solidFill>
              </a:rPr>
              <a:t>Keep Customers. Grow Value.</a:t>
            </a:r>
          </a:p>
        </p:txBody>
      </p:sp>
    </p:spTree>
    <p:extLst>
      <p:ext uri="{BB962C8B-B14F-4D97-AF65-F5344CB8AC3E}">
        <p14:creationId xmlns:p14="http://schemas.microsoft.com/office/powerpoint/2010/main" val="27487091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6F4F80F-1C6F-1746-6688-94BC463608CD}"/>
              </a:ext>
            </a:extLst>
          </p:cNvPr>
          <p:cNvSpPr/>
          <p:nvPr/>
        </p:nvSpPr>
        <p:spPr>
          <a:xfrm>
            <a:off x="0" y="0"/>
            <a:ext cx="12192000" cy="6858000"/>
          </a:xfrm>
          <a:prstGeom prst="rect">
            <a:avLst/>
          </a:prstGeom>
          <a:solidFill>
            <a:srgbClr val="FF68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lowchart: Document 2">
            <a:extLst>
              <a:ext uri="{FF2B5EF4-FFF2-40B4-BE49-F238E27FC236}">
                <a16:creationId xmlns:a16="http://schemas.microsoft.com/office/drawing/2014/main" id="{49181CC1-6099-F90F-F10B-8E4754DD0284}"/>
              </a:ext>
            </a:extLst>
          </p:cNvPr>
          <p:cNvSpPr/>
          <p:nvPr/>
        </p:nvSpPr>
        <p:spPr>
          <a:xfrm rot="15412264">
            <a:off x="6064795" y="-659743"/>
            <a:ext cx="6403657" cy="7170486"/>
          </a:xfrm>
          <a:prstGeom prst="flowChartDocument">
            <a:avLst/>
          </a:prstGeom>
          <a:solidFill>
            <a:srgbClr val="534D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lowchart: Document 3">
            <a:extLst>
              <a:ext uri="{FF2B5EF4-FFF2-40B4-BE49-F238E27FC236}">
                <a16:creationId xmlns:a16="http://schemas.microsoft.com/office/drawing/2014/main" id="{7769A8F1-F09B-5977-0886-E8E40748EA7B}"/>
              </a:ext>
            </a:extLst>
          </p:cNvPr>
          <p:cNvSpPr/>
          <p:nvPr/>
        </p:nvSpPr>
        <p:spPr>
          <a:xfrm rot="15602142">
            <a:off x="20305" y="-2865336"/>
            <a:ext cx="12194450" cy="13444392"/>
          </a:xfrm>
          <a:prstGeom prst="flowChartDocumen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3" name="Google Shape;4136;p92">
            <a:extLst>
              <a:ext uri="{FF2B5EF4-FFF2-40B4-BE49-F238E27FC236}">
                <a16:creationId xmlns:a16="http://schemas.microsoft.com/office/drawing/2014/main" id="{58DECC19-E013-01F7-17F6-15E8FFC48D06}"/>
              </a:ext>
            </a:extLst>
          </p:cNvPr>
          <p:cNvCxnSpPr>
            <a:cxnSpLocks/>
          </p:cNvCxnSpPr>
          <p:nvPr/>
        </p:nvCxnSpPr>
        <p:spPr>
          <a:xfrm>
            <a:off x="1128000" y="3009359"/>
            <a:ext cx="1126500" cy="684300"/>
          </a:xfrm>
          <a:prstGeom prst="curvedConnector2">
            <a:avLst/>
          </a:prstGeom>
          <a:noFill/>
          <a:ln w="19050" cap="flat" cmpd="sng">
            <a:solidFill>
              <a:schemeClr val="dk2"/>
            </a:solidFill>
            <a:prstDash val="solid"/>
            <a:round/>
            <a:headEnd type="none" w="med" len="med"/>
            <a:tailEnd type="none" w="med" len="med"/>
          </a:ln>
        </p:spPr>
      </p:cxnSp>
      <p:grpSp>
        <p:nvGrpSpPr>
          <p:cNvPr id="67" name="Group 66">
            <a:extLst>
              <a:ext uri="{FF2B5EF4-FFF2-40B4-BE49-F238E27FC236}">
                <a16:creationId xmlns:a16="http://schemas.microsoft.com/office/drawing/2014/main" id="{8ACCEA7B-131A-3B40-211E-86D398AB6C42}"/>
              </a:ext>
            </a:extLst>
          </p:cNvPr>
          <p:cNvGrpSpPr/>
          <p:nvPr/>
        </p:nvGrpSpPr>
        <p:grpSpPr>
          <a:xfrm>
            <a:off x="380986" y="2513428"/>
            <a:ext cx="1093246" cy="936830"/>
            <a:chOff x="380986" y="2513428"/>
            <a:chExt cx="1093246" cy="936830"/>
          </a:xfrm>
        </p:grpSpPr>
        <p:sp>
          <p:nvSpPr>
            <p:cNvPr id="7" name="Google Shape;1664;p58">
              <a:extLst>
                <a:ext uri="{FF2B5EF4-FFF2-40B4-BE49-F238E27FC236}">
                  <a16:creationId xmlns:a16="http://schemas.microsoft.com/office/drawing/2014/main" id="{07B4850F-C273-7E4C-B099-42C82CD2109A}"/>
                </a:ext>
              </a:extLst>
            </p:cNvPr>
            <p:cNvSpPr/>
            <p:nvPr/>
          </p:nvSpPr>
          <p:spPr>
            <a:xfrm>
              <a:off x="380986" y="2513428"/>
              <a:ext cx="1093246" cy="936830"/>
            </a:xfrm>
            <a:prstGeom prst="roundRect">
              <a:avLst>
                <a:gd name="adj" fmla="val 16667"/>
              </a:avLst>
            </a:prstGeom>
            <a:solidFill>
              <a:srgbClr val="FF68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 name="Google Shape;1663;p58">
              <a:extLst>
                <a:ext uri="{FF2B5EF4-FFF2-40B4-BE49-F238E27FC236}">
                  <a16:creationId xmlns:a16="http://schemas.microsoft.com/office/drawing/2014/main" id="{65F3D729-D74B-BF8B-46A3-2C102EAA40F1}"/>
                </a:ext>
              </a:extLst>
            </p:cNvPr>
            <p:cNvSpPr txBox="1">
              <a:spLocks/>
            </p:cNvSpPr>
            <p:nvPr/>
          </p:nvSpPr>
          <p:spPr>
            <a:xfrm>
              <a:off x="460767" y="2539882"/>
              <a:ext cx="935122" cy="883921"/>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4800" dirty="0">
                  <a:latin typeface="Britannic Bold" panose="020B0903060703020204" pitchFamily="34" charset="0"/>
                </a:rPr>
                <a:t>01</a:t>
              </a:r>
            </a:p>
          </p:txBody>
        </p:sp>
      </p:grpSp>
      <p:sp>
        <p:nvSpPr>
          <p:cNvPr id="9" name="Google Shape;1663;p58">
            <a:extLst>
              <a:ext uri="{FF2B5EF4-FFF2-40B4-BE49-F238E27FC236}">
                <a16:creationId xmlns:a16="http://schemas.microsoft.com/office/drawing/2014/main" id="{95F31AC4-4A6A-DF59-F8E1-54B903859449}"/>
              </a:ext>
            </a:extLst>
          </p:cNvPr>
          <p:cNvSpPr txBox="1">
            <a:spLocks/>
          </p:cNvSpPr>
          <p:nvPr/>
        </p:nvSpPr>
        <p:spPr>
          <a:xfrm>
            <a:off x="655324" y="339929"/>
            <a:ext cx="7704000" cy="973118"/>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4000" dirty="0">
                <a:latin typeface="Arial Black" panose="020B0A04020102020204" pitchFamily="34" charset="0"/>
              </a:rPr>
              <a:t>Table of contents</a:t>
            </a:r>
          </a:p>
        </p:txBody>
      </p:sp>
      <p:sp>
        <p:nvSpPr>
          <p:cNvPr id="10" name="TextBox 9">
            <a:extLst>
              <a:ext uri="{FF2B5EF4-FFF2-40B4-BE49-F238E27FC236}">
                <a16:creationId xmlns:a16="http://schemas.microsoft.com/office/drawing/2014/main" id="{8961B211-7EFB-29B4-9C17-2B08BEADE009}"/>
              </a:ext>
            </a:extLst>
          </p:cNvPr>
          <p:cNvSpPr txBox="1"/>
          <p:nvPr/>
        </p:nvSpPr>
        <p:spPr>
          <a:xfrm>
            <a:off x="75686" y="1874135"/>
            <a:ext cx="2168264" cy="523220"/>
          </a:xfrm>
          <a:prstGeom prst="rect">
            <a:avLst/>
          </a:prstGeom>
          <a:noFill/>
        </p:spPr>
        <p:txBody>
          <a:bodyPr wrap="square" rtlCol="0">
            <a:spAutoFit/>
          </a:bodyPr>
          <a:lstStyle/>
          <a:p>
            <a:r>
              <a:rPr lang="en-US" sz="2800" b="1" dirty="0"/>
              <a:t>Introduction</a:t>
            </a:r>
          </a:p>
        </p:txBody>
      </p:sp>
      <p:cxnSp>
        <p:nvCxnSpPr>
          <p:cNvPr id="25" name="Google Shape;4137;p92">
            <a:extLst>
              <a:ext uri="{FF2B5EF4-FFF2-40B4-BE49-F238E27FC236}">
                <a16:creationId xmlns:a16="http://schemas.microsoft.com/office/drawing/2014/main" id="{7C65CE17-A53F-61F4-809C-9816C5109D71}"/>
              </a:ext>
            </a:extLst>
          </p:cNvPr>
          <p:cNvCxnSpPr/>
          <p:nvPr/>
        </p:nvCxnSpPr>
        <p:spPr>
          <a:xfrm rot="-5400000">
            <a:off x="2485054" y="2771899"/>
            <a:ext cx="684300" cy="1126500"/>
          </a:xfrm>
          <a:prstGeom prst="curvedConnector2">
            <a:avLst/>
          </a:prstGeom>
          <a:noFill/>
          <a:ln w="19050" cap="flat" cmpd="sng">
            <a:solidFill>
              <a:schemeClr val="dk2"/>
            </a:solidFill>
            <a:prstDash val="solid"/>
            <a:round/>
            <a:headEnd type="none" w="med" len="med"/>
            <a:tailEnd type="none" w="med" len="med"/>
          </a:ln>
        </p:spPr>
      </p:cxnSp>
      <p:cxnSp>
        <p:nvCxnSpPr>
          <p:cNvPr id="26" name="Google Shape;4137;p92">
            <a:extLst>
              <a:ext uri="{FF2B5EF4-FFF2-40B4-BE49-F238E27FC236}">
                <a16:creationId xmlns:a16="http://schemas.microsoft.com/office/drawing/2014/main" id="{BA53B8C9-6BB3-2A20-34F4-607B3EB07DE8}"/>
              </a:ext>
            </a:extLst>
          </p:cNvPr>
          <p:cNvCxnSpPr/>
          <p:nvPr/>
        </p:nvCxnSpPr>
        <p:spPr>
          <a:xfrm rot="-5400000">
            <a:off x="5398910" y="2783396"/>
            <a:ext cx="684300" cy="1126500"/>
          </a:xfrm>
          <a:prstGeom prst="curvedConnector2">
            <a:avLst/>
          </a:prstGeom>
          <a:noFill/>
          <a:ln w="19050" cap="flat" cmpd="sng">
            <a:solidFill>
              <a:schemeClr val="dk2"/>
            </a:solidFill>
            <a:prstDash val="solid"/>
            <a:round/>
            <a:headEnd type="none" w="med" len="med"/>
            <a:tailEnd type="none" w="med" len="med"/>
          </a:ln>
        </p:spPr>
      </p:cxnSp>
      <p:cxnSp>
        <p:nvCxnSpPr>
          <p:cNvPr id="28" name="Google Shape;4138;p92">
            <a:extLst>
              <a:ext uri="{FF2B5EF4-FFF2-40B4-BE49-F238E27FC236}">
                <a16:creationId xmlns:a16="http://schemas.microsoft.com/office/drawing/2014/main" id="{25DD790C-14E0-204C-25FD-746EE4EFB8FA}"/>
              </a:ext>
            </a:extLst>
          </p:cNvPr>
          <p:cNvCxnSpPr/>
          <p:nvPr/>
        </p:nvCxnSpPr>
        <p:spPr>
          <a:xfrm>
            <a:off x="4049236" y="2997323"/>
            <a:ext cx="1126500" cy="684300"/>
          </a:xfrm>
          <a:prstGeom prst="curvedConnector2">
            <a:avLst/>
          </a:prstGeom>
          <a:noFill/>
          <a:ln w="19050" cap="flat" cmpd="sng">
            <a:solidFill>
              <a:schemeClr val="dk2"/>
            </a:solidFill>
            <a:prstDash val="solid"/>
            <a:round/>
            <a:headEnd type="none" w="med" len="med"/>
            <a:tailEnd type="none" w="med" len="med"/>
          </a:ln>
        </p:spPr>
      </p:cxnSp>
      <p:cxnSp>
        <p:nvCxnSpPr>
          <p:cNvPr id="32" name="Google Shape;4137;p92">
            <a:extLst>
              <a:ext uri="{FF2B5EF4-FFF2-40B4-BE49-F238E27FC236}">
                <a16:creationId xmlns:a16="http://schemas.microsoft.com/office/drawing/2014/main" id="{CA870B95-3E91-392D-C217-18EE7C9804EA}"/>
              </a:ext>
            </a:extLst>
          </p:cNvPr>
          <p:cNvCxnSpPr/>
          <p:nvPr/>
        </p:nvCxnSpPr>
        <p:spPr>
          <a:xfrm rot="-5400000">
            <a:off x="8333243" y="2776223"/>
            <a:ext cx="684300" cy="1126500"/>
          </a:xfrm>
          <a:prstGeom prst="curvedConnector2">
            <a:avLst/>
          </a:prstGeom>
          <a:noFill/>
          <a:ln w="19050" cap="flat" cmpd="sng">
            <a:solidFill>
              <a:schemeClr val="dk2"/>
            </a:solidFill>
            <a:prstDash val="solid"/>
            <a:round/>
            <a:headEnd type="none" w="med" len="med"/>
            <a:tailEnd type="none" w="med" len="med"/>
          </a:ln>
        </p:spPr>
      </p:cxnSp>
      <p:cxnSp>
        <p:nvCxnSpPr>
          <p:cNvPr id="33" name="Google Shape;4138;p92">
            <a:extLst>
              <a:ext uri="{FF2B5EF4-FFF2-40B4-BE49-F238E27FC236}">
                <a16:creationId xmlns:a16="http://schemas.microsoft.com/office/drawing/2014/main" id="{26E0DDC8-7437-B5FB-2C70-B8D2687BA073}"/>
              </a:ext>
            </a:extLst>
          </p:cNvPr>
          <p:cNvCxnSpPr/>
          <p:nvPr/>
        </p:nvCxnSpPr>
        <p:spPr>
          <a:xfrm>
            <a:off x="6982955" y="3004496"/>
            <a:ext cx="1126500" cy="684300"/>
          </a:xfrm>
          <a:prstGeom prst="curvedConnector2">
            <a:avLst/>
          </a:prstGeom>
          <a:noFill/>
          <a:ln w="19050" cap="flat" cmpd="sng">
            <a:solidFill>
              <a:schemeClr val="dk2"/>
            </a:solidFill>
            <a:prstDash val="solid"/>
            <a:round/>
            <a:headEnd type="none" w="med" len="med"/>
            <a:tailEnd type="none" w="med" len="med"/>
          </a:ln>
        </p:spPr>
      </p:cxnSp>
      <p:sp>
        <p:nvSpPr>
          <p:cNvPr id="34" name="TextBox 33">
            <a:extLst>
              <a:ext uri="{FF2B5EF4-FFF2-40B4-BE49-F238E27FC236}">
                <a16:creationId xmlns:a16="http://schemas.microsoft.com/office/drawing/2014/main" id="{05104B48-0BCB-75FF-49AA-19345377CA80}"/>
              </a:ext>
            </a:extLst>
          </p:cNvPr>
          <p:cNvSpPr txBox="1"/>
          <p:nvPr/>
        </p:nvSpPr>
        <p:spPr>
          <a:xfrm>
            <a:off x="1250614" y="4772295"/>
            <a:ext cx="2168264" cy="954107"/>
          </a:xfrm>
          <a:prstGeom prst="rect">
            <a:avLst/>
          </a:prstGeom>
          <a:noFill/>
        </p:spPr>
        <p:txBody>
          <a:bodyPr wrap="square" rtlCol="0">
            <a:spAutoFit/>
          </a:bodyPr>
          <a:lstStyle/>
          <a:p>
            <a:pPr algn="ctr"/>
            <a:r>
              <a:rPr lang="en-US" sz="2800" b="1" dirty="0"/>
              <a:t>Dashboard</a:t>
            </a:r>
          </a:p>
          <a:p>
            <a:pPr algn="ctr"/>
            <a:r>
              <a:rPr lang="en-US" sz="2800" b="1" dirty="0"/>
              <a:t>Overview</a:t>
            </a:r>
          </a:p>
        </p:txBody>
      </p:sp>
      <p:sp>
        <p:nvSpPr>
          <p:cNvPr id="35" name="TextBox 34">
            <a:extLst>
              <a:ext uri="{FF2B5EF4-FFF2-40B4-BE49-F238E27FC236}">
                <a16:creationId xmlns:a16="http://schemas.microsoft.com/office/drawing/2014/main" id="{8E5D47B6-3D6A-6896-8DD4-8E237B3163FC}"/>
              </a:ext>
            </a:extLst>
          </p:cNvPr>
          <p:cNvSpPr txBox="1"/>
          <p:nvPr/>
        </p:nvSpPr>
        <p:spPr>
          <a:xfrm>
            <a:off x="2707522" y="1520611"/>
            <a:ext cx="2168264" cy="954107"/>
          </a:xfrm>
          <a:prstGeom prst="rect">
            <a:avLst/>
          </a:prstGeom>
          <a:noFill/>
        </p:spPr>
        <p:txBody>
          <a:bodyPr wrap="square" rtlCol="0">
            <a:spAutoFit/>
          </a:bodyPr>
          <a:lstStyle/>
          <a:p>
            <a:pPr algn="ctr"/>
            <a:r>
              <a:rPr lang="en-US" sz="2800" b="1" dirty="0"/>
              <a:t>Problem Statement</a:t>
            </a:r>
          </a:p>
        </p:txBody>
      </p:sp>
      <p:sp>
        <p:nvSpPr>
          <p:cNvPr id="36" name="TextBox 35">
            <a:extLst>
              <a:ext uri="{FF2B5EF4-FFF2-40B4-BE49-F238E27FC236}">
                <a16:creationId xmlns:a16="http://schemas.microsoft.com/office/drawing/2014/main" id="{39FD9F21-24AA-D7B3-39A4-1B564D08679C}"/>
              </a:ext>
            </a:extLst>
          </p:cNvPr>
          <p:cNvSpPr txBox="1"/>
          <p:nvPr/>
        </p:nvSpPr>
        <p:spPr>
          <a:xfrm>
            <a:off x="4121540" y="4671636"/>
            <a:ext cx="2168264" cy="1384995"/>
          </a:xfrm>
          <a:prstGeom prst="rect">
            <a:avLst/>
          </a:prstGeom>
          <a:noFill/>
        </p:spPr>
        <p:txBody>
          <a:bodyPr wrap="square" rtlCol="0">
            <a:spAutoFit/>
          </a:bodyPr>
          <a:lstStyle/>
          <a:p>
            <a:pPr algn="ctr"/>
            <a:r>
              <a:rPr lang="en-US" sz="2800" b="1" dirty="0"/>
              <a:t>Key </a:t>
            </a:r>
          </a:p>
          <a:p>
            <a:pPr algn="ctr"/>
            <a:r>
              <a:rPr lang="en-US" sz="2800" b="1" dirty="0"/>
              <a:t>Performance </a:t>
            </a:r>
          </a:p>
          <a:p>
            <a:pPr algn="ctr"/>
            <a:r>
              <a:rPr lang="en-US" sz="2800" b="1" dirty="0"/>
              <a:t>Indicators</a:t>
            </a:r>
          </a:p>
        </p:txBody>
      </p:sp>
      <p:sp>
        <p:nvSpPr>
          <p:cNvPr id="37" name="TextBox 36">
            <a:extLst>
              <a:ext uri="{FF2B5EF4-FFF2-40B4-BE49-F238E27FC236}">
                <a16:creationId xmlns:a16="http://schemas.microsoft.com/office/drawing/2014/main" id="{C36482F6-6669-5A2B-1D94-C728CAEB462C}"/>
              </a:ext>
            </a:extLst>
          </p:cNvPr>
          <p:cNvSpPr txBox="1"/>
          <p:nvPr/>
        </p:nvSpPr>
        <p:spPr>
          <a:xfrm>
            <a:off x="5553554" y="1538064"/>
            <a:ext cx="2168264" cy="954107"/>
          </a:xfrm>
          <a:prstGeom prst="rect">
            <a:avLst/>
          </a:prstGeom>
          <a:noFill/>
        </p:spPr>
        <p:txBody>
          <a:bodyPr wrap="square" rtlCol="0">
            <a:spAutoFit/>
          </a:bodyPr>
          <a:lstStyle/>
          <a:p>
            <a:pPr algn="ctr"/>
            <a:r>
              <a:rPr lang="en-US" sz="2800" b="1" dirty="0"/>
              <a:t>Business</a:t>
            </a:r>
          </a:p>
          <a:p>
            <a:pPr algn="ctr"/>
            <a:r>
              <a:rPr lang="en-US" sz="2800" b="1" dirty="0"/>
              <a:t>Objectives</a:t>
            </a:r>
          </a:p>
        </p:txBody>
      </p:sp>
      <p:sp>
        <p:nvSpPr>
          <p:cNvPr id="38" name="TextBox 37">
            <a:extLst>
              <a:ext uri="{FF2B5EF4-FFF2-40B4-BE49-F238E27FC236}">
                <a16:creationId xmlns:a16="http://schemas.microsoft.com/office/drawing/2014/main" id="{CCC645D2-E9F4-ABE0-84B9-51FF755234A2}"/>
              </a:ext>
            </a:extLst>
          </p:cNvPr>
          <p:cNvSpPr txBox="1"/>
          <p:nvPr/>
        </p:nvSpPr>
        <p:spPr>
          <a:xfrm>
            <a:off x="7025323" y="4772295"/>
            <a:ext cx="2168264" cy="954107"/>
          </a:xfrm>
          <a:prstGeom prst="rect">
            <a:avLst/>
          </a:prstGeom>
          <a:noFill/>
        </p:spPr>
        <p:txBody>
          <a:bodyPr wrap="square" rtlCol="0">
            <a:spAutoFit/>
          </a:bodyPr>
          <a:lstStyle/>
          <a:p>
            <a:pPr algn="ctr"/>
            <a:r>
              <a:rPr lang="en-US" sz="2800" b="1" dirty="0"/>
              <a:t>Analysis </a:t>
            </a:r>
          </a:p>
          <a:p>
            <a:pPr algn="ctr"/>
            <a:r>
              <a:rPr lang="en-US" sz="2800" b="1" dirty="0"/>
              <a:t>Insights</a:t>
            </a:r>
          </a:p>
        </p:txBody>
      </p:sp>
      <p:sp>
        <p:nvSpPr>
          <p:cNvPr id="39" name="TextBox 38">
            <a:extLst>
              <a:ext uri="{FF2B5EF4-FFF2-40B4-BE49-F238E27FC236}">
                <a16:creationId xmlns:a16="http://schemas.microsoft.com/office/drawing/2014/main" id="{BC551EF4-F269-1F0F-90AD-9B0F2478AD6F}"/>
              </a:ext>
            </a:extLst>
          </p:cNvPr>
          <p:cNvSpPr txBox="1"/>
          <p:nvPr/>
        </p:nvSpPr>
        <p:spPr>
          <a:xfrm>
            <a:off x="8359324" y="1804652"/>
            <a:ext cx="2955202" cy="523220"/>
          </a:xfrm>
          <a:prstGeom prst="rect">
            <a:avLst/>
          </a:prstGeom>
          <a:noFill/>
        </p:spPr>
        <p:txBody>
          <a:bodyPr wrap="square" rtlCol="0">
            <a:spAutoFit/>
          </a:bodyPr>
          <a:lstStyle/>
          <a:p>
            <a:r>
              <a:rPr lang="en-US" sz="2800" b="1" dirty="0"/>
              <a:t>Recommendation</a:t>
            </a:r>
          </a:p>
        </p:txBody>
      </p:sp>
      <p:cxnSp>
        <p:nvCxnSpPr>
          <p:cNvPr id="41" name="Google Shape;4138;p92">
            <a:extLst>
              <a:ext uri="{FF2B5EF4-FFF2-40B4-BE49-F238E27FC236}">
                <a16:creationId xmlns:a16="http://schemas.microsoft.com/office/drawing/2014/main" id="{B2DE8335-DDEE-9AD2-EF3C-D58852913D6F}"/>
              </a:ext>
            </a:extLst>
          </p:cNvPr>
          <p:cNvCxnSpPr/>
          <p:nvPr/>
        </p:nvCxnSpPr>
        <p:spPr>
          <a:xfrm>
            <a:off x="9726746" y="3004496"/>
            <a:ext cx="1126500" cy="684300"/>
          </a:xfrm>
          <a:prstGeom prst="curvedConnector2">
            <a:avLst/>
          </a:prstGeom>
          <a:noFill/>
          <a:ln w="19050" cap="flat" cmpd="sng">
            <a:solidFill>
              <a:schemeClr val="dk2"/>
            </a:solidFill>
            <a:prstDash val="solid"/>
            <a:round/>
            <a:headEnd type="none" w="med" len="med"/>
            <a:tailEnd type="none" w="med" len="med"/>
          </a:ln>
        </p:spPr>
      </p:cxnSp>
      <p:sp>
        <p:nvSpPr>
          <p:cNvPr id="42" name="TextBox 41">
            <a:extLst>
              <a:ext uri="{FF2B5EF4-FFF2-40B4-BE49-F238E27FC236}">
                <a16:creationId xmlns:a16="http://schemas.microsoft.com/office/drawing/2014/main" id="{3FF2B978-0A34-C153-C20B-1BA3DE538B0A}"/>
              </a:ext>
            </a:extLst>
          </p:cNvPr>
          <p:cNvSpPr txBox="1"/>
          <p:nvPr/>
        </p:nvSpPr>
        <p:spPr>
          <a:xfrm>
            <a:off x="10120642" y="4741785"/>
            <a:ext cx="1854892" cy="523220"/>
          </a:xfrm>
          <a:prstGeom prst="rect">
            <a:avLst/>
          </a:prstGeom>
          <a:noFill/>
        </p:spPr>
        <p:txBody>
          <a:bodyPr wrap="square" rtlCol="0">
            <a:spAutoFit/>
          </a:bodyPr>
          <a:lstStyle/>
          <a:p>
            <a:r>
              <a:rPr lang="en-US" sz="2800" b="1" dirty="0"/>
              <a:t>Conclusion</a:t>
            </a:r>
          </a:p>
        </p:txBody>
      </p:sp>
      <p:grpSp>
        <p:nvGrpSpPr>
          <p:cNvPr id="45" name="Group 44">
            <a:extLst>
              <a:ext uri="{FF2B5EF4-FFF2-40B4-BE49-F238E27FC236}">
                <a16:creationId xmlns:a16="http://schemas.microsoft.com/office/drawing/2014/main" id="{EC798F50-CD1A-AA59-1B61-67AF7732E922}"/>
              </a:ext>
            </a:extLst>
          </p:cNvPr>
          <p:cNvGrpSpPr/>
          <p:nvPr/>
        </p:nvGrpSpPr>
        <p:grpSpPr>
          <a:xfrm>
            <a:off x="1690298" y="3660939"/>
            <a:ext cx="1093246" cy="936830"/>
            <a:chOff x="290126" y="2492170"/>
            <a:chExt cx="1093246" cy="936830"/>
          </a:xfrm>
        </p:grpSpPr>
        <p:sp>
          <p:nvSpPr>
            <p:cNvPr id="46" name="Google Shape;1664;p58">
              <a:extLst>
                <a:ext uri="{FF2B5EF4-FFF2-40B4-BE49-F238E27FC236}">
                  <a16:creationId xmlns:a16="http://schemas.microsoft.com/office/drawing/2014/main" id="{0254676D-F302-F368-711F-8C1BA83207FD}"/>
                </a:ext>
              </a:extLst>
            </p:cNvPr>
            <p:cNvSpPr/>
            <p:nvPr/>
          </p:nvSpPr>
          <p:spPr>
            <a:xfrm>
              <a:off x="290126" y="2492170"/>
              <a:ext cx="1093246" cy="936830"/>
            </a:xfrm>
            <a:prstGeom prst="roundRect">
              <a:avLst>
                <a:gd name="adj" fmla="val 16667"/>
              </a:avLst>
            </a:prstGeom>
            <a:solidFill>
              <a:srgbClr val="FF68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 name="Google Shape;1663;p58">
              <a:extLst>
                <a:ext uri="{FF2B5EF4-FFF2-40B4-BE49-F238E27FC236}">
                  <a16:creationId xmlns:a16="http://schemas.microsoft.com/office/drawing/2014/main" id="{63E90755-0C0F-E25B-710C-075003DA06C0}"/>
                </a:ext>
              </a:extLst>
            </p:cNvPr>
            <p:cNvSpPr txBox="1">
              <a:spLocks/>
            </p:cNvSpPr>
            <p:nvPr/>
          </p:nvSpPr>
          <p:spPr>
            <a:xfrm>
              <a:off x="369907" y="2518624"/>
              <a:ext cx="935122" cy="883921"/>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4800" dirty="0">
                  <a:latin typeface="Britannic Bold" panose="020B0903060703020204" pitchFamily="34" charset="0"/>
                </a:rPr>
                <a:t>02</a:t>
              </a:r>
            </a:p>
          </p:txBody>
        </p:sp>
      </p:grpSp>
      <p:grpSp>
        <p:nvGrpSpPr>
          <p:cNvPr id="48" name="Group 47">
            <a:extLst>
              <a:ext uri="{FF2B5EF4-FFF2-40B4-BE49-F238E27FC236}">
                <a16:creationId xmlns:a16="http://schemas.microsoft.com/office/drawing/2014/main" id="{DE5711D2-0A39-F7FC-B1AF-A5BD7DCADA2C}"/>
              </a:ext>
            </a:extLst>
          </p:cNvPr>
          <p:cNvGrpSpPr/>
          <p:nvPr/>
        </p:nvGrpSpPr>
        <p:grpSpPr>
          <a:xfrm>
            <a:off x="3238826" y="2513428"/>
            <a:ext cx="1093246" cy="936830"/>
            <a:chOff x="290126" y="2492170"/>
            <a:chExt cx="1093246" cy="936830"/>
          </a:xfrm>
        </p:grpSpPr>
        <p:sp>
          <p:nvSpPr>
            <p:cNvPr id="49" name="Google Shape;1664;p58">
              <a:extLst>
                <a:ext uri="{FF2B5EF4-FFF2-40B4-BE49-F238E27FC236}">
                  <a16:creationId xmlns:a16="http://schemas.microsoft.com/office/drawing/2014/main" id="{7FEC5033-BB7E-4694-BC34-775D07160C9C}"/>
                </a:ext>
              </a:extLst>
            </p:cNvPr>
            <p:cNvSpPr/>
            <p:nvPr/>
          </p:nvSpPr>
          <p:spPr>
            <a:xfrm>
              <a:off x="290126" y="2492170"/>
              <a:ext cx="1093246" cy="936830"/>
            </a:xfrm>
            <a:prstGeom prst="roundRect">
              <a:avLst>
                <a:gd name="adj" fmla="val 16667"/>
              </a:avLst>
            </a:prstGeom>
            <a:solidFill>
              <a:srgbClr val="FF68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 name="Google Shape;1663;p58">
              <a:extLst>
                <a:ext uri="{FF2B5EF4-FFF2-40B4-BE49-F238E27FC236}">
                  <a16:creationId xmlns:a16="http://schemas.microsoft.com/office/drawing/2014/main" id="{DF360950-CBAA-700F-5CF4-E57354EEDC90}"/>
                </a:ext>
              </a:extLst>
            </p:cNvPr>
            <p:cNvSpPr txBox="1">
              <a:spLocks/>
            </p:cNvSpPr>
            <p:nvPr/>
          </p:nvSpPr>
          <p:spPr>
            <a:xfrm>
              <a:off x="369907" y="2518624"/>
              <a:ext cx="935122" cy="883921"/>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4800" dirty="0">
                  <a:latin typeface="Britannic Bold" panose="020B0903060703020204" pitchFamily="34" charset="0"/>
                </a:rPr>
                <a:t>03</a:t>
              </a:r>
            </a:p>
          </p:txBody>
        </p:sp>
      </p:grpSp>
      <p:grpSp>
        <p:nvGrpSpPr>
          <p:cNvPr id="51" name="Group 50">
            <a:extLst>
              <a:ext uri="{FF2B5EF4-FFF2-40B4-BE49-F238E27FC236}">
                <a16:creationId xmlns:a16="http://schemas.microsoft.com/office/drawing/2014/main" id="{65B7E387-5F2D-AC00-9FBB-B949A1E0C1A7}"/>
              </a:ext>
            </a:extLst>
          </p:cNvPr>
          <p:cNvGrpSpPr/>
          <p:nvPr/>
        </p:nvGrpSpPr>
        <p:grpSpPr>
          <a:xfrm>
            <a:off x="6192281" y="2513428"/>
            <a:ext cx="1093246" cy="936830"/>
            <a:chOff x="290126" y="2492170"/>
            <a:chExt cx="1093246" cy="936830"/>
          </a:xfrm>
        </p:grpSpPr>
        <p:sp>
          <p:nvSpPr>
            <p:cNvPr id="52" name="Google Shape;1664;p58">
              <a:extLst>
                <a:ext uri="{FF2B5EF4-FFF2-40B4-BE49-F238E27FC236}">
                  <a16:creationId xmlns:a16="http://schemas.microsoft.com/office/drawing/2014/main" id="{5D569E39-3D39-7F81-0482-A826C551D6B3}"/>
                </a:ext>
              </a:extLst>
            </p:cNvPr>
            <p:cNvSpPr/>
            <p:nvPr/>
          </p:nvSpPr>
          <p:spPr>
            <a:xfrm>
              <a:off x="290126" y="2492170"/>
              <a:ext cx="1093246" cy="936830"/>
            </a:xfrm>
            <a:prstGeom prst="roundRect">
              <a:avLst>
                <a:gd name="adj" fmla="val 16667"/>
              </a:avLst>
            </a:prstGeom>
            <a:solidFill>
              <a:srgbClr val="FF68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 name="Google Shape;1663;p58">
              <a:extLst>
                <a:ext uri="{FF2B5EF4-FFF2-40B4-BE49-F238E27FC236}">
                  <a16:creationId xmlns:a16="http://schemas.microsoft.com/office/drawing/2014/main" id="{0AA7F22A-82C0-E387-C67A-BB050263830E}"/>
                </a:ext>
              </a:extLst>
            </p:cNvPr>
            <p:cNvSpPr txBox="1">
              <a:spLocks/>
            </p:cNvSpPr>
            <p:nvPr/>
          </p:nvSpPr>
          <p:spPr>
            <a:xfrm>
              <a:off x="369907" y="2518624"/>
              <a:ext cx="935122" cy="883921"/>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4800" dirty="0">
                  <a:latin typeface="Britannic Bold" panose="020B0903060703020204" pitchFamily="34" charset="0"/>
                </a:rPr>
                <a:t>05</a:t>
              </a:r>
            </a:p>
          </p:txBody>
        </p:sp>
      </p:grpSp>
      <p:grpSp>
        <p:nvGrpSpPr>
          <p:cNvPr id="54" name="Group 53">
            <a:extLst>
              <a:ext uri="{FF2B5EF4-FFF2-40B4-BE49-F238E27FC236}">
                <a16:creationId xmlns:a16="http://schemas.microsoft.com/office/drawing/2014/main" id="{3087EE03-A4A3-2F4A-3535-D9E0790983E4}"/>
              </a:ext>
            </a:extLst>
          </p:cNvPr>
          <p:cNvGrpSpPr/>
          <p:nvPr/>
        </p:nvGrpSpPr>
        <p:grpSpPr>
          <a:xfrm>
            <a:off x="4675889" y="3681623"/>
            <a:ext cx="1093246" cy="936830"/>
            <a:chOff x="290126" y="2492170"/>
            <a:chExt cx="1093246" cy="936830"/>
          </a:xfrm>
        </p:grpSpPr>
        <p:sp>
          <p:nvSpPr>
            <p:cNvPr id="55" name="Google Shape;1664;p58">
              <a:extLst>
                <a:ext uri="{FF2B5EF4-FFF2-40B4-BE49-F238E27FC236}">
                  <a16:creationId xmlns:a16="http://schemas.microsoft.com/office/drawing/2014/main" id="{70379BC8-8F69-E89B-CA83-4193F0C3626D}"/>
                </a:ext>
              </a:extLst>
            </p:cNvPr>
            <p:cNvSpPr/>
            <p:nvPr/>
          </p:nvSpPr>
          <p:spPr>
            <a:xfrm>
              <a:off x="290126" y="2492170"/>
              <a:ext cx="1093246" cy="936830"/>
            </a:xfrm>
            <a:prstGeom prst="roundRect">
              <a:avLst>
                <a:gd name="adj" fmla="val 16667"/>
              </a:avLst>
            </a:prstGeom>
            <a:solidFill>
              <a:srgbClr val="FF68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6" name="Google Shape;1663;p58">
              <a:extLst>
                <a:ext uri="{FF2B5EF4-FFF2-40B4-BE49-F238E27FC236}">
                  <a16:creationId xmlns:a16="http://schemas.microsoft.com/office/drawing/2014/main" id="{6DFC1CA6-FA2E-75F4-5CAF-3C88A19E5821}"/>
                </a:ext>
              </a:extLst>
            </p:cNvPr>
            <p:cNvSpPr txBox="1">
              <a:spLocks/>
            </p:cNvSpPr>
            <p:nvPr/>
          </p:nvSpPr>
          <p:spPr>
            <a:xfrm>
              <a:off x="369907" y="2518624"/>
              <a:ext cx="935122" cy="883921"/>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4800" dirty="0">
                  <a:latin typeface="Britannic Bold" panose="020B0903060703020204" pitchFamily="34" charset="0"/>
                </a:rPr>
                <a:t>04</a:t>
              </a:r>
            </a:p>
          </p:txBody>
        </p:sp>
      </p:grpSp>
      <p:grpSp>
        <p:nvGrpSpPr>
          <p:cNvPr id="57" name="Group 56">
            <a:extLst>
              <a:ext uri="{FF2B5EF4-FFF2-40B4-BE49-F238E27FC236}">
                <a16:creationId xmlns:a16="http://schemas.microsoft.com/office/drawing/2014/main" id="{F05AE409-D901-E94A-B49D-97EE872681A2}"/>
              </a:ext>
            </a:extLst>
          </p:cNvPr>
          <p:cNvGrpSpPr/>
          <p:nvPr/>
        </p:nvGrpSpPr>
        <p:grpSpPr>
          <a:xfrm>
            <a:off x="7611508" y="3656106"/>
            <a:ext cx="1093246" cy="936830"/>
            <a:chOff x="290126" y="2492170"/>
            <a:chExt cx="1093246" cy="936830"/>
          </a:xfrm>
        </p:grpSpPr>
        <p:sp>
          <p:nvSpPr>
            <p:cNvPr id="58" name="Google Shape;1664;p58">
              <a:extLst>
                <a:ext uri="{FF2B5EF4-FFF2-40B4-BE49-F238E27FC236}">
                  <a16:creationId xmlns:a16="http://schemas.microsoft.com/office/drawing/2014/main" id="{DBDA626E-36BF-3178-9F2B-BEE756C5F02A}"/>
                </a:ext>
              </a:extLst>
            </p:cNvPr>
            <p:cNvSpPr/>
            <p:nvPr/>
          </p:nvSpPr>
          <p:spPr>
            <a:xfrm>
              <a:off x="290126" y="2492170"/>
              <a:ext cx="1093246" cy="936830"/>
            </a:xfrm>
            <a:prstGeom prst="roundRect">
              <a:avLst>
                <a:gd name="adj" fmla="val 16667"/>
              </a:avLst>
            </a:prstGeom>
            <a:solidFill>
              <a:srgbClr val="FF68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 name="Google Shape;1663;p58">
              <a:extLst>
                <a:ext uri="{FF2B5EF4-FFF2-40B4-BE49-F238E27FC236}">
                  <a16:creationId xmlns:a16="http://schemas.microsoft.com/office/drawing/2014/main" id="{E2AC8C6D-584A-3B78-676D-87DAC73B293D}"/>
                </a:ext>
              </a:extLst>
            </p:cNvPr>
            <p:cNvSpPr txBox="1">
              <a:spLocks/>
            </p:cNvSpPr>
            <p:nvPr/>
          </p:nvSpPr>
          <p:spPr>
            <a:xfrm>
              <a:off x="369907" y="2518624"/>
              <a:ext cx="935122" cy="883921"/>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4800" dirty="0">
                  <a:latin typeface="Britannic Bold" panose="020B0903060703020204" pitchFamily="34" charset="0"/>
                </a:rPr>
                <a:t>06</a:t>
              </a:r>
            </a:p>
          </p:txBody>
        </p:sp>
      </p:grpSp>
      <p:grpSp>
        <p:nvGrpSpPr>
          <p:cNvPr id="60" name="Group 59">
            <a:extLst>
              <a:ext uri="{FF2B5EF4-FFF2-40B4-BE49-F238E27FC236}">
                <a16:creationId xmlns:a16="http://schemas.microsoft.com/office/drawing/2014/main" id="{60625B58-D6E4-2D89-71FF-864452DA5B57}"/>
              </a:ext>
            </a:extLst>
          </p:cNvPr>
          <p:cNvGrpSpPr/>
          <p:nvPr/>
        </p:nvGrpSpPr>
        <p:grpSpPr>
          <a:xfrm>
            <a:off x="9056113" y="2539764"/>
            <a:ext cx="1093246" cy="936830"/>
            <a:chOff x="290126" y="2492170"/>
            <a:chExt cx="1093246" cy="936830"/>
          </a:xfrm>
        </p:grpSpPr>
        <p:sp>
          <p:nvSpPr>
            <p:cNvPr id="61" name="Google Shape;1664;p58">
              <a:extLst>
                <a:ext uri="{FF2B5EF4-FFF2-40B4-BE49-F238E27FC236}">
                  <a16:creationId xmlns:a16="http://schemas.microsoft.com/office/drawing/2014/main" id="{7F186659-C2B8-4504-521A-B3131436C93F}"/>
                </a:ext>
              </a:extLst>
            </p:cNvPr>
            <p:cNvSpPr/>
            <p:nvPr/>
          </p:nvSpPr>
          <p:spPr>
            <a:xfrm>
              <a:off x="290126" y="2492170"/>
              <a:ext cx="1093246" cy="936830"/>
            </a:xfrm>
            <a:prstGeom prst="roundRect">
              <a:avLst>
                <a:gd name="adj" fmla="val 16667"/>
              </a:avLst>
            </a:prstGeom>
            <a:solidFill>
              <a:srgbClr val="FF68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 name="Google Shape;1663;p58">
              <a:extLst>
                <a:ext uri="{FF2B5EF4-FFF2-40B4-BE49-F238E27FC236}">
                  <a16:creationId xmlns:a16="http://schemas.microsoft.com/office/drawing/2014/main" id="{28AFDF25-BF82-D7C0-0AE6-5C4CCF4F91FB}"/>
                </a:ext>
              </a:extLst>
            </p:cNvPr>
            <p:cNvSpPr txBox="1">
              <a:spLocks/>
            </p:cNvSpPr>
            <p:nvPr/>
          </p:nvSpPr>
          <p:spPr>
            <a:xfrm>
              <a:off x="369907" y="2518624"/>
              <a:ext cx="935122" cy="883921"/>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4800" dirty="0">
                  <a:latin typeface="Britannic Bold" panose="020B0903060703020204" pitchFamily="34" charset="0"/>
                </a:rPr>
                <a:t>07</a:t>
              </a:r>
            </a:p>
          </p:txBody>
        </p:sp>
      </p:grpSp>
      <p:grpSp>
        <p:nvGrpSpPr>
          <p:cNvPr id="63" name="Group 62">
            <a:extLst>
              <a:ext uri="{FF2B5EF4-FFF2-40B4-BE49-F238E27FC236}">
                <a16:creationId xmlns:a16="http://schemas.microsoft.com/office/drawing/2014/main" id="{037BD809-BFC9-3510-588A-83FF71C52515}"/>
              </a:ext>
            </a:extLst>
          </p:cNvPr>
          <p:cNvGrpSpPr/>
          <p:nvPr/>
        </p:nvGrpSpPr>
        <p:grpSpPr>
          <a:xfrm>
            <a:off x="10385686" y="3656106"/>
            <a:ext cx="1093246" cy="936830"/>
            <a:chOff x="290126" y="2492170"/>
            <a:chExt cx="1093246" cy="936830"/>
          </a:xfrm>
        </p:grpSpPr>
        <p:sp>
          <p:nvSpPr>
            <p:cNvPr id="64" name="Google Shape;1664;p58">
              <a:extLst>
                <a:ext uri="{FF2B5EF4-FFF2-40B4-BE49-F238E27FC236}">
                  <a16:creationId xmlns:a16="http://schemas.microsoft.com/office/drawing/2014/main" id="{AB50498E-8732-F34F-705B-57F9EA74F341}"/>
                </a:ext>
              </a:extLst>
            </p:cNvPr>
            <p:cNvSpPr/>
            <p:nvPr/>
          </p:nvSpPr>
          <p:spPr>
            <a:xfrm>
              <a:off x="290126" y="2492170"/>
              <a:ext cx="1093246" cy="936830"/>
            </a:xfrm>
            <a:prstGeom prst="roundRect">
              <a:avLst>
                <a:gd name="adj" fmla="val 16667"/>
              </a:avLst>
            </a:prstGeom>
            <a:solidFill>
              <a:srgbClr val="FF68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 name="Google Shape;1663;p58">
              <a:extLst>
                <a:ext uri="{FF2B5EF4-FFF2-40B4-BE49-F238E27FC236}">
                  <a16:creationId xmlns:a16="http://schemas.microsoft.com/office/drawing/2014/main" id="{CCF5E459-8AB3-8700-8831-93A6FDE74E93}"/>
                </a:ext>
              </a:extLst>
            </p:cNvPr>
            <p:cNvSpPr txBox="1">
              <a:spLocks/>
            </p:cNvSpPr>
            <p:nvPr/>
          </p:nvSpPr>
          <p:spPr>
            <a:xfrm>
              <a:off x="369907" y="2518624"/>
              <a:ext cx="935122" cy="883921"/>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4800" dirty="0">
                  <a:latin typeface="Britannic Bold" panose="020B0903060703020204" pitchFamily="34" charset="0"/>
                </a:rPr>
                <a:t>08</a:t>
              </a:r>
            </a:p>
          </p:txBody>
        </p:sp>
      </p:grpSp>
    </p:spTree>
    <p:extLst>
      <p:ext uri="{BB962C8B-B14F-4D97-AF65-F5344CB8AC3E}">
        <p14:creationId xmlns:p14="http://schemas.microsoft.com/office/powerpoint/2010/main" val="3469847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C1EDA69F-F262-095B-8F4A-7627B9D7BDE5}"/>
              </a:ext>
            </a:extLst>
          </p:cNvPr>
          <p:cNvGrpSpPr/>
          <p:nvPr/>
        </p:nvGrpSpPr>
        <p:grpSpPr>
          <a:xfrm>
            <a:off x="-469088" y="-1727233"/>
            <a:ext cx="19240375" cy="10564979"/>
            <a:chOff x="-469088" y="-1727233"/>
            <a:chExt cx="19240375" cy="10564979"/>
          </a:xfrm>
        </p:grpSpPr>
        <p:sp>
          <p:nvSpPr>
            <p:cNvPr id="4" name="Rectangle 3">
              <a:extLst>
                <a:ext uri="{FF2B5EF4-FFF2-40B4-BE49-F238E27FC236}">
                  <a16:creationId xmlns:a16="http://schemas.microsoft.com/office/drawing/2014/main" id="{E4814AAC-49BA-61DA-461C-4C26A87C6758}"/>
                </a:ext>
              </a:extLst>
            </p:cNvPr>
            <p:cNvSpPr/>
            <p:nvPr/>
          </p:nvSpPr>
          <p:spPr>
            <a:xfrm>
              <a:off x="0" y="-1"/>
              <a:ext cx="12192000" cy="6858001"/>
            </a:xfrm>
            <a:prstGeom prst="rect">
              <a:avLst/>
            </a:prstGeom>
            <a:solidFill>
              <a:srgbClr val="534D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lowchart: Document 1">
              <a:extLst>
                <a:ext uri="{FF2B5EF4-FFF2-40B4-BE49-F238E27FC236}">
                  <a16:creationId xmlns:a16="http://schemas.microsoft.com/office/drawing/2014/main" id="{2E80F71E-C39E-9E5C-920C-3129132F5F0B}"/>
                </a:ext>
              </a:extLst>
            </p:cNvPr>
            <p:cNvSpPr/>
            <p:nvPr/>
          </p:nvSpPr>
          <p:spPr>
            <a:xfrm rot="16763909">
              <a:off x="613194" y="-2809515"/>
              <a:ext cx="10312464" cy="12477027"/>
            </a:xfrm>
            <a:prstGeom prst="flowChartDocumen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lowchart: Document 2">
              <a:extLst>
                <a:ext uri="{FF2B5EF4-FFF2-40B4-BE49-F238E27FC236}">
                  <a16:creationId xmlns:a16="http://schemas.microsoft.com/office/drawing/2014/main" id="{4478A785-5681-3E47-9F54-B34AC1FC30F1}"/>
                </a:ext>
              </a:extLst>
            </p:cNvPr>
            <p:cNvSpPr/>
            <p:nvPr/>
          </p:nvSpPr>
          <p:spPr>
            <a:xfrm rot="5669651" flipH="1">
              <a:off x="10287314" y="353773"/>
              <a:ext cx="8769192" cy="8198754"/>
            </a:xfrm>
            <a:prstGeom prst="flowChartDocument">
              <a:avLst/>
            </a:prstGeom>
            <a:solidFill>
              <a:srgbClr val="FF68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Google Shape;1663;p58">
            <a:extLst>
              <a:ext uri="{FF2B5EF4-FFF2-40B4-BE49-F238E27FC236}">
                <a16:creationId xmlns:a16="http://schemas.microsoft.com/office/drawing/2014/main" id="{C44F3471-9067-ACF6-02B8-5644827A1527}"/>
              </a:ext>
            </a:extLst>
          </p:cNvPr>
          <p:cNvSpPr txBox="1">
            <a:spLocks/>
          </p:cNvSpPr>
          <p:nvPr/>
        </p:nvSpPr>
        <p:spPr>
          <a:xfrm>
            <a:off x="3685052" y="128011"/>
            <a:ext cx="4168747" cy="946663"/>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4000" dirty="0">
                <a:latin typeface="Arial Black" panose="020B0A04020102020204" pitchFamily="34" charset="0"/>
              </a:rPr>
              <a:t>Introduction</a:t>
            </a:r>
          </a:p>
        </p:txBody>
      </p:sp>
      <p:pic>
        <p:nvPicPr>
          <p:cNvPr id="9" name="Picture 8">
            <a:extLst>
              <a:ext uri="{FF2B5EF4-FFF2-40B4-BE49-F238E27FC236}">
                <a16:creationId xmlns:a16="http://schemas.microsoft.com/office/drawing/2014/main" id="{CC73EADB-F797-8B6D-45D4-6F2B941B32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47460" y="1647872"/>
            <a:ext cx="3942547" cy="3942547"/>
          </a:xfrm>
          <a:prstGeom prst="rect">
            <a:avLst/>
          </a:prstGeom>
        </p:spPr>
      </p:pic>
      <p:sp>
        <p:nvSpPr>
          <p:cNvPr id="10" name="TextBox 9">
            <a:extLst>
              <a:ext uri="{FF2B5EF4-FFF2-40B4-BE49-F238E27FC236}">
                <a16:creationId xmlns:a16="http://schemas.microsoft.com/office/drawing/2014/main" id="{E48B15EF-9CD1-7103-6F87-BD59B5EC16CE}"/>
              </a:ext>
            </a:extLst>
          </p:cNvPr>
          <p:cNvSpPr txBox="1"/>
          <p:nvPr/>
        </p:nvSpPr>
        <p:spPr>
          <a:xfrm>
            <a:off x="601993" y="2007945"/>
            <a:ext cx="7494196" cy="3416320"/>
          </a:xfrm>
          <a:prstGeom prst="rect">
            <a:avLst/>
          </a:prstGeom>
          <a:noFill/>
        </p:spPr>
        <p:txBody>
          <a:bodyPr wrap="square" rtlCol="0">
            <a:spAutoFit/>
          </a:bodyPr>
          <a:lstStyle/>
          <a:p>
            <a:r>
              <a:rPr lang="en-US" sz="2700" dirty="0"/>
              <a:t>With increasing competition and customer expectations, understanding why customers leave has become critical for business success.</a:t>
            </a:r>
          </a:p>
          <a:p>
            <a:endParaRPr lang="en-US" sz="2700" dirty="0"/>
          </a:p>
          <a:p>
            <a:r>
              <a:rPr lang="en-US" sz="2700" dirty="0"/>
              <a:t>This analysis focuses on identifying the key factors driving customer churn by examining customer service interactions, service plans, usage patterns, and customer tenure. The goal is to uncover</a:t>
            </a:r>
          </a:p>
        </p:txBody>
      </p:sp>
      <p:sp>
        <p:nvSpPr>
          <p:cNvPr id="11" name="TextBox 10">
            <a:extLst>
              <a:ext uri="{FF2B5EF4-FFF2-40B4-BE49-F238E27FC236}">
                <a16:creationId xmlns:a16="http://schemas.microsoft.com/office/drawing/2014/main" id="{0C16EA6A-324D-ABB3-FADA-65CC7DF2C15D}"/>
              </a:ext>
            </a:extLst>
          </p:cNvPr>
          <p:cNvSpPr txBox="1"/>
          <p:nvPr/>
        </p:nvSpPr>
        <p:spPr>
          <a:xfrm>
            <a:off x="601993" y="1175553"/>
            <a:ext cx="9405717" cy="954107"/>
          </a:xfrm>
          <a:prstGeom prst="rect">
            <a:avLst/>
          </a:prstGeom>
          <a:noFill/>
        </p:spPr>
        <p:txBody>
          <a:bodyPr wrap="square" rtlCol="0">
            <a:spAutoFit/>
          </a:bodyPr>
          <a:lstStyle/>
          <a:p>
            <a:r>
              <a:rPr lang="en-US" sz="2700" dirty="0"/>
              <a:t>Customer churn is a major challenge in the telecom industry, as losing customers directly impacts revenue and growth. With </a:t>
            </a:r>
          </a:p>
        </p:txBody>
      </p:sp>
      <p:sp>
        <p:nvSpPr>
          <p:cNvPr id="12" name="TextBox 11">
            <a:extLst>
              <a:ext uri="{FF2B5EF4-FFF2-40B4-BE49-F238E27FC236}">
                <a16:creationId xmlns:a16="http://schemas.microsoft.com/office/drawing/2014/main" id="{4F009338-D72D-A8CC-1044-234225F4BE19}"/>
              </a:ext>
            </a:extLst>
          </p:cNvPr>
          <p:cNvSpPr txBox="1"/>
          <p:nvPr/>
        </p:nvSpPr>
        <p:spPr>
          <a:xfrm>
            <a:off x="601993" y="5333327"/>
            <a:ext cx="9766576" cy="923330"/>
          </a:xfrm>
          <a:prstGeom prst="rect">
            <a:avLst/>
          </a:prstGeom>
          <a:noFill/>
        </p:spPr>
        <p:txBody>
          <a:bodyPr wrap="square" rtlCol="0">
            <a:spAutoFit/>
          </a:bodyPr>
          <a:lstStyle/>
          <a:p>
            <a:r>
              <a:rPr lang="en-US" sz="2700" dirty="0"/>
              <a:t>actionable insights that can help improve customer retention, enhance service quality, and support data-driven decision-making.</a:t>
            </a:r>
          </a:p>
        </p:txBody>
      </p:sp>
    </p:spTree>
    <p:extLst>
      <p:ext uri="{BB962C8B-B14F-4D97-AF65-F5344CB8AC3E}">
        <p14:creationId xmlns:p14="http://schemas.microsoft.com/office/powerpoint/2010/main" val="1140897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C6F48DF-A700-4F64-8170-8D2DFA2C28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711" y="167462"/>
            <a:ext cx="11596577" cy="6523075"/>
          </a:xfrm>
          <a:prstGeom prst="rect">
            <a:avLst/>
          </a:prstGeom>
        </p:spPr>
      </p:pic>
    </p:spTree>
    <p:extLst>
      <p:ext uri="{BB962C8B-B14F-4D97-AF65-F5344CB8AC3E}">
        <p14:creationId xmlns:p14="http://schemas.microsoft.com/office/powerpoint/2010/main" val="988202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DE804-0459-AC66-339C-61C7755D62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916" y="131578"/>
            <a:ext cx="11724167" cy="6594844"/>
          </a:xfrm>
          <a:prstGeom prst="rect">
            <a:avLst/>
          </a:prstGeom>
        </p:spPr>
      </p:pic>
    </p:spTree>
    <p:extLst>
      <p:ext uri="{BB962C8B-B14F-4D97-AF65-F5344CB8AC3E}">
        <p14:creationId xmlns:p14="http://schemas.microsoft.com/office/powerpoint/2010/main" val="1694235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E489F7F7-45A8-75F9-8E66-6A04D3BBB6DA}"/>
              </a:ext>
            </a:extLst>
          </p:cNvPr>
          <p:cNvGrpSpPr/>
          <p:nvPr/>
        </p:nvGrpSpPr>
        <p:grpSpPr>
          <a:xfrm>
            <a:off x="-546100" y="-1054100"/>
            <a:ext cx="13360020" cy="7960832"/>
            <a:chOff x="-1562269" y="-988339"/>
            <a:chExt cx="14376189" cy="7895071"/>
          </a:xfrm>
        </p:grpSpPr>
        <p:sp>
          <p:nvSpPr>
            <p:cNvPr id="5" name="Rectangle 4">
              <a:extLst>
                <a:ext uri="{FF2B5EF4-FFF2-40B4-BE49-F238E27FC236}">
                  <a16:creationId xmlns:a16="http://schemas.microsoft.com/office/drawing/2014/main" id="{94EC592B-77AD-C8D5-B12E-A1C5E6B83D5F}"/>
                </a:ext>
              </a:extLst>
            </p:cNvPr>
            <p:cNvSpPr/>
            <p:nvPr/>
          </p:nvSpPr>
          <p:spPr>
            <a:xfrm>
              <a:off x="0" y="326572"/>
              <a:ext cx="12192000" cy="65314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lowchart: Document 3">
              <a:extLst>
                <a:ext uri="{FF2B5EF4-FFF2-40B4-BE49-F238E27FC236}">
                  <a16:creationId xmlns:a16="http://schemas.microsoft.com/office/drawing/2014/main" id="{8B12A953-288B-CE5B-5F16-1FE3516C2516}"/>
                </a:ext>
              </a:extLst>
            </p:cNvPr>
            <p:cNvSpPr/>
            <p:nvPr/>
          </p:nvSpPr>
          <p:spPr>
            <a:xfrm rot="20992656" flipH="1">
              <a:off x="-1562269" y="-988339"/>
              <a:ext cx="14376189" cy="7895071"/>
            </a:xfrm>
            <a:prstGeom prst="flowChartDocument">
              <a:avLst/>
            </a:prstGeom>
            <a:solidFill>
              <a:srgbClr val="534D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Google Shape;1663;p58">
            <a:extLst>
              <a:ext uri="{FF2B5EF4-FFF2-40B4-BE49-F238E27FC236}">
                <a16:creationId xmlns:a16="http://schemas.microsoft.com/office/drawing/2014/main" id="{D00C2F3E-A00F-2513-F4D2-335E082A2030}"/>
              </a:ext>
            </a:extLst>
          </p:cNvPr>
          <p:cNvSpPr txBox="1">
            <a:spLocks/>
          </p:cNvSpPr>
          <p:nvPr/>
        </p:nvSpPr>
        <p:spPr>
          <a:xfrm>
            <a:off x="387822" y="820243"/>
            <a:ext cx="6679256" cy="946662"/>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4000" dirty="0">
                <a:solidFill>
                  <a:srgbClr val="FF6825"/>
                </a:solidFill>
                <a:latin typeface="Arial Black" panose="020B0A04020102020204" pitchFamily="34" charset="0"/>
              </a:rPr>
              <a:t>Problem Statement</a:t>
            </a:r>
          </a:p>
        </p:txBody>
      </p:sp>
      <p:sp>
        <p:nvSpPr>
          <p:cNvPr id="7" name="TextBox 6">
            <a:extLst>
              <a:ext uri="{FF2B5EF4-FFF2-40B4-BE49-F238E27FC236}">
                <a16:creationId xmlns:a16="http://schemas.microsoft.com/office/drawing/2014/main" id="{764268B5-D2D2-6DB9-EEAC-EFEE78133A8D}"/>
              </a:ext>
            </a:extLst>
          </p:cNvPr>
          <p:cNvSpPr txBox="1"/>
          <p:nvPr/>
        </p:nvSpPr>
        <p:spPr>
          <a:xfrm>
            <a:off x="326421" y="1749545"/>
            <a:ext cx="7014179" cy="3970318"/>
          </a:xfrm>
          <a:prstGeom prst="rect">
            <a:avLst/>
          </a:prstGeom>
          <a:noFill/>
        </p:spPr>
        <p:txBody>
          <a:bodyPr wrap="square" rtlCol="0">
            <a:spAutoFit/>
          </a:bodyPr>
          <a:lstStyle/>
          <a:p>
            <a:r>
              <a:rPr lang="en-US" sz="2800" dirty="0">
                <a:solidFill>
                  <a:schemeClr val="bg1"/>
                </a:solidFill>
              </a:rPr>
              <a:t>Orange Telecom is experiencing customer churn and lacks clear insight into the key factors driving customer attrition. This analysis aims to identify the impact of customer service interactions, plan subscriptions, usage patterns, and customer tenure on churn, in order to support data-driven strategies for improving customer retention and reducing churn rates.</a:t>
            </a:r>
          </a:p>
        </p:txBody>
      </p:sp>
      <p:pic>
        <p:nvPicPr>
          <p:cNvPr id="9" name="Picture 8">
            <a:extLst>
              <a:ext uri="{FF2B5EF4-FFF2-40B4-BE49-F238E27FC236}">
                <a16:creationId xmlns:a16="http://schemas.microsoft.com/office/drawing/2014/main" id="{7FE18454-B862-1127-E7FE-EC71DBC995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54900" y="779360"/>
            <a:ext cx="4349278" cy="5299280"/>
          </a:xfrm>
          <a:prstGeom prst="rect">
            <a:avLst/>
          </a:prstGeom>
        </p:spPr>
      </p:pic>
    </p:spTree>
    <p:extLst>
      <p:ext uri="{BB962C8B-B14F-4D97-AF65-F5344CB8AC3E}">
        <p14:creationId xmlns:p14="http://schemas.microsoft.com/office/powerpoint/2010/main" val="23611057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E09A3-0461-6AA8-9647-38A5E2EF8B7A}"/>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3A0E1830-8345-D0F6-61A4-CCCF6902907C}"/>
              </a:ext>
            </a:extLst>
          </p:cNvPr>
          <p:cNvSpPr/>
          <p:nvPr/>
        </p:nvSpPr>
        <p:spPr>
          <a:xfrm>
            <a:off x="0" y="1"/>
            <a:ext cx="12192000" cy="6858000"/>
          </a:xfrm>
          <a:prstGeom prst="rect">
            <a:avLst/>
          </a:prstGeom>
          <a:solidFill>
            <a:srgbClr val="534D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534D5D"/>
                </a:solidFill>
              </a:ln>
              <a:solidFill>
                <a:srgbClr val="534D5D"/>
              </a:solidFill>
            </a:endParaRPr>
          </a:p>
        </p:txBody>
      </p:sp>
      <p:sp>
        <p:nvSpPr>
          <p:cNvPr id="2" name="Flowchart: Document 1">
            <a:extLst>
              <a:ext uri="{FF2B5EF4-FFF2-40B4-BE49-F238E27FC236}">
                <a16:creationId xmlns:a16="http://schemas.microsoft.com/office/drawing/2014/main" id="{6A68F4D1-80ED-0A71-7828-02CCA2F0A7B2}"/>
              </a:ext>
            </a:extLst>
          </p:cNvPr>
          <p:cNvSpPr/>
          <p:nvPr/>
        </p:nvSpPr>
        <p:spPr>
          <a:xfrm rot="10800000" flipH="1">
            <a:off x="0" y="-850608"/>
            <a:ext cx="12192000" cy="7708607"/>
          </a:xfrm>
          <a:prstGeom prst="flowChartDocumen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Google Shape;1663;p58">
            <a:extLst>
              <a:ext uri="{FF2B5EF4-FFF2-40B4-BE49-F238E27FC236}">
                <a16:creationId xmlns:a16="http://schemas.microsoft.com/office/drawing/2014/main" id="{6E2E96F4-87F1-969A-DEBD-DB132C6A5755}"/>
              </a:ext>
            </a:extLst>
          </p:cNvPr>
          <p:cNvSpPr txBox="1">
            <a:spLocks/>
          </p:cNvSpPr>
          <p:nvPr/>
        </p:nvSpPr>
        <p:spPr>
          <a:xfrm>
            <a:off x="810079" y="500341"/>
            <a:ext cx="8800265" cy="946663"/>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4000" dirty="0">
                <a:latin typeface="Arial Black" panose="020B0A04020102020204" pitchFamily="34" charset="0"/>
              </a:rPr>
              <a:t>Key Performance Indicators</a:t>
            </a:r>
          </a:p>
        </p:txBody>
      </p:sp>
      <p:pic>
        <p:nvPicPr>
          <p:cNvPr id="9" name="Graphic 8">
            <a:extLst>
              <a:ext uri="{FF2B5EF4-FFF2-40B4-BE49-F238E27FC236}">
                <a16:creationId xmlns:a16="http://schemas.microsoft.com/office/drawing/2014/main" id="{A9E62768-62E6-3496-3226-97E5E1F7EB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88565" y="1931953"/>
            <a:ext cx="3966286" cy="3723749"/>
          </a:xfrm>
          <a:prstGeom prst="rect">
            <a:avLst/>
          </a:prstGeom>
        </p:spPr>
      </p:pic>
      <p:grpSp>
        <p:nvGrpSpPr>
          <p:cNvPr id="117" name="Group 116">
            <a:extLst>
              <a:ext uri="{FF2B5EF4-FFF2-40B4-BE49-F238E27FC236}">
                <a16:creationId xmlns:a16="http://schemas.microsoft.com/office/drawing/2014/main" id="{6575C666-ED5A-BAED-55ED-115996682DEF}"/>
              </a:ext>
            </a:extLst>
          </p:cNvPr>
          <p:cNvGrpSpPr/>
          <p:nvPr/>
        </p:nvGrpSpPr>
        <p:grpSpPr>
          <a:xfrm>
            <a:off x="4811936" y="1661213"/>
            <a:ext cx="6483680" cy="4529222"/>
            <a:chOff x="5332636" y="1610413"/>
            <a:chExt cx="6483680" cy="4529222"/>
          </a:xfrm>
        </p:grpSpPr>
        <p:grpSp>
          <p:nvGrpSpPr>
            <p:cNvPr id="116" name="Group 115">
              <a:extLst>
                <a:ext uri="{FF2B5EF4-FFF2-40B4-BE49-F238E27FC236}">
                  <a16:creationId xmlns:a16="http://schemas.microsoft.com/office/drawing/2014/main" id="{F2564D93-AEEC-F032-ECBF-FCCDA1C1918B}"/>
                </a:ext>
              </a:extLst>
            </p:cNvPr>
            <p:cNvGrpSpPr/>
            <p:nvPr/>
          </p:nvGrpSpPr>
          <p:grpSpPr>
            <a:xfrm>
              <a:off x="5332636" y="1610413"/>
              <a:ext cx="2488936" cy="4433362"/>
              <a:chOff x="5332636" y="1610413"/>
              <a:chExt cx="2488936" cy="4433362"/>
            </a:xfrm>
          </p:grpSpPr>
          <p:cxnSp>
            <p:nvCxnSpPr>
              <p:cNvPr id="14" name="Google Shape;3927;p91">
                <a:extLst>
                  <a:ext uri="{FF2B5EF4-FFF2-40B4-BE49-F238E27FC236}">
                    <a16:creationId xmlns:a16="http://schemas.microsoft.com/office/drawing/2014/main" id="{3BDF54A1-C7E2-C6CB-176B-83BAD6F46861}"/>
                  </a:ext>
                </a:extLst>
              </p:cNvPr>
              <p:cNvCxnSpPr>
                <a:cxnSpLocks/>
              </p:cNvCxnSpPr>
              <p:nvPr/>
            </p:nvCxnSpPr>
            <p:spPr>
              <a:xfrm rot="10800000">
                <a:off x="5348765" y="3806023"/>
                <a:ext cx="1946185" cy="1905728"/>
              </a:xfrm>
              <a:prstGeom prst="curvedConnector3">
                <a:avLst>
                  <a:gd name="adj1" fmla="val 48907"/>
                </a:avLst>
              </a:prstGeom>
              <a:noFill/>
              <a:ln w="19050" cap="flat" cmpd="sng">
                <a:solidFill>
                  <a:schemeClr val="dk2"/>
                </a:solidFill>
                <a:prstDash val="solid"/>
                <a:round/>
                <a:headEnd type="none" w="med" len="med"/>
                <a:tailEnd type="none" w="med" len="med"/>
              </a:ln>
            </p:spPr>
          </p:cxnSp>
          <p:cxnSp>
            <p:nvCxnSpPr>
              <p:cNvPr id="11" name="Google Shape;3925;p91">
                <a:extLst>
                  <a:ext uri="{FF2B5EF4-FFF2-40B4-BE49-F238E27FC236}">
                    <a16:creationId xmlns:a16="http://schemas.microsoft.com/office/drawing/2014/main" id="{D4AF1B56-878B-D97A-FF00-73D35C0D54A6}"/>
                  </a:ext>
                </a:extLst>
              </p:cNvPr>
              <p:cNvCxnSpPr>
                <a:cxnSpLocks/>
              </p:cNvCxnSpPr>
              <p:nvPr/>
            </p:nvCxnSpPr>
            <p:spPr>
              <a:xfrm rot="10800000" flipV="1">
                <a:off x="5332641" y="2806394"/>
                <a:ext cx="1949291" cy="996923"/>
              </a:xfrm>
              <a:prstGeom prst="curvedConnector3">
                <a:avLst>
                  <a:gd name="adj1" fmla="val 42963"/>
                </a:avLst>
              </a:prstGeom>
              <a:noFill/>
              <a:ln w="19050" cap="flat" cmpd="sng">
                <a:solidFill>
                  <a:schemeClr val="dk2"/>
                </a:solidFill>
                <a:prstDash val="solid"/>
                <a:round/>
                <a:headEnd type="none" w="med" len="med"/>
                <a:tailEnd type="none" w="med" len="med"/>
              </a:ln>
            </p:spPr>
          </p:cxnSp>
          <p:cxnSp>
            <p:nvCxnSpPr>
              <p:cNvPr id="12" name="Google Shape;3926;p91">
                <a:extLst>
                  <a:ext uri="{FF2B5EF4-FFF2-40B4-BE49-F238E27FC236}">
                    <a16:creationId xmlns:a16="http://schemas.microsoft.com/office/drawing/2014/main" id="{861795DA-BE19-0522-F4B3-4B0A0896DC57}"/>
                  </a:ext>
                </a:extLst>
              </p:cNvPr>
              <p:cNvCxnSpPr>
                <a:cxnSpLocks/>
              </p:cNvCxnSpPr>
              <p:nvPr/>
            </p:nvCxnSpPr>
            <p:spPr>
              <a:xfrm rot="10800000">
                <a:off x="5364284" y="3800521"/>
                <a:ext cx="1987104" cy="5501"/>
              </a:xfrm>
              <a:prstGeom prst="curvedConnector3">
                <a:avLst>
                  <a:gd name="adj1" fmla="val 50000"/>
                </a:avLst>
              </a:prstGeom>
              <a:noFill/>
              <a:ln w="19050" cap="flat" cmpd="sng">
                <a:solidFill>
                  <a:schemeClr val="dk2"/>
                </a:solidFill>
                <a:prstDash val="solid"/>
                <a:round/>
                <a:headEnd type="none" w="med" len="med"/>
                <a:tailEnd type="none" w="med" len="med"/>
              </a:ln>
            </p:spPr>
          </p:cxnSp>
          <p:cxnSp>
            <p:nvCxnSpPr>
              <p:cNvPr id="13" name="Google Shape;3927;p91">
                <a:extLst>
                  <a:ext uri="{FF2B5EF4-FFF2-40B4-BE49-F238E27FC236}">
                    <a16:creationId xmlns:a16="http://schemas.microsoft.com/office/drawing/2014/main" id="{1A479ADD-2469-1A37-05A7-9E43E2CE1C1C}"/>
                  </a:ext>
                </a:extLst>
              </p:cNvPr>
              <p:cNvCxnSpPr>
                <a:cxnSpLocks/>
              </p:cNvCxnSpPr>
              <p:nvPr/>
            </p:nvCxnSpPr>
            <p:spPr>
              <a:xfrm rot="10800000">
                <a:off x="5332636" y="3798645"/>
                <a:ext cx="1968196" cy="1062495"/>
              </a:xfrm>
              <a:prstGeom prst="curvedConnector3">
                <a:avLst>
                  <a:gd name="adj1" fmla="val 45280"/>
                </a:avLst>
              </a:prstGeom>
              <a:noFill/>
              <a:ln w="19050" cap="flat" cmpd="sng">
                <a:solidFill>
                  <a:schemeClr val="dk2"/>
                </a:solidFill>
                <a:prstDash val="solid"/>
                <a:round/>
                <a:headEnd type="none" w="med" len="med"/>
                <a:tailEnd type="none" w="med" len="med"/>
              </a:ln>
            </p:spPr>
          </p:cxnSp>
          <p:cxnSp>
            <p:nvCxnSpPr>
              <p:cNvPr id="46" name="Google Shape;3927;p91">
                <a:extLst>
                  <a:ext uri="{FF2B5EF4-FFF2-40B4-BE49-F238E27FC236}">
                    <a16:creationId xmlns:a16="http://schemas.microsoft.com/office/drawing/2014/main" id="{9F5E62B5-E34C-7D6A-48FE-4EF987553F25}"/>
                  </a:ext>
                </a:extLst>
              </p:cNvPr>
              <p:cNvCxnSpPr>
                <a:cxnSpLocks/>
              </p:cNvCxnSpPr>
              <p:nvPr/>
            </p:nvCxnSpPr>
            <p:spPr>
              <a:xfrm rot="10800000" flipV="1">
                <a:off x="5339149" y="1859855"/>
                <a:ext cx="2037371" cy="1939727"/>
              </a:xfrm>
              <a:prstGeom prst="curvedConnector3">
                <a:avLst>
                  <a:gd name="adj1" fmla="val 50000"/>
                </a:avLst>
              </a:prstGeom>
              <a:noFill/>
              <a:ln w="19050" cap="flat" cmpd="sng">
                <a:solidFill>
                  <a:schemeClr val="dk2"/>
                </a:solidFill>
                <a:prstDash val="solid"/>
                <a:round/>
                <a:headEnd type="none" w="med" len="med"/>
                <a:tailEnd type="none" w="med" len="med"/>
              </a:ln>
            </p:spPr>
          </p:cxnSp>
          <p:grpSp>
            <p:nvGrpSpPr>
              <p:cNvPr id="65" name="Group 64">
                <a:extLst>
                  <a:ext uri="{FF2B5EF4-FFF2-40B4-BE49-F238E27FC236}">
                    <a16:creationId xmlns:a16="http://schemas.microsoft.com/office/drawing/2014/main" id="{03B02B09-DD9D-2B6E-ACCA-1FFDF466175A}"/>
                  </a:ext>
                </a:extLst>
              </p:cNvPr>
              <p:cNvGrpSpPr/>
              <p:nvPr/>
            </p:nvGrpSpPr>
            <p:grpSpPr>
              <a:xfrm>
                <a:off x="7231885" y="1610413"/>
                <a:ext cx="572411" cy="583996"/>
                <a:chOff x="7464857" y="1113709"/>
                <a:chExt cx="517928" cy="487655"/>
              </a:xfrm>
            </p:grpSpPr>
            <p:sp>
              <p:nvSpPr>
                <p:cNvPr id="62" name="Google Shape;3922;p91">
                  <a:extLst>
                    <a:ext uri="{FF2B5EF4-FFF2-40B4-BE49-F238E27FC236}">
                      <a16:creationId xmlns:a16="http://schemas.microsoft.com/office/drawing/2014/main" id="{92AE2C8A-6832-9A81-386B-9695CAA896DA}"/>
                    </a:ext>
                  </a:extLst>
                </p:cNvPr>
                <p:cNvSpPr/>
                <p:nvPr/>
              </p:nvSpPr>
              <p:spPr>
                <a:xfrm>
                  <a:off x="7464857" y="1113709"/>
                  <a:ext cx="517928" cy="487655"/>
                </a:xfrm>
                <a:prstGeom prst="roundRect">
                  <a:avLst>
                    <a:gd name="adj" fmla="val 16667"/>
                  </a:avLst>
                </a:prstGeom>
                <a:solidFill>
                  <a:srgbClr val="FF68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4" name="Picture 63">
                  <a:extLst>
                    <a:ext uri="{FF2B5EF4-FFF2-40B4-BE49-F238E27FC236}">
                      <a16:creationId xmlns:a16="http://schemas.microsoft.com/office/drawing/2014/main" id="{A6AD69C2-7B52-AA81-F1DE-EDE4968BE6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33803" y="1206165"/>
                  <a:ext cx="328557" cy="328557"/>
                </a:xfrm>
                <a:prstGeom prst="rect">
                  <a:avLst/>
                </a:prstGeom>
              </p:spPr>
            </p:pic>
          </p:grpSp>
          <p:grpSp>
            <p:nvGrpSpPr>
              <p:cNvPr id="74" name="Group 73">
                <a:extLst>
                  <a:ext uri="{FF2B5EF4-FFF2-40B4-BE49-F238E27FC236}">
                    <a16:creationId xmlns:a16="http://schemas.microsoft.com/office/drawing/2014/main" id="{A1EC9C7E-DD5E-0D14-A7EB-DD85618CF7B1}"/>
                  </a:ext>
                </a:extLst>
              </p:cNvPr>
              <p:cNvGrpSpPr/>
              <p:nvPr/>
            </p:nvGrpSpPr>
            <p:grpSpPr>
              <a:xfrm>
                <a:off x="7231886" y="2565147"/>
                <a:ext cx="572412" cy="569235"/>
                <a:chOff x="7464857" y="2068443"/>
                <a:chExt cx="517928" cy="487655"/>
              </a:xfrm>
            </p:grpSpPr>
            <p:sp>
              <p:nvSpPr>
                <p:cNvPr id="67" name="Google Shape;3922;p91">
                  <a:extLst>
                    <a:ext uri="{FF2B5EF4-FFF2-40B4-BE49-F238E27FC236}">
                      <a16:creationId xmlns:a16="http://schemas.microsoft.com/office/drawing/2014/main" id="{D4C2B632-65C0-D0AD-858B-6C8E4169EEC9}"/>
                    </a:ext>
                  </a:extLst>
                </p:cNvPr>
                <p:cNvSpPr/>
                <p:nvPr/>
              </p:nvSpPr>
              <p:spPr>
                <a:xfrm>
                  <a:off x="7464857" y="2068443"/>
                  <a:ext cx="517928" cy="487655"/>
                </a:xfrm>
                <a:prstGeom prst="roundRect">
                  <a:avLst>
                    <a:gd name="adj" fmla="val 16667"/>
                  </a:avLst>
                </a:prstGeom>
                <a:solidFill>
                  <a:srgbClr val="FF68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70" name="Picture 69">
                  <a:extLst>
                    <a:ext uri="{FF2B5EF4-FFF2-40B4-BE49-F238E27FC236}">
                      <a16:creationId xmlns:a16="http://schemas.microsoft.com/office/drawing/2014/main" id="{865500BF-1F72-F4CB-88AC-B2AC9026071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47497" y="2135958"/>
                  <a:ext cx="329184" cy="314410"/>
                </a:xfrm>
                <a:prstGeom prst="rect">
                  <a:avLst/>
                </a:prstGeom>
              </p:spPr>
            </p:pic>
          </p:grpSp>
          <p:grpSp>
            <p:nvGrpSpPr>
              <p:cNvPr id="77" name="Group 76">
                <a:extLst>
                  <a:ext uri="{FF2B5EF4-FFF2-40B4-BE49-F238E27FC236}">
                    <a16:creationId xmlns:a16="http://schemas.microsoft.com/office/drawing/2014/main" id="{BB96E808-ADEC-F11C-F2D4-D27A82CF8343}"/>
                  </a:ext>
                </a:extLst>
              </p:cNvPr>
              <p:cNvGrpSpPr/>
              <p:nvPr/>
            </p:nvGrpSpPr>
            <p:grpSpPr>
              <a:xfrm>
                <a:off x="7231885" y="3548939"/>
                <a:ext cx="589687" cy="587535"/>
                <a:chOff x="7464857" y="3052235"/>
                <a:chExt cx="517928" cy="487655"/>
              </a:xfrm>
            </p:grpSpPr>
            <p:sp>
              <p:nvSpPr>
                <p:cNvPr id="72" name="Google Shape;3922;p91">
                  <a:extLst>
                    <a:ext uri="{FF2B5EF4-FFF2-40B4-BE49-F238E27FC236}">
                      <a16:creationId xmlns:a16="http://schemas.microsoft.com/office/drawing/2014/main" id="{0AC410B9-CA75-D99D-7F32-AB6050728801}"/>
                    </a:ext>
                  </a:extLst>
                </p:cNvPr>
                <p:cNvSpPr/>
                <p:nvPr/>
              </p:nvSpPr>
              <p:spPr>
                <a:xfrm>
                  <a:off x="7464857" y="3052235"/>
                  <a:ext cx="517928" cy="487655"/>
                </a:xfrm>
                <a:prstGeom prst="roundRect">
                  <a:avLst>
                    <a:gd name="adj" fmla="val 16667"/>
                  </a:avLst>
                </a:prstGeom>
                <a:solidFill>
                  <a:srgbClr val="FF68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6" name="Picture 75">
                  <a:extLst>
                    <a:ext uri="{FF2B5EF4-FFF2-40B4-BE49-F238E27FC236}">
                      <a16:creationId xmlns:a16="http://schemas.microsoft.com/office/drawing/2014/main" id="{B54D0D53-5E3E-4351-7C4F-CD1F4987CECC}"/>
                    </a:ext>
                  </a:extLst>
                </p:cNvPr>
                <p:cNvPicPr>
                  <a:picLocks noChangeAspect="1"/>
                </p:cNvPicPr>
                <p:nvPr/>
              </p:nvPicPr>
              <p:blipFill>
                <a:blip r:embed="rId6">
                  <a:extLst>
                    <a:ext uri="{28A0092B-C50C-407E-A947-70E740481C1C}">
                      <a14:useLocalDpi xmlns:a14="http://schemas.microsoft.com/office/drawing/2010/main" val="0"/>
                    </a:ext>
                  </a:extLst>
                </a:blip>
                <a:srcRect l="8466" t="1" b="-6459"/>
                <a:stretch>
                  <a:fillRect/>
                </a:stretch>
              </p:blipFill>
              <p:spPr>
                <a:xfrm>
                  <a:off x="7569319" y="3117331"/>
                  <a:ext cx="369063" cy="357477"/>
                </a:xfrm>
                <a:prstGeom prst="rect">
                  <a:avLst/>
                </a:prstGeom>
              </p:spPr>
            </p:pic>
          </p:grpSp>
          <p:grpSp>
            <p:nvGrpSpPr>
              <p:cNvPr id="88" name="Group 87">
                <a:extLst>
                  <a:ext uri="{FF2B5EF4-FFF2-40B4-BE49-F238E27FC236}">
                    <a16:creationId xmlns:a16="http://schemas.microsoft.com/office/drawing/2014/main" id="{EF5F5036-DCCF-D77B-E548-4A15EAB51790}"/>
                  </a:ext>
                </a:extLst>
              </p:cNvPr>
              <p:cNvGrpSpPr/>
              <p:nvPr/>
            </p:nvGrpSpPr>
            <p:grpSpPr>
              <a:xfrm>
                <a:off x="7207683" y="4551031"/>
                <a:ext cx="597544" cy="587361"/>
                <a:chOff x="7456999" y="4118097"/>
                <a:chExt cx="517928" cy="487655"/>
              </a:xfrm>
            </p:grpSpPr>
            <p:sp>
              <p:nvSpPr>
                <p:cNvPr id="79" name="Google Shape;3922;p91">
                  <a:extLst>
                    <a:ext uri="{FF2B5EF4-FFF2-40B4-BE49-F238E27FC236}">
                      <a16:creationId xmlns:a16="http://schemas.microsoft.com/office/drawing/2014/main" id="{A23F5F30-52F8-EC23-89F5-EF666293560B}"/>
                    </a:ext>
                  </a:extLst>
                </p:cNvPr>
                <p:cNvSpPr/>
                <p:nvPr/>
              </p:nvSpPr>
              <p:spPr>
                <a:xfrm>
                  <a:off x="7456999" y="4118097"/>
                  <a:ext cx="517928" cy="487655"/>
                </a:xfrm>
                <a:prstGeom prst="roundRect">
                  <a:avLst>
                    <a:gd name="adj" fmla="val 16667"/>
                  </a:avLst>
                </a:prstGeom>
                <a:solidFill>
                  <a:srgbClr val="FF68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85" name="Picture 84">
                  <a:extLst>
                    <a:ext uri="{FF2B5EF4-FFF2-40B4-BE49-F238E27FC236}">
                      <a16:creationId xmlns:a16="http://schemas.microsoft.com/office/drawing/2014/main" id="{91969DF2-41B0-25B5-5F7C-5F9BDACAD30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549020" y="4219217"/>
                  <a:ext cx="298122" cy="298122"/>
                </a:xfrm>
                <a:prstGeom prst="rect">
                  <a:avLst/>
                </a:prstGeom>
              </p:spPr>
            </p:pic>
          </p:grpSp>
          <p:grpSp>
            <p:nvGrpSpPr>
              <p:cNvPr id="91" name="Group 90">
                <a:extLst>
                  <a:ext uri="{FF2B5EF4-FFF2-40B4-BE49-F238E27FC236}">
                    <a16:creationId xmlns:a16="http://schemas.microsoft.com/office/drawing/2014/main" id="{A7212CE1-0B8A-34B6-587F-4CA116B23114}"/>
                  </a:ext>
                </a:extLst>
              </p:cNvPr>
              <p:cNvGrpSpPr/>
              <p:nvPr/>
            </p:nvGrpSpPr>
            <p:grpSpPr>
              <a:xfrm>
                <a:off x="7219783" y="5456414"/>
                <a:ext cx="596614" cy="587361"/>
                <a:chOff x="7460928" y="4942644"/>
                <a:chExt cx="517928" cy="487655"/>
              </a:xfrm>
            </p:grpSpPr>
            <p:sp>
              <p:nvSpPr>
                <p:cNvPr id="82" name="Google Shape;3922;p91">
                  <a:extLst>
                    <a:ext uri="{FF2B5EF4-FFF2-40B4-BE49-F238E27FC236}">
                      <a16:creationId xmlns:a16="http://schemas.microsoft.com/office/drawing/2014/main" id="{5A05B2E8-4347-7B1D-31D8-0B2DB9799B80}"/>
                    </a:ext>
                  </a:extLst>
                </p:cNvPr>
                <p:cNvSpPr/>
                <p:nvPr/>
              </p:nvSpPr>
              <p:spPr>
                <a:xfrm>
                  <a:off x="7460928" y="4942644"/>
                  <a:ext cx="517928" cy="487655"/>
                </a:xfrm>
                <a:prstGeom prst="roundRect">
                  <a:avLst>
                    <a:gd name="adj" fmla="val 16667"/>
                  </a:avLst>
                </a:prstGeom>
                <a:solidFill>
                  <a:srgbClr val="FF68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87" name="Picture 86">
                  <a:extLst>
                    <a:ext uri="{FF2B5EF4-FFF2-40B4-BE49-F238E27FC236}">
                      <a16:creationId xmlns:a16="http://schemas.microsoft.com/office/drawing/2014/main" id="{D751C363-0F02-3249-BE97-FAF4F4C78BA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533803" y="5002908"/>
                  <a:ext cx="345432" cy="345432"/>
                </a:xfrm>
                <a:prstGeom prst="rect">
                  <a:avLst/>
                </a:prstGeom>
              </p:spPr>
            </p:pic>
          </p:grpSp>
        </p:grpSp>
        <p:sp>
          <p:nvSpPr>
            <p:cNvPr id="93" name="TextBox 92">
              <a:extLst>
                <a:ext uri="{FF2B5EF4-FFF2-40B4-BE49-F238E27FC236}">
                  <a16:creationId xmlns:a16="http://schemas.microsoft.com/office/drawing/2014/main" id="{F2423BF3-0B54-6E79-7728-66E96FAFFE17}"/>
                </a:ext>
              </a:extLst>
            </p:cNvPr>
            <p:cNvSpPr txBox="1"/>
            <p:nvPr/>
          </p:nvSpPr>
          <p:spPr>
            <a:xfrm>
              <a:off x="7853230" y="1625412"/>
              <a:ext cx="2898649" cy="553998"/>
            </a:xfrm>
            <a:prstGeom prst="rect">
              <a:avLst/>
            </a:prstGeom>
            <a:noFill/>
          </p:spPr>
          <p:txBody>
            <a:bodyPr wrap="square" rtlCol="0">
              <a:spAutoFit/>
            </a:bodyPr>
            <a:lstStyle/>
            <a:p>
              <a:r>
                <a:rPr lang="en-US" b="1" dirty="0"/>
                <a:t>Total Customers: 2666</a:t>
              </a:r>
              <a:r>
                <a:rPr lang="en-US" dirty="0"/>
                <a:t>  </a:t>
              </a:r>
            </a:p>
            <a:p>
              <a:r>
                <a:rPr lang="en-US" sz="1200" dirty="0"/>
                <a:t>Total number of customers.</a:t>
              </a:r>
            </a:p>
          </p:txBody>
        </p:sp>
        <p:sp>
          <p:nvSpPr>
            <p:cNvPr id="94" name="TextBox 93">
              <a:extLst>
                <a:ext uri="{FF2B5EF4-FFF2-40B4-BE49-F238E27FC236}">
                  <a16:creationId xmlns:a16="http://schemas.microsoft.com/office/drawing/2014/main" id="{1F992086-AB36-F1FF-AE37-858522A20C89}"/>
                </a:ext>
              </a:extLst>
            </p:cNvPr>
            <p:cNvSpPr txBox="1"/>
            <p:nvPr/>
          </p:nvSpPr>
          <p:spPr>
            <a:xfrm>
              <a:off x="7853230" y="2550462"/>
              <a:ext cx="3067708" cy="553998"/>
            </a:xfrm>
            <a:prstGeom prst="rect">
              <a:avLst/>
            </a:prstGeom>
            <a:noFill/>
          </p:spPr>
          <p:txBody>
            <a:bodyPr wrap="square" rtlCol="0">
              <a:spAutoFit/>
            </a:bodyPr>
            <a:lstStyle/>
            <a:p>
              <a:r>
                <a:rPr lang="en-US" b="1" dirty="0"/>
                <a:t>Churn Rate: 14.55%</a:t>
              </a:r>
              <a:r>
                <a:rPr lang="en-US" dirty="0"/>
                <a:t> </a:t>
              </a:r>
            </a:p>
            <a:p>
              <a:r>
                <a:rPr lang="en-US" sz="1200" dirty="0"/>
                <a:t>Percentage of customers who have churned</a:t>
              </a:r>
            </a:p>
          </p:txBody>
        </p:sp>
        <p:sp>
          <p:nvSpPr>
            <p:cNvPr id="95" name="TextBox 94">
              <a:extLst>
                <a:ext uri="{FF2B5EF4-FFF2-40B4-BE49-F238E27FC236}">
                  <a16:creationId xmlns:a16="http://schemas.microsoft.com/office/drawing/2014/main" id="{41693341-CA66-3EA4-CCD6-400FF2742CFB}"/>
                </a:ext>
              </a:extLst>
            </p:cNvPr>
            <p:cNvSpPr txBox="1"/>
            <p:nvPr/>
          </p:nvSpPr>
          <p:spPr>
            <a:xfrm>
              <a:off x="7853230" y="3565707"/>
              <a:ext cx="3227832" cy="553998"/>
            </a:xfrm>
            <a:prstGeom prst="rect">
              <a:avLst/>
            </a:prstGeom>
            <a:noFill/>
          </p:spPr>
          <p:txBody>
            <a:bodyPr wrap="square" rtlCol="0">
              <a:spAutoFit/>
            </a:bodyPr>
            <a:lstStyle/>
            <a:p>
              <a:r>
                <a:rPr lang="en-US" b="1" dirty="0"/>
                <a:t>Churned Customers: 388</a:t>
              </a:r>
            </a:p>
            <a:p>
              <a:r>
                <a:rPr lang="en-US" sz="1200" dirty="0"/>
                <a:t>Total number of customers who left</a:t>
              </a:r>
            </a:p>
          </p:txBody>
        </p:sp>
        <p:sp>
          <p:nvSpPr>
            <p:cNvPr id="114" name="TextBox 113">
              <a:extLst>
                <a:ext uri="{FF2B5EF4-FFF2-40B4-BE49-F238E27FC236}">
                  <a16:creationId xmlns:a16="http://schemas.microsoft.com/office/drawing/2014/main" id="{2808C568-0F89-5864-643F-05F611189F70}"/>
                </a:ext>
              </a:extLst>
            </p:cNvPr>
            <p:cNvSpPr txBox="1"/>
            <p:nvPr/>
          </p:nvSpPr>
          <p:spPr>
            <a:xfrm>
              <a:off x="7882777" y="4551031"/>
              <a:ext cx="3721396" cy="738664"/>
            </a:xfrm>
            <a:prstGeom prst="rect">
              <a:avLst/>
            </a:prstGeom>
            <a:noFill/>
          </p:spPr>
          <p:txBody>
            <a:bodyPr wrap="square" rtlCol="0">
              <a:spAutoFit/>
            </a:bodyPr>
            <a:lstStyle/>
            <a:p>
              <a:r>
                <a:rPr lang="en-US" b="1" dirty="0"/>
                <a:t>Average Account Length: 100.62 Days</a:t>
              </a:r>
            </a:p>
            <a:p>
              <a:r>
                <a:rPr lang="en-US" sz="1200" dirty="0"/>
                <a:t>Customers stay with the company for approximately 3.3 months on average.</a:t>
              </a:r>
            </a:p>
          </p:txBody>
        </p:sp>
        <p:sp>
          <p:nvSpPr>
            <p:cNvPr id="115" name="TextBox 114">
              <a:extLst>
                <a:ext uri="{FF2B5EF4-FFF2-40B4-BE49-F238E27FC236}">
                  <a16:creationId xmlns:a16="http://schemas.microsoft.com/office/drawing/2014/main" id="{534A5167-F59C-9426-821E-6FE222B283F1}"/>
                </a:ext>
              </a:extLst>
            </p:cNvPr>
            <p:cNvSpPr txBox="1"/>
            <p:nvPr/>
          </p:nvSpPr>
          <p:spPr>
            <a:xfrm>
              <a:off x="7974418" y="5585637"/>
              <a:ext cx="3841898" cy="553998"/>
            </a:xfrm>
            <a:prstGeom prst="rect">
              <a:avLst/>
            </a:prstGeom>
            <a:noFill/>
          </p:spPr>
          <p:txBody>
            <a:bodyPr wrap="square" rtlCol="0">
              <a:spAutoFit/>
            </a:bodyPr>
            <a:lstStyle/>
            <a:p>
              <a:r>
                <a:rPr lang="en-US" b="1" dirty="0"/>
                <a:t>Average Customer Service Calls: 1.56</a:t>
              </a:r>
            </a:p>
            <a:p>
              <a:r>
                <a:rPr lang="en-US" sz="1200" dirty="0"/>
                <a:t>Average number of service calls made by customers</a:t>
              </a:r>
            </a:p>
          </p:txBody>
        </p:sp>
      </p:grpSp>
    </p:spTree>
    <p:extLst>
      <p:ext uri="{BB962C8B-B14F-4D97-AF65-F5344CB8AC3E}">
        <p14:creationId xmlns:p14="http://schemas.microsoft.com/office/powerpoint/2010/main" val="35547532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76CA0CC4-213D-EC33-69F3-4F6B9F94BD34}"/>
              </a:ext>
            </a:extLst>
          </p:cNvPr>
          <p:cNvGrpSpPr/>
          <p:nvPr/>
        </p:nvGrpSpPr>
        <p:grpSpPr>
          <a:xfrm>
            <a:off x="-1041991" y="-2"/>
            <a:ext cx="13992446" cy="6858001"/>
            <a:chOff x="-1041991" y="-2"/>
            <a:chExt cx="13992446" cy="6858001"/>
          </a:xfrm>
        </p:grpSpPr>
        <p:sp>
          <p:nvSpPr>
            <p:cNvPr id="2" name="Rectangle 1">
              <a:extLst>
                <a:ext uri="{FF2B5EF4-FFF2-40B4-BE49-F238E27FC236}">
                  <a16:creationId xmlns:a16="http://schemas.microsoft.com/office/drawing/2014/main" id="{C4B8C9AF-5216-7404-D732-6829B8B7D045}"/>
                </a:ext>
              </a:extLst>
            </p:cNvPr>
            <p:cNvSpPr/>
            <p:nvPr/>
          </p:nvSpPr>
          <p:spPr>
            <a:xfrm>
              <a:off x="0" y="0"/>
              <a:ext cx="12192000" cy="6677247"/>
            </a:xfrm>
            <a:prstGeom prst="rect">
              <a:avLst/>
            </a:prstGeom>
            <a:solidFill>
              <a:srgbClr val="534D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lowchart: Document 2">
              <a:extLst>
                <a:ext uri="{FF2B5EF4-FFF2-40B4-BE49-F238E27FC236}">
                  <a16:creationId xmlns:a16="http://schemas.microsoft.com/office/drawing/2014/main" id="{90DC6ABA-CC57-2B65-58D0-961FC78C8431}"/>
                </a:ext>
              </a:extLst>
            </p:cNvPr>
            <p:cNvSpPr/>
            <p:nvPr/>
          </p:nvSpPr>
          <p:spPr>
            <a:xfrm rot="5400000" flipH="1">
              <a:off x="303027" y="-1345020"/>
              <a:ext cx="6858001" cy="9548038"/>
            </a:xfrm>
            <a:prstGeom prst="flowChartDocumen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lowchart: Document 3">
              <a:extLst>
                <a:ext uri="{FF2B5EF4-FFF2-40B4-BE49-F238E27FC236}">
                  <a16:creationId xmlns:a16="http://schemas.microsoft.com/office/drawing/2014/main" id="{A27396BF-016C-07E9-D328-DE623EEF4BE5}"/>
                </a:ext>
              </a:extLst>
            </p:cNvPr>
            <p:cNvSpPr/>
            <p:nvPr/>
          </p:nvSpPr>
          <p:spPr>
            <a:xfrm rot="5400000" flipH="1" flipV="1">
              <a:off x="5396023" y="-696434"/>
              <a:ext cx="6858000" cy="8250864"/>
            </a:xfrm>
            <a:prstGeom prst="flowChartDocumen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Google Shape;1663;p58">
            <a:extLst>
              <a:ext uri="{FF2B5EF4-FFF2-40B4-BE49-F238E27FC236}">
                <a16:creationId xmlns:a16="http://schemas.microsoft.com/office/drawing/2014/main" id="{43507684-4E2C-D64E-0F2C-9BAC7A17AF7C}"/>
              </a:ext>
            </a:extLst>
          </p:cNvPr>
          <p:cNvSpPr txBox="1">
            <a:spLocks/>
          </p:cNvSpPr>
          <p:nvPr/>
        </p:nvSpPr>
        <p:spPr>
          <a:xfrm>
            <a:off x="2244000" y="799205"/>
            <a:ext cx="7704000" cy="765910"/>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sz="4000" dirty="0">
                <a:latin typeface="Arial Black" panose="020B0A04020102020204" pitchFamily="34" charset="0"/>
              </a:rPr>
              <a:t>Business Objectives</a:t>
            </a:r>
          </a:p>
        </p:txBody>
      </p:sp>
      <p:pic>
        <p:nvPicPr>
          <p:cNvPr id="7" name="Graphic 6">
            <a:extLst>
              <a:ext uri="{FF2B5EF4-FFF2-40B4-BE49-F238E27FC236}">
                <a16:creationId xmlns:a16="http://schemas.microsoft.com/office/drawing/2014/main" id="{112931FA-ED54-728C-DF09-A7BD7D98CD8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3982" y="1874797"/>
            <a:ext cx="3200035" cy="4397070"/>
          </a:xfrm>
          <a:prstGeom prst="rect">
            <a:avLst/>
          </a:prstGeom>
        </p:spPr>
      </p:pic>
      <p:sp>
        <p:nvSpPr>
          <p:cNvPr id="9" name="Rectangle 1">
            <a:extLst>
              <a:ext uri="{FF2B5EF4-FFF2-40B4-BE49-F238E27FC236}">
                <a16:creationId xmlns:a16="http://schemas.microsoft.com/office/drawing/2014/main" id="{051ED2E8-CB44-D2EA-E331-4F044270C585}"/>
              </a:ext>
            </a:extLst>
          </p:cNvPr>
          <p:cNvSpPr>
            <a:spLocks noChangeArrowheads="1"/>
          </p:cNvSpPr>
          <p:nvPr/>
        </p:nvSpPr>
        <p:spPr bwMode="auto">
          <a:xfrm>
            <a:off x="3287944" y="1767318"/>
            <a:ext cx="7897508"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800100" lvl="1" indent="-34290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rPr>
              <a:t>Analyze how customer service interactions, including call frequency, influence customer churn and satisfaction.</a:t>
            </a:r>
          </a:p>
          <a:p>
            <a:pPr lvl="1" eaLnBrk="0" fontAlgn="base" hangingPunct="0">
              <a:spcBef>
                <a:spcPct val="0"/>
              </a:spcBef>
              <a:spcAft>
                <a:spcPct val="0"/>
              </a:spcAft>
            </a:pPr>
            <a:endParaRPr kumimoji="0" lang="en-US" altLang="en-US" b="0" i="0" u="none" strike="noStrike" cap="none" normalizeH="0" baseline="0" dirty="0">
              <a:ln>
                <a:noFill/>
              </a:ln>
              <a:solidFill>
                <a:schemeClr val="tx1"/>
              </a:solidFill>
              <a:effectLst/>
            </a:endParaRPr>
          </a:p>
          <a:p>
            <a:pPr marL="800100" lvl="1" indent="-34290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rPr>
              <a:t>Identify the key drivers of churn by examining customer behavior, service usage, and tenure.</a:t>
            </a:r>
          </a:p>
          <a:p>
            <a:pPr lvl="1" eaLnBrk="0" fontAlgn="base" hangingPunct="0">
              <a:spcBef>
                <a:spcPct val="0"/>
              </a:spcBef>
              <a:spcAft>
                <a:spcPct val="0"/>
              </a:spcAft>
            </a:pPr>
            <a:endParaRPr kumimoji="0" lang="en-US" altLang="en-US" b="0" i="0" u="none" strike="noStrike" cap="none" normalizeH="0" baseline="0" dirty="0">
              <a:ln>
                <a:noFill/>
              </a:ln>
              <a:solidFill>
                <a:schemeClr val="tx1"/>
              </a:solidFill>
              <a:effectLst/>
            </a:endParaRPr>
          </a:p>
          <a:p>
            <a:pPr marL="800100" lvl="1" indent="-34290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rPr>
              <a:t>Evaluate the impact of service plans, such as International and Voice Mail, on customer retention.</a:t>
            </a:r>
          </a:p>
          <a:p>
            <a:pPr lvl="1" eaLnBrk="0" fontAlgn="base" hangingPunct="0">
              <a:spcBef>
                <a:spcPct val="0"/>
              </a:spcBef>
              <a:spcAft>
                <a:spcPct val="0"/>
              </a:spcAft>
            </a:pPr>
            <a:endParaRPr kumimoji="0" lang="en-US" altLang="en-US" b="0" i="0" u="none" strike="noStrike" cap="none" normalizeH="0" baseline="0" dirty="0">
              <a:ln>
                <a:noFill/>
              </a:ln>
              <a:solidFill>
                <a:schemeClr val="tx1"/>
              </a:solidFill>
              <a:effectLst/>
            </a:endParaRPr>
          </a:p>
          <a:p>
            <a:pPr marL="800100" lvl="1" indent="-34290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rPr>
              <a:t>Assess how usage patterns and charges relate to churn and potential price sensitivity.</a:t>
            </a:r>
          </a:p>
          <a:p>
            <a:pPr lvl="1" eaLnBrk="0" fontAlgn="base" hangingPunct="0">
              <a:spcBef>
                <a:spcPct val="0"/>
              </a:spcBef>
              <a:spcAft>
                <a:spcPct val="0"/>
              </a:spcAft>
            </a:pPr>
            <a:endParaRPr kumimoji="0" lang="en-US" altLang="en-US" b="0" i="0" u="none" strike="noStrike" cap="none" normalizeH="0" baseline="0" dirty="0">
              <a:ln>
                <a:noFill/>
              </a:ln>
              <a:solidFill>
                <a:schemeClr val="tx1"/>
              </a:solidFill>
              <a:effectLst/>
            </a:endParaRPr>
          </a:p>
          <a:p>
            <a:pPr marL="800100" lvl="1" indent="-34290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rPr>
              <a:t>Identify high-risk customer segments and explore regional variations in churn patterns</a:t>
            </a:r>
          </a:p>
        </p:txBody>
      </p:sp>
    </p:spTree>
    <p:extLst>
      <p:ext uri="{BB962C8B-B14F-4D97-AF65-F5344CB8AC3E}">
        <p14:creationId xmlns:p14="http://schemas.microsoft.com/office/powerpoint/2010/main" val="3475407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Document 1">
            <a:extLst>
              <a:ext uri="{FF2B5EF4-FFF2-40B4-BE49-F238E27FC236}">
                <a16:creationId xmlns:a16="http://schemas.microsoft.com/office/drawing/2014/main" id="{59B45303-2C66-3D09-65A7-54CDA1EDFD08}"/>
              </a:ext>
            </a:extLst>
          </p:cNvPr>
          <p:cNvSpPr/>
          <p:nvPr/>
        </p:nvSpPr>
        <p:spPr>
          <a:xfrm rot="16200000">
            <a:off x="-4476751" y="1263650"/>
            <a:ext cx="6858001" cy="4330701"/>
          </a:xfrm>
          <a:prstGeom prst="flowChartDocument">
            <a:avLst/>
          </a:prstGeom>
          <a:solidFill>
            <a:srgbClr val="FF68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EF45CBA-5FE2-CDB4-B575-7CA678037241}"/>
              </a:ext>
            </a:extLst>
          </p:cNvPr>
          <p:cNvPicPr>
            <a:picLocks noChangeAspect="1"/>
          </p:cNvPicPr>
          <p:nvPr/>
        </p:nvPicPr>
        <p:blipFill>
          <a:blip r:embed="rId2">
            <a:extLst>
              <a:ext uri="{28A0092B-C50C-407E-A947-70E740481C1C}">
                <a14:useLocalDpi xmlns:a14="http://schemas.microsoft.com/office/drawing/2010/main" val="0"/>
              </a:ext>
            </a:extLst>
          </a:blip>
          <a:srcRect l="-383" t="-751" r="78" b="-1132"/>
          <a:stretch>
            <a:fillRect/>
          </a:stretch>
        </p:blipFill>
        <p:spPr>
          <a:xfrm>
            <a:off x="6080125" y="2867153"/>
            <a:ext cx="5422900" cy="3504322"/>
          </a:xfrm>
          <a:prstGeom prst="rect">
            <a:avLst/>
          </a:prstGeom>
        </p:spPr>
      </p:pic>
      <p:sp>
        <p:nvSpPr>
          <p:cNvPr id="3" name="TextBox 2">
            <a:extLst>
              <a:ext uri="{FF2B5EF4-FFF2-40B4-BE49-F238E27FC236}">
                <a16:creationId xmlns:a16="http://schemas.microsoft.com/office/drawing/2014/main" id="{7BCEFF6D-02A3-6701-7111-0C9C9E1C1EC8}"/>
              </a:ext>
            </a:extLst>
          </p:cNvPr>
          <p:cNvSpPr txBox="1"/>
          <p:nvPr/>
        </p:nvSpPr>
        <p:spPr>
          <a:xfrm>
            <a:off x="1117601" y="363942"/>
            <a:ext cx="4000500" cy="707886"/>
          </a:xfrm>
          <a:prstGeom prst="rect">
            <a:avLst/>
          </a:prstGeom>
          <a:noFill/>
        </p:spPr>
        <p:txBody>
          <a:bodyPr wrap="square" rtlCol="0">
            <a:spAutoFit/>
          </a:bodyPr>
          <a:lstStyle/>
          <a:p>
            <a:r>
              <a:rPr lang="en-US" sz="4000" dirty="0">
                <a:latin typeface="Arial Black" panose="020B0A04020102020204" pitchFamily="34" charset="0"/>
              </a:rPr>
              <a:t>Key Insights</a:t>
            </a:r>
          </a:p>
        </p:txBody>
      </p:sp>
      <p:sp>
        <p:nvSpPr>
          <p:cNvPr id="4" name="TextBox 3">
            <a:extLst>
              <a:ext uri="{FF2B5EF4-FFF2-40B4-BE49-F238E27FC236}">
                <a16:creationId xmlns:a16="http://schemas.microsoft.com/office/drawing/2014/main" id="{693D4F96-192B-B910-CA04-9C66234B7045}"/>
              </a:ext>
            </a:extLst>
          </p:cNvPr>
          <p:cNvSpPr txBox="1"/>
          <p:nvPr/>
        </p:nvSpPr>
        <p:spPr>
          <a:xfrm>
            <a:off x="1085850" y="1976102"/>
            <a:ext cx="9988550" cy="646331"/>
          </a:xfrm>
          <a:prstGeom prst="rect">
            <a:avLst/>
          </a:prstGeom>
          <a:noFill/>
        </p:spPr>
        <p:txBody>
          <a:bodyPr wrap="square" rtlCol="0">
            <a:spAutoFit/>
          </a:bodyPr>
          <a:lstStyle/>
          <a:p>
            <a:pPr marL="285750" indent="-285750">
              <a:buFont typeface="Wingdings" panose="05000000000000000000" pitchFamily="2" charset="2"/>
              <a:buChar char="q"/>
            </a:pPr>
            <a:r>
              <a:rPr lang="en-US" dirty="0"/>
              <a:t>Customers with low call frequency (0–2 calls) have minimal churn (10%), while those with 6–8 calls experience extremely high churn rates (60%–100%).</a:t>
            </a:r>
          </a:p>
        </p:txBody>
      </p:sp>
      <p:sp>
        <p:nvSpPr>
          <p:cNvPr id="6" name="TextBox 5">
            <a:extLst>
              <a:ext uri="{FF2B5EF4-FFF2-40B4-BE49-F238E27FC236}">
                <a16:creationId xmlns:a16="http://schemas.microsoft.com/office/drawing/2014/main" id="{CE74942C-3E29-6C59-7542-A11D9016FA7D}"/>
              </a:ext>
            </a:extLst>
          </p:cNvPr>
          <p:cNvSpPr txBox="1"/>
          <p:nvPr/>
        </p:nvSpPr>
        <p:spPr>
          <a:xfrm>
            <a:off x="1085850" y="2420545"/>
            <a:ext cx="5010150" cy="1477328"/>
          </a:xfrm>
          <a:prstGeom prst="rect">
            <a:avLst/>
          </a:prstGeom>
          <a:noFill/>
        </p:spPr>
        <p:txBody>
          <a:bodyPr wrap="square" rtlCol="0">
            <a:spAutoFit/>
          </a:bodyPr>
          <a:lstStyle/>
          <a:p>
            <a:endParaRPr lang="en-US" dirty="0"/>
          </a:p>
          <a:p>
            <a:pPr marL="285750" indent="-285750">
              <a:buFont typeface="Wingdings" panose="05000000000000000000" pitchFamily="2" charset="2"/>
              <a:buChar char="q"/>
            </a:pPr>
            <a:r>
              <a:rPr lang="en-US" dirty="0"/>
              <a:t>A clear tipping point exists at 4+ service calls, where churn rises sharply from 10.6% to 48.1%, highlighting a critical threshold of unresolved issues.</a:t>
            </a:r>
          </a:p>
        </p:txBody>
      </p:sp>
      <p:sp>
        <p:nvSpPr>
          <p:cNvPr id="7" name="TextBox 6">
            <a:extLst>
              <a:ext uri="{FF2B5EF4-FFF2-40B4-BE49-F238E27FC236}">
                <a16:creationId xmlns:a16="http://schemas.microsoft.com/office/drawing/2014/main" id="{B2C66BDC-3A46-DDF3-69FC-BC97D7D4F03D}"/>
              </a:ext>
            </a:extLst>
          </p:cNvPr>
          <p:cNvSpPr txBox="1"/>
          <p:nvPr/>
        </p:nvSpPr>
        <p:spPr>
          <a:xfrm>
            <a:off x="1117601" y="4039108"/>
            <a:ext cx="4514850" cy="1477328"/>
          </a:xfrm>
          <a:prstGeom prst="rect">
            <a:avLst/>
          </a:prstGeom>
          <a:noFill/>
        </p:spPr>
        <p:txBody>
          <a:bodyPr wrap="square" rtlCol="0">
            <a:spAutoFit/>
          </a:bodyPr>
          <a:lstStyle/>
          <a:p>
            <a:pPr algn="just"/>
            <a:r>
              <a:rPr lang="en-US" dirty="0"/>
              <a:t>This pattern suggests that repeated customer service interactions are a strong indicator of dissatisfaction, and customers with frequent complaints represent a high-risk segment for churn.</a:t>
            </a:r>
          </a:p>
        </p:txBody>
      </p:sp>
      <p:sp>
        <p:nvSpPr>
          <p:cNvPr id="8" name="TextBox 7">
            <a:extLst>
              <a:ext uri="{FF2B5EF4-FFF2-40B4-BE49-F238E27FC236}">
                <a16:creationId xmlns:a16="http://schemas.microsoft.com/office/drawing/2014/main" id="{49021277-846E-543D-AA4C-0DEB897B1A16}"/>
              </a:ext>
            </a:extLst>
          </p:cNvPr>
          <p:cNvSpPr txBox="1"/>
          <p:nvPr/>
        </p:nvSpPr>
        <p:spPr>
          <a:xfrm>
            <a:off x="1085850" y="1267340"/>
            <a:ext cx="10166350" cy="646331"/>
          </a:xfrm>
          <a:prstGeom prst="rect">
            <a:avLst/>
          </a:prstGeom>
          <a:noFill/>
        </p:spPr>
        <p:txBody>
          <a:bodyPr wrap="square" rtlCol="0">
            <a:spAutoFit/>
          </a:bodyPr>
          <a:lstStyle/>
          <a:p>
            <a:pPr marL="285750" indent="-285750">
              <a:buFont typeface="Wingdings" panose="05000000000000000000" pitchFamily="2" charset="2"/>
              <a:buChar char="q"/>
            </a:pPr>
            <a:r>
              <a:rPr lang="en-US" dirty="0"/>
              <a:t>Churn increases significantly with the number of customer service calls, indicating a strong relationship between customer dissatisfaction and churn.</a:t>
            </a:r>
          </a:p>
        </p:txBody>
      </p:sp>
    </p:spTree>
    <p:extLst>
      <p:ext uri="{BB962C8B-B14F-4D97-AF65-F5344CB8AC3E}">
        <p14:creationId xmlns:p14="http://schemas.microsoft.com/office/powerpoint/2010/main" val="8196895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25C3355-7245-08F3-6AE9-E4968FC22797}"/>
              </a:ext>
            </a:extLst>
          </p:cNvPr>
          <p:cNvSpPr/>
          <p:nvPr/>
        </p:nvSpPr>
        <p:spPr>
          <a:xfrm>
            <a:off x="0" y="331431"/>
            <a:ext cx="12192000" cy="6858000"/>
          </a:xfrm>
          <a:prstGeom prst="rect">
            <a:avLst/>
          </a:prstGeom>
          <a:solidFill>
            <a:srgbClr val="FF68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lowchart: Document 2">
            <a:extLst>
              <a:ext uri="{FF2B5EF4-FFF2-40B4-BE49-F238E27FC236}">
                <a16:creationId xmlns:a16="http://schemas.microsoft.com/office/drawing/2014/main" id="{758A70AB-9820-7480-260E-A8E96290099F}"/>
              </a:ext>
            </a:extLst>
          </p:cNvPr>
          <p:cNvSpPr/>
          <p:nvPr/>
        </p:nvSpPr>
        <p:spPr>
          <a:xfrm rot="263674">
            <a:off x="-751368" y="-462607"/>
            <a:ext cx="13220030" cy="7661542"/>
          </a:xfrm>
          <a:prstGeom prst="flowChartDocument">
            <a:avLst/>
          </a:prstGeom>
          <a:solidFill>
            <a:srgbClr val="534D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lowchart: Document 3">
            <a:extLst>
              <a:ext uri="{FF2B5EF4-FFF2-40B4-BE49-F238E27FC236}">
                <a16:creationId xmlns:a16="http://schemas.microsoft.com/office/drawing/2014/main" id="{3D35C4F3-D246-C819-2BCA-5FC3F39B906B}"/>
              </a:ext>
            </a:extLst>
          </p:cNvPr>
          <p:cNvSpPr/>
          <p:nvPr/>
        </p:nvSpPr>
        <p:spPr>
          <a:xfrm rot="265888">
            <a:off x="-366404" y="-435941"/>
            <a:ext cx="12841154" cy="7434112"/>
          </a:xfrm>
          <a:prstGeom prst="flowChartDocumen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CE15720F-2225-7E2A-28A7-9CAC6DB239D3}"/>
              </a:ext>
            </a:extLst>
          </p:cNvPr>
          <p:cNvPicPr>
            <a:picLocks noChangeAspect="1"/>
          </p:cNvPicPr>
          <p:nvPr/>
        </p:nvPicPr>
        <p:blipFill>
          <a:blip r:embed="rId2">
            <a:extLst>
              <a:ext uri="{28A0092B-C50C-407E-A947-70E740481C1C}">
                <a14:useLocalDpi xmlns:a14="http://schemas.microsoft.com/office/drawing/2010/main" val="0"/>
              </a:ext>
            </a:extLst>
          </a:blip>
          <a:srcRect l="-2116" t="-6140" r="-3660" b="-5207"/>
          <a:stretch>
            <a:fillRect/>
          </a:stretch>
        </p:blipFill>
        <p:spPr>
          <a:xfrm>
            <a:off x="812800" y="953115"/>
            <a:ext cx="5283199" cy="2499452"/>
          </a:xfrm>
          <a:prstGeom prst="rect">
            <a:avLst/>
          </a:prstGeom>
        </p:spPr>
      </p:pic>
      <p:pic>
        <p:nvPicPr>
          <p:cNvPr id="7" name="Picture 6">
            <a:extLst>
              <a:ext uri="{FF2B5EF4-FFF2-40B4-BE49-F238E27FC236}">
                <a16:creationId xmlns:a16="http://schemas.microsoft.com/office/drawing/2014/main" id="{260936ED-128D-628F-4146-75F031372AF4}"/>
              </a:ext>
            </a:extLst>
          </p:cNvPr>
          <p:cNvPicPr>
            <a:picLocks noChangeAspect="1"/>
          </p:cNvPicPr>
          <p:nvPr/>
        </p:nvPicPr>
        <p:blipFill>
          <a:blip r:embed="rId3">
            <a:extLst>
              <a:ext uri="{28A0092B-C50C-407E-A947-70E740481C1C}">
                <a14:useLocalDpi xmlns:a14="http://schemas.microsoft.com/office/drawing/2010/main" val="0"/>
              </a:ext>
            </a:extLst>
          </a:blip>
          <a:srcRect l="-817" t="-1986" r="-153" b="-1122"/>
          <a:stretch>
            <a:fillRect/>
          </a:stretch>
        </p:blipFill>
        <p:spPr>
          <a:xfrm>
            <a:off x="6243212" y="953115"/>
            <a:ext cx="4399388" cy="2499452"/>
          </a:xfrm>
          <a:prstGeom prst="rect">
            <a:avLst/>
          </a:prstGeom>
        </p:spPr>
      </p:pic>
      <p:sp>
        <p:nvSpPr>
          <p:cNvPr id="6" name="TextBox 5">
            <a:extLst>
              <a:ext uri="{FF2B5EF4-FFF2-40B4-BE49-F238E27FC236}">
                <a16:creationId xmlns:a16="http://schemas.microsoft.com/office/drawing/2014/main" id="{ACF0FC78-655D-6C77-DD9F-B61584C924CA}"/>
              </a:ext>
            </a:extLst>
          </p:cNvPr>
          <p:cNvSpPr txBox="1"/>
          <p:nvPr/>
        </p:nvSpPr>
        <p:spPr>
          <a:xfrm>
            <a:off x="621503" y="3452567"/>
            <a:ext cx="11511061" cy="2031325"/>
          </a:xfrm>
          <a:prstGeom prst="rect">
            <a:avLst/>
          </a:prstGeom>
          <a:noFill/>
        </p:spPr>
        <p:txBody>
          <a:bodyPr wrap="square" rtlCol="0">
            <a:spAutoFit/>
          </a:bodyPr>
          <a:lstStyle/>
          <a:p>
            <a:pPr marL="285750" indent="-285750">
              <a:buFont typeface="Wingdings" panose="05000000000000000000" pitchFamily="2" charset="2"/>
              <a:buChar char="q"/>
            </a:pPr>
            <a:r>
              <a:rPr lang="en-US" dirty="0"/>
              <a:t>Customers in the high call frequency segment show significantly higher churn rates:</a:t>
            </a:r>
          </a:p>
          <a:p>
            <a:pPr marL="742950" lvl="1" indent="-285750">
              <a:buFont typeface="Wingdings" panose="05000000000000000000" pitchFamily="2" charset="2"/>
              <a:buChar char="Ø"/>
            </a:pPr>
            <a:r>
              <a:rPr lang="en-US" dirty="0"/>
              <a:t>High frequency: 64% churn</a:t>
            </a:r>
          </a:p>
          <a:p>
            <a:pPr marL="742950" lvl="1" indent="-285750">
              <a:buFont typeface="Wingdings" panose="05000000000000000000" pitchFamily="2" charset="2"/>
              <a:buChar char="Ø"/>
            </a:pPr>
            <a:r>
              <a:rPr lang="en-US" dirty="0"/>
              <a:t>Medium frequency: 24% churn</a:t>
            </a:r>
          </a:p>
          <a:p>
            <a:pPr marL="742950" lvl="1" indent="-285750">
              <a:buFont typeface="Wingdings" panose="05000000000000000000" pitchFamily="2" charset="2"/>
              <a:buChar char="Ø"/>
            </a:pPr>
            <a:r>
              <a:rPr lang="en-US" dirty="0"/>
              <a:t>Low frequency: 11% churn</a:t>
            </a:r>
          </a:p>
          <a:p>
            <a:pPr marL="285750" indent="-285750">
              <a:buFont typeface="Wingdings" panose="05000000000000000000" pitchFamily="2" charset="2"/>
              <a:buChar char="q"/>
            </a:pPr>
            <a:r>
              <a:rPr lang="en-US" dirty="0"/>
              <a:t>Churned customers make more customer service calls on average compared to retained customers</a:t>
            </a:r>
          </a:p>
          <a:p>
            <a:pPr marL="742950" lvl="1" indent="-285750">
              <a:buFont typeface="Wingdings" panose="05000000000000000000" pitchFamily="2" charset="2"/>
              <a:buChar char="Ø"/>
            </a:pPr>
            <a:r>
              <a:rPr lang="en-US" dirty="0"/>
              <a:t>Churned customers: 2.21 calls</a:t>
            </a:r>
          </a:p>
          <a:p>
            <a:pPr marL="742950" lvl="1" indent="-285750">
              <a:buFont typeface="Wingdings" panose="05000000000000000000" pitchFamily="2" charset="2"/>
              <a:buChar char="Ø"/>
            </a:pPr>
            <a:r>
              <a:rPr lang="en-US" dirty="0"/>
              <a:t>Retained customers: 1.45 calls</a:t>
            </a:r>
          </a:p>
        </p:txBody>
      </p:sp>
      <p:sp>
        <p:nvSpPr>
          <p:cNvPr id="8" name="TextBox 7">
            <a:extLst>
              <a:ext uri="{FF2B5EF4-FFF2-40B4-BE49-F238E27FC236}">
                <a16:creationId xmlns:a16="http://schemas.microsoft.com/office/drawing/2014/main" id="{DC8A18BA-A0A3-96E3-7AB9-4C040E6DAC74}"/>
              </a:ext>
            </a:extLst>
          </p:cNvPr>
          <p:cNvSpPr txBox="1"/>
          <p:nvPr/>
        </p:nvSpPr>
        <p:spPr>
          <a:xfrm>
            <a:off x="615312" y="5468684"/>
            <a:ext cx="11291097" cy="923330"/>
          </a:xfrm>
          <a:prstGeom prst="rect">
            <a:avLst/>
          </a:prstGeom>
          <a:noFill/>
        </p:spPr>
        <p:txBody>
          <a:bodyPr wrap="square" rtlCol="0">
            <a:spAutoFit/>
          </a:bodyPr>
          <a:lstStyle/>
          <a:p>
            <a:r>
              <a:rPr lang="en-US" dirty="0"/>
              <a:t>Increased customer service interaction is a strong indicator of dissatisfaction, and customers with frequent complaints represent a high-risk segment for churn.</a:t>
            </a:r>
          </a:p>
          <a:p>
            <a:endParaRPr lang="en-US" dirty="0"/>
          </a:p>
        </p:txBody>
      </p:sp>
      <p:sp>
        <p:nvSpPr>
          <p:cNvPr id="10" name="TextBox 9">
            <a:extLst>
              <a:ext uri="{FF2B5EF4-FFF2-40B4-BE49-F238E27FC236}">
                <a16:creationId xmlns:a16="http://schemas.microsoft.com/office/drawing/2014/main" id="{8F142252-415F-AF4F-8C9A-13525ACFE205}"/>
              </a:ext>
            </a:extLst>
          </p:cNvPr>
          <p:cNvSpPr txBox="1"/>
          <p:nvPr/>
        </p:nvSpPr>
        <p:spPr>
          <a:xfrm>
            <a:off x="680939" y="331431"/>
            <a:ext cx="6392961" cy="584775"/>
          </a:xfrm>
          <a:prstGeom prst="rect">
            <a:avLst/>
          </a:prstGeom>
          <a:noFill/>
        </p:spPr>
        <p:txBody>
          <a:bodyPr wrap="square" rtlCol="0">
            <a:spAutoFit/>
          </a:bodyPr>
          <a:lstStyle/>
          <a:p>
            <a:r>
              <a:rPr lang="en-US" sz="3200" b="1" dirty="0"/>
              <a:t>Customer Service and Churn Risk</a:t>
            </a:r>
          </a:p>
        </p:txBody>
      </p:sp>
      <p:sp>
        <p:nvSpPr>
          <p:cNvPr id="11" name="Rectangle 10">
            <a:extLst>
              <a:ext uri="{FF2B5EF4-FFF2-40B4-BE49-F238E27FC236}">
                <a16:creationId xmlns:a16="http://schemas.microsoft.com/office/drawing/2014/main" id="{A188A842-0885-2E40-1436-15113E7CD793}"/>
              </a:ext>
            </a:extLst>
          </p:cNvPr>
          <p:cNvSpPr/>
          <p:nvPr/>
        </p:nvSpPr>
        <p:spPr>
          <a:xfrm>
            <a:off x="914400" y="1054100"/>
            <a:ext cx="5016500" cy="2361558"/>
          </a:xfrm>
          <a:prstGeom prst="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758328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612EDB13-D4AB-AD67-C3AC-9D5D0C5D0077}"/>
              </a:ext>
            </a:extLst>
          </p:cNvPr>
          <p:cNvGrpSpPr/>
          <p:nvPr/>
        </p:nvGrpSpPr>
        <p:grpSpPr>
          <a:xfrm>
            <a:off x="3" y="-6"/>
            <a:ext cx="12191995" cy="6858008"/>
            <a:chOff x="3" y="-6"/>
            <a:chExt cx="12191995" cy="6858008"/>
          </a:xfrm>
        </p:grpSpPr>
        <p:sp>
          <p:nvSpPr>
            <p:cNvPr id="10" name="Flowchart: Document 9">
              <a:extLst>
                <a:ext uri="{FF2B5EF4-FFF2-40B4-BE49-F238E27FC236}">
                  <a16:creationId xmlns:a16="http://schemas.microsoft.com/office/drawing/2014/main" id="{F9D7BAF1-23F8-E560-00B7-6CCD481CCCC2}"/>
                </a:ext>
              </a:extLst>
            </p:cNvPr>
            <p:cNvSpPr/>
            <p:nvPr/>
          </p:nvSpPr>
          <p:spPr>
            <a:xfrm rot="16200000">
              <a:off x="-1642728" y="1642729"/>
              <a:ext cx="6858002" cy="3572540"/>
            </a:xfrm>
            <a:prstGeom prst="flowChartDocument">
              <a:avLst/>
            </a:prstGeom>
            <a:solidFill>
              <a:srgbClr val="534D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Document 10">
              <a:extLst>
                <a:ext uri="{FF2B5EF4-FFF2-40B4-BE49-F238E27FC236}">
                  <a16:creationId xmlns:a16="http://schemas.microsoft.com/office/drawing/2014/main" id="{064BE097-EAE0-AB7A-30DB-5FCC36829517}"/>
                </a:ext>
              </a:extLst>
            </p:cNvPr>
            <p:cNvSpPr/>
            <p:nvPr/>
          </p:nvSpPr>
          <p:spPr>
            <a:xfrm rot="16200000" flipV="1">
              <a:off x="6563830" y="1229834"/>
              <a:ext cx="6858002" cy="4398334"/>
            </a:xfrm>
            <a:prstGeom prst="flowChartDocument">
              <a:avLst/>
            </a:prstGeom>
            <a:solidFill>
              <a:srgbClr val="534D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lowchart: Document 11">
              <a:extLst>
                <a:ext uri="{FF2B5EF4-FFF2-40B4-BE49-F238E27FC236}">
                  <a16:creationId xmlns:a16="http://schemas.microsoft.com/office/drawing/2014/main" id="{D7701C20-A080-E145-AC56-60C0BA525728}"/>
                </a:ext>
              </a:extLst>
            </p:cNvPr>
            <p:cNvSpPr/>
            <p:nvPr/>
          </p:nvSpPr>
          <p:spPr>
            <a:xfrm rot="5400000">
              <a:off x="-1020725" y="1132366"/>
              <a:ext cx="6858002" cy="4593265"/>
            </a:xfrm>
            <a:prstGeom prst="flowChartDocument">
              <a:avLst/>
            </a:prstGeom>
            <a:solidFill>
              <a:srgbClr val="FF68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lowchart: Document 12">
              <a:extLst>
                <a:ext uri="{FF2B5EF4-FFF2-40B4-BE49-F238E27FC236}">
                  <a16:creationId xmlns:a16="http://schemas.microsoft.com/office/drawing/2014/main" id="{0C01B58B-0DCD-E4CC-278B-74E2B6CDBE27}"/>
                </a:ext>
              </a:extLst>
            </p:cNvPr>
            <p:cNvSpPr/>
            <p:nvPr/>
          </p:nvSpPr>
          <p:spPr>
            <a:xfrm rot="5400000" flipV="1">
              <a:off x="6260803" y="1038442"/>
              <a:ext cx="6858002" cy="4781107"/>
            </a:xfrm>
            <a:prstGeom prst="flowChartDocument">
              <a:avLst/>
            </a:prstGeom>
            <a:solidFill>
              <a:srgbClr val="FF68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lowchart: Document 13">
              <a:extLst>
                <a:ext uri="{FF2B5EF4-FFF2-40B4-BE49-F238E27FC236}">
                  <a16:creationId xmlns:a16="http://schemas.microsoft.com/office/drawing/2014/main" id="{FFB8E595-3703-19CD-5090-56380F498E35}"/>
                </a:ext>
              </a:extLst>
            </p:cNvPr>
            <p:cNvSpPr/>
            <p:nvPr/>
          </p:nvSpPr>
          <p:spPr>
            <a:xfrm rot="5400000">
              <a:off x="-526314" y="802755"/>
              <a:ext cx="6858007" cy="5252485"/>
            </a:xfrm>
            <a:prstGeom prst="flowChartDocumen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lowchart: Document 14">
              <a:extLst>
                <a:ext uri="{FF2B5EF4-FFF2-40B4-BE49-F238E27FC236}">
                  <a16:creationId xmlns:a16="http://schemas.microsoft.com/office/drawing/2014/main" id="{CEE7E6E9-5F4D-4DEF-BE2A-DEB3FA10A893}"/>
                </a:ext>
              </a:extLst>
            </p:cNvPr>
            <p:cNvSpPr/>
            <p:nvPr/>
          </p:nvSpPr>
          <p:spPr>
            <a:xfrm rot="5400000" flipV="1">
              <a:off x="5761075" y="703524"/>
              <a:ext cx="6858002" cy="5450953"/>
            </a:xfrm>
            <a:prstGeom prst="flowChartDocumen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7" name="Picture 16">
            <a:extLst>
              <a:ext uri="{FF2B5EF4-FFF2-40B4-BE49-F238E27FC236}">
                <a16:creationId xmlns:a16="http://schemas.microsoft.com/office/drawing/2014/main" id="{2EB83520-B95D-0371-C2A1-14D49C9512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08818" y="1256723"/>
            <a:ext cx="5450954" cy="3111363"/>
          </a:xfrm>
          <a:prstGeom prst="rect">
            <a:avLst/>
          </a:prstGeom>
        </p:spPr>
      </p:pic>
      <p:pic>
        <p:nvPicPr>
          <p:cNvPr id="18" name="Picture 17">
            <a:extLst>
              <a:ext uri="{FF2B5EF4-FFF2-40B4-BE49-F238E27FC236}">
                <a16:creationId xmlns:a16="http://schemas.microsoft.com/office/drawing/2014/main" id="{B16F14A4-81BD-A62E-0A15-FED30D9543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0356" y="1256728"/>
            <a:ext cx="4449141" cy="3111363"/>
          </a:xfrm>
          <a:prstGeom prst="rect">
            <a:avLst/>
          </a:prstGeom>
        </p:spPr>
      </p:pic>
      <p:sp>
        <p:nvSpPr>
          <p:cNvPr id="19" name="TextBox 18">
            <a:extLst>
              <a:ext uri="{FF2B5EF4-FFF2-40B4-BE49-F238E27FC236}">
                <a16:creationId xmlns:a16="http://schemas.microsoft.com/office/drawing/2014/main" id="{28EB912A-74D6-DCF5-00F2-854E205FA580}"/>
              </a:ext>
            </a:extLst>
          </p:cNvPr>
          <p:cNvSpPr txBox="1"/>
          <p:nvPr/>
        </p:nvSpPr>
        <p:spPr>
          <a:xfrm>
            <a:off x="2864113" y="493585"/>
            <a:ext cx="6465871" cy="584775"/>
          </a:xfrm>
          <a:prstGeom prst="rect">
            <a:avLst/>
          </a:prstGeom>
          <a:noFill/>
        </p:spPr>
        <p:txBody>
          <a:bodyPr wrap="square" rtlCol="0">
            <a:spAutoFit/>
          </a:bodyPr>
          <a:lstStyle/>
          <a:p>
            <a:r>
              <a:rPr lang="en-US" sz="3200" b="1" dirty="0"/>
              <a:t>Product, Pricing and Usage Influence</a:t>
            </a:r>
          </a:p>
        </p:txBody>
      </p:sp>
      <p:sp>
        <p:nvSpPr>
          <p:cNvPr id="21" name="TextBox 20">
            <a:extLst>
              <a:ext uri="{FF2B5EF4-FFF2-40B4-BE49-F238E27FC236}">
                <a16:creationId xmlns:a16="http://schemas.microsoft.com/office/drawing/2014/main" id="{D8C2D8B8-78BA-354B-6207-3B520E6BD34F}"/>
              </a:ext>
            </a:extLst>
          </p:cNvPr>
          <p:cNvSpPr txBox="1"/>
          <p:nvPr/>
        </p:nvSpPr>
        <p:spPr>
          <a:xfrm>
            <a:off x="1471652" y="4724826"/>
            <a:ext cx="9043947" cy="1631216"/>
          </a:xfrm>
          <a:prstGeom prst="rect">
            <a:avLst/>
          </a:prstGeom>
          <a:noFill/>
        </p:spPr>
        <p:txBody>
          <a:bodyPr wrap="square" rtlCol="0">
            <a:spAutoFit/>
          </a:bodyPr>
          <a:lstStyle/>
          <a:p>
            <a:pPr marL="285750" indent="-285750">
              <a:buFont typeface="Wingdings" panose="05000000000000000000" pitchFamily="2" charset="2"/>
              <a:buChar char="q"/>
            </a:pPr>
            <a:r>
              <a:rPr lang="en-US" sz="2000" dirty="0"/>
              <a:t>The majority of customers do not subscribe to the international plan, and churn is observed across both users and non-users.</a:t>
            </a:r>
          </a:p>
          <a:p>
            <a:endParaRPr lang="en-US" sz="2000" dirty="0"/>
          </a:p>
          <a:p>
            <a:pPr marL="285750" indent="-285750">
              <a:buFont typeface="Wingdings" panose="05000000000000000000" pitchFamily="2" charset="2"/>
              <a:buChar char="q"/>
            </a:pPr>
            <a:r>
              <a:rPr lang="en-US" sz="2000" dirty="0"/>
              <a:t>Customers with voice mail plans are more commonly retained, suggesting a positive relationship with customer loyalty.</a:t>
            </a:r>
          </a:p>
        </p:txBody>
      </p:sp>
    </p:spTree>
    <p:extLst>
      <p:ext uri="{BB962C8B-B14F-4D97-AF65-F5344CB8AC3E}">
        <p14:creationId xmlns:p14="http://schemas.microsoft.com/office/powerpoint/2010/main" val="895899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15483B38-18E0-5453-2720-644E2214B42B}"/>
              </a:ext>
            </a:extLst>
          </p:cNvPr>
          <p:cNvGrpSpPr/>
          <p:nvPr/>
        </p:nvGrpSpPr>
        <p:grpSpPr>
          <a:xfrm>
            <a:off x="-1" y="-2"/>
            <a:ext cx="12192000" cy="6858002"/>
            <a:chOff x="-1" y="-2"/>
            <a:chExt cx="12192000" cy="6858002"/>
          </a:xfrm>
        </p:grpSpPr>
        <p:sp>
          <p:nvSpPr>
            <p:cNvPr id="2" name="Flowchart: Document 1">
              <a:extLst>
                <a:ext uri="{FF2B5EF4-FFF2-40B4-BE49-F238E27FC236}">
                  <a16:creationId xmlns:a16="http://schemas.microsoft.com/office/drawing/2014/main" id="{E5137720-3ED0-D5DF-632E-222A2F51303F}"/>
                </a:ext>
              </a:extLst>
            </p:cNvPr>
            <p:cNvSpPr/>
            <p:nvPr/>
          </p:nvSpPr>
          <p:spPr>
            <a:xfrm rot="16200000">
              <a:off x="-1004775" y="1004775"/>
              <a:ext cx="6858000" cy="4848450"/>
            </a:xfrm>
            <a:prstGeom prst="flowChartDocument">
              <a:avLst/>
            </a:prstGeom>
            <a:solidFill>
              <a:srgbClr val="FF68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lowchart: Document 2">
              <a:extLst>
                <a:ext uri="{FF2B5EF4-FFF2-40B4-BE49-F238E27FC236}">
                  <a16:creationId xmlns:a16="http://schemas.microsoft.com/office/drawing/2014/main" id="{176B16DE-6D51-230E-C588-9F30237824D9}"/>
                </a:ext>
              </a:extLst>
            </p:cNvPr>
            <p:cNvSpPr/>
            <p:nvPr/>
          </p:nvSpPr>
          <p:spPr>
            <a:xfrm rot="5400000">
              <a:off x="-513394" y="1215651"/>
              <a:ext cx="6858000" cy="4426694"/>
            </a:xfrm>
            <a:prstGeom prst="flowChartDocument">
              <a:avLst/>
            </a:prstGeom>
            <a:solidFill>
              <a:srgbClr val="534D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lowchart: Document 3">
              <a:extLst>
                <a:ext uri="{FF2B5EF4-FFF2-40B4-BE49-F238E27FC236}">
                  <a16:creationId xmlns:a16="http://schemas.microsoft.com/office/drawing/2014/main" id="{3EE424C9-720A-5673-EB2B-3B7FC1B5875E}"/>
                </a:ext>
              </a:extLst>
            </p:cNvPr>
            <p:cNvSpPr/>
            <p:nvPr/>
          </p:nvSpPr>
          <p:spPr>
            <a:xfrm rot="5400000" flipH="1">
              <a:off x="2666999" y="-2667000"/>
              <a:ext cx="6858000" cy="12192000"/>
            </a:xfrm>
            <a:prstGeom prst="flowChartDocumen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9" name="Picture 8">
            <a:extLst>
              <a:ext uri="{FF2B5EF4-FFF2-40B4-BE49-F238E27FC236}">
                <a16:creationId xmlns:a16="http://schemas.microsoft.com/office/drawing/2014/main" id="{9525ABB3-BCF7-1C82-3A0C-296AF58E9E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0693" y="1825651"/>
            <a:ext cx="4259520" cy="2988540"/>
          </a:xfrm>
          <a:prstGeom prst="rect">
            <a:avLst/>
          </a:prstGeom>
        </p:spPr>
      </p:pic>
      <p:sp>
        <p:nvSpPr>
          <p:cNvPr id="6" name="TextBox 5">
            <a:extLst>
              <a:ext uri="{FF2B5EF4-FFF2-40B4-BE49-F238E27FC236}">
                <a16:creationId xmlns:a16="http://schemas.microsoft.com/office/drawing/2014/main" id="{36779DDF-A83D-7588-70FE-A075BFD0ECAB}"/>
              </a:ext>
            </a:extLst>
          </p:cNvPr>
          <p:cNvSpPr txBox="1"/>
          <p:nvPr/>
        </p:nvSpPr>
        <p:spPr>
          <a:xfrm>
            <a:off x="2863063" y="948488"/>
            <a:ext cx="6465871" cy="584775"/>
          </a:xfrm>
          <a:prstGeom prst="rect">
            <a:avLst/>
          </a:prstGeom>
          <a:noFill/>
        </p:spPr>
        <p:txBody>
          <a:bodyPr wrap="square" rtlCol="0">
            <a:spAutoFit/>
          </a:bodyPr>
          <a:lstStyle/>
          <a:p>
            <a:r>
              <a:rPr lang="en-US" sz="3200" b="1" dirty="0"/>
              <a:t>Product, Pricing and Usage Influence</a:t>
            </a:r>
          </a:p>
        </p:txBody>
      </p:sp>
      <p:sp>
        <p:nvSpPr>
          <p:cNvPr id="7" name="TextBox 6">
            <a:extLst>
              <a:ext uri="{FF2B5EF4-FFF2-40B4-BE49-F238E27FC236}">
                <a16:creationId xmlns:a16="http://schemas.microsoft.com/office/drawing/2014/main" id="{22BD49A6-682C-80D1-5272-6A6D5EEC8568}"/>
              </a:ext>
            </a:extLst>
          </p:cNvPr>
          <p:cNvSpPr txBox="1"/>
          <p:nvPr/>
        </p:nvSpPr>
        <p:spPr>
          <a:xfrm>
            <a:off x="6266119" y="2812089"/>
            <a:ext cx="5460770" cy="1015663"/>
          </a:xfrm>
          <a:prstGeom prst="rect">
            <a:avLst/>
          </a:prstGeom>
          <a:noFill/>
        </p:spPr>
        <p:txBody>
          <a:bodyPr wrap="square" rtlCol="0">
            <a:spAutoFit/>
          </a:bodyPr>
          <a:lstStyle/>
          <a:p>
            <a:pPr marL="285750" indent="-285750">
              <a:buFont typeface="Wingdings" panose="05000000000000000000" pitchFamily="2" charset="2"/>
              <a:buChar char="q"/>
            </a:pPr>
            <a:r>
              <a:rPr lang="en-US" sz="2000" dirty="0"/>
              <a:t>Churned customers exhibit slightly higher average daily charges compared to retained customers.</a:t>
            </a:r>
          </a:p>
        </p:txBody>
      </p:sp>
      <p:sp>
        <p:nvSpPr>
          <p:cNvPr id="8" name="TextBox 7">
            <a:extLst>
              <a:ext uri="{FF2B5EF4-FFF2-40B4-BE49-F238E27FC236}">
                <a16:creationId xmlns:a16="http://schemas.microsoft.com/office/drawing/2014/main" id="{59C461FF-7FF7-86F8-50EA-EA930D816629}"/>
              </a:ext>
            </a:extLst>
          </p:cNvPr>
          <p:cNvSpPr txBox="1"/>
          <p:nvPr/>
        </p:nvSpPr>
        <p:spPr>
          <a:xfrm>
            <a:off x="1990693" y="5131739"/>
            <a:ext cx="9475089" cy="1015663"/>
          </a:xfrm>
          <a:prstGeom prst="rect">
            <a:avLst/>
          </a:prstGeom>
          <a:noFill/>
        </p:spPr>
        <p:txBody>
          <a:bodyPr wrap="square" rtlCol="0">
            <a:spAutoFit/>
          </a:bodyPr>
          <a:lstStyle/>
          <a:p>
            <a:r>
              <a:rPr lang="en-US" sz="2000" dirty="0"/>
              <a:t>While service plans and pricing factors influence churn behavior, they are not the primary drivers. However, value-added services like voice mail plans may support retention, and higher charges may contribute to churn due to perceived cost or value concerns.</a:t>
            </a:r>
          </a:p>
        </p:txBody>
      </p:sp>
    </p:spTree>
    <p:extLst>
      <p:ext uri="{BB962C8B-B14F-4D97-AF65-F5344CB8AC3E}">
        <p14:creationId xmlns:p14="http://schemas.microsoft.com/office/powerpoint/2010/main" val="2065440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CE111E9-4349-9509-0703-6FFD4CCD51B1}"/>
              </a:ext>
            </a:extLst>
          </p:cNvPr>
          <p:cNvSpPr/>
          <p:nvPr/>
        </p:nvSpPr>
        <p:spPr>
          <a:xfrm>
            <a:off x="1" y="0"/>
            <a:ext cx="12192000" cy="6858000"/>
          </a:xfrm>
          <a:prstGeom prst="rect">
            <a:avLst/>
          </a:prstGeom>
          <a:solidFill>
            <a:srgbClr val="FF68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lowchart: Document 2">
            <a:extLst>
              <a:ext uri="{FF2B5EF4-FFF2-40B4-BE49-F238E27FC236}">
                <a16:creationId xmlns:a16="http://schemas.microsoft.com/office/drawing/2014/main" id="{DD7BA3B2-FC90-7471-D75C-6D7B8D87F1CA}"/>
              </a:ext>
            </a:extLst>
          </p:cNvPr>
          <p:cNvSpPr/>
          <p:nvPr/>
        </p:nvSpPr>
        <p:spPr>
          <a:xfrm rot="12742430" flipH="1">
            <a:off x="7384361" y="1111"/>
            <a:ext cx="5542698" cy="4113131"/>
          </a:xfrm>
          <a:prstGeom prst="flowChartDocument">
            <a:avLst/>
          </a:prstGeom>
          <a:solidFill>
            <a:srgbClr val="534D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lowchart: Document 3">
            <a:extLst>
              <a:ext uri="{FF2B5EF4-FFF2-40B4-BE49-F238E27FC236}">
                <a16:creationId xmlns:a16="http://schemas.microsoft.com/office/drawing/2014/main" id="{0259F5AE-9E94-9EEC-F801-1415F70F86A6}"/>
              </a:ext>
            </a:extLst>
          </p:cNvPr>
          <p:cNvSpPr/>
          <p:nvPr/>
        </p:nvSpPr>
        <p:spPr>
          <a:xfrm rot="12003457" flipH="1">
            <a:off x="7271854" y="405003"/>
            <a:ext cx="5045262" cy="4003294"/>
          </a:xfrm>
          <a:prstGeom prst="flowChartDocumen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lowchart: Document 4">
            <a:extLst>
              <a:ext uri="{FF2B5EF4-FFF2-40B4-BE49-F238E27FC236}">
                <a16:creationId xmlns:a16="http://schemas.microsoft.com/office/drawing/2014/main" id="{335E4CDD-B565-361A-3EA4-955C56FDBF9A}"/>
              </a:ext>
            </a:extLst>
          </p:cNvPr>
          <p:cNvSpPr/>
          <p:nvPr/>
        </p:nvSpPr>
        <p:spPr>
          <a:xfrm rot="12118523" flipH="1">
            <a:off x="-1041326" y="-1588726"/>
            <a:ext cx="14010347" cy="10444988"/>
          </a:xfrm>
          <a:prstGeom prst="flowChartDocumen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FFC48B0E-DAB7-412F-6D14-83CC663C02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4481" y="1280737"/>
            <a:ext cx="5104973" cy="2897563"/>
          </a:xfrm>
          <a:prstGeom prst="rect">
            <a:avLst/>
          </a:prstGeom>
        </p:spPr>
      </p:pic>
      <p:sp>
        <p:nvSpPr>
          <p:cNvPr id="7" name="Google Shape;1663;p58">
            <a:extLst>
              <a:ext uri="{FF2B5EF4-FFF2-40B4-BE49-F238E27FC236}">
                <a16:creationId xmlns:a16="http://schemas.microsoft.com/office/drawing/2014/main" id="{5167522C-97CC-C63C-8B00-8007FBCAA8BE}"/>
              </a:ext>
            </a:extLst>
          </p:cNvPr>
          <p:cNvSpPr txBox="1">
            <a:spLocks/>
          </p:cNvSpPr>
          <p:nvPr/>
        </p:nvSpPr>
        <p:spPr>
          <a:xfrm>
            <a:off x="989446" y="600253"/>
            <a:ext cx="6883552" cy="680484"/>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2400" dirty="0">
                <a:latin typeface="Arial Black" panose="020B0A04020102020204" pitchFamily="34" charset="0"/>
              </a:rPr>
              <a:t>Churn Rate by Customer Tenure Group</a:t>
            </a:r>
          </a:p>
        </p:txBody>
      </p:sp>
      <p:sp>
        <p:nvSpPr>
          <p:cNvPr id="8" name="TextBox 7">
            <a:extLst>
              <a:ext uri="{FF2B5EF4-FFF2-40B4-BE49-F238E27FC236}">
                <a16:creationId xmlns:a16="http://schemas.microsoft.com/office/drawing/2014/main" id="{103FD1D0-FBDC-A32F-FBFB-45D288C0064A}"/>
              </a:ext>
            </a:extLst>
          </p:cNvPr>
          <p:cNvSpPr txBox="1"/>
          <p:nvPr/>
        </p:nvSpPr>
        <p:spPr>
          <a:xfrm>
            <a:off x="766272" y="4368720"/>
            <a:ext cx="9144000" cy="1908215"/>
          </a:xfrm>
          <a:prstGeom prst="rect">
            <a:avLst/>
          </a:prstGeom>
          <a:noFill/>
        </p:spPr>
        <p:txBody>
          <a:bodyPr wrap="square" rtlCol="0">
            <a:spAutoFit/>
          </a:bodyPr>
          <a:lstStyle/>
          <a:p>
            <a:r>
              <a:rPr lang="en-US" sz="2000" dirty="0"/>
              <a:t>The pattern indicates that churn is not only an early-stage issue but may also be driven by factors such as:</a:t>
            </a:r>
          </a:p>
          <a:p>
            <a:pPr marL="742950" lvl="1" indent="-285750">
              <a:buFont typeface="Wingdings" panose="05000000000000000000" pitchFamily="2" charset="2"/>
              <a:buChar char="Ø"/>
            </a:pPr>
            <a:r>
              <a:rPr lang="en-US" sz="2000" dirty="0"/>
              <a:t>Declining perceived value over time</a:t>
            </a:r>
          </a:p>
          <a:p>
            <a:pPr marL="742950" lvl="1" indent="-285750">
              <a:buFont typeface="Wingdings" panose="05000000000000000000" pitchFamily="2" charset="2"/>
              <a:buChar char="Ø"/>
            </a:pPr>
            <a:r>
              <a:rPr lang="en-US" sz="2000" dirty="0"/>
              <a:t>Pricing concerns</a:t>
            </a:r>
          </a:p>
          <a:p>
            <a:pPr marL="742950" lvl="1" indent="-285750">
              <a:buFont typeface="Wingdings" panose="05000000000000000000" pitchFamily="2" charset="2"/>
              <a:buChar char="Ø"/>
            </a:pPr>
            <a:r>
              <a:rPr lang="en-US" sz="2000" dirty="0"/>
              <a:t>Accumulated unresolved service issues</a:t>
            </a:r>
          </a:p>
          <a:p>
            <a:endParaRPr lang="en-US" dirty="0"/>
          </a:p>
        </p:txBody>
      </p:sp>
      <p:sp>
        <p:nvSpPr>
          <p:cNvPr id="9" name="TextBox 8">
            <a:extLst>
              <a:ext uri="{FF2B5EF4-FFF2-40B4-BE49-F238E27FC236}">
                <a16:creationId xmlns:a16="http://schemas.microsoft.com/office/drawing/2014/main" id="{0E0AD98F-6A22-00E3-86C6-34893EAA04A2}"/>
              </a:ext>
            </a:extLst>
          </p:cNvPr>
          <p:cNvSpPr txBox="1"/>
          <p:nvPr/>
        </p:nvSpPr>
        <p:spPr>
          <a:xfrm>
            <a:off x="6181410" y="1701344"/>
            <a:ext cx="5452532" cy="2246769"/>
          </a:xfrm>
          <a:prstGeom prst="rect">
            <a:avLst/>
          </a:prstGeom>
          <a:noFill/>
        </p:spPr>
        <p:txBody>
          <a:bodyPr wrap="square" rtlCol="0">
            <a:spAutoFit/>
          </a:bodyPr>
          <a:lstStyle/>
          <a:p>
            <a:r>
              <a:rPr lang="en-US" sz="2000" dirty="0"/>
              <a:t>Churn generally decreases as customer tenure increases, indicating improved retention over time. However, there is a significant spike in churn at the 7–8month tenure stage (37.5%), which is notably higher than other groups. This suggests that even longer-tenured customers are not fully retained and remain at risk of churning</a:t>
            </a:r>
          </a:p>
        </p:txBody>
      </p:sp>
    </p:spTree>
    <p:extLst>
      <p:ext uri="{BB962C8B-B14F-4D97-AF65-F5344CB8AC3E}">
        <p14:creationId xmlns:p14="http://schemas.microsoft.com/office/powerpoint/2010/main" val="35708861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995EB-A734-3713-DD85-647DD0318C99}"/>
            </a:ext>
          </a:extLst>
        </p:cNvPr>
        <p:cNvGrpSpPr/>
        <p:nvPr/>
      </p:nvGrpSpPr>
      <p:grpSpPr>
        <a:xfrm>
          <a:off x="0" y="0"/>
          <a:ext cx="0" cy="0"/>
          <a:chOff x="0" y="0"/>
          <a:chExt cx="0" cy="0"/>
        </a:xfrm>
      </p:grpSpPr>
      <p:sp>
        <p:nvSpPr>
          <p:cNvPr id="11" name="Flowchart: Document 10">
            <a:extLst>
              <a:ext uri="{FF2B5EF4-FFF2-40B4-BE49-F238E27FC236}">
                <a16:creationId xmlns:a16="http://schemas.microsoft.com/office/drawing/2014/main" id="{261388A9-FC11-2BBC-85E1-DE0F2A8CB8C5}"/>
              </a:ext>
            </a:extLst>
          </p:cNvPr>
          <p:cNvSpPr/>
          <p:nvPr/>
        </p:nvSpPr>
        <p:spPr>
          <a:xfrm rot="16200000" flipV="1">
            <a:off x="6563830" y="1229834"/>
            <a:ext cx="6858002" cy="4398334"/>
          </a:xfrm>
          <a:prstGeom prst="flowChartDocument">
            <a:avLst/>
          </a:prstGeom>
          <a:solidFill>
            <a:srgbClr val="534D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lowchart: Document 12">
            <a:extLst>
              <a:ext uri="{FF2B5EF4-FFF2-40B4-BE49-F238E27FC236}">
                <a16:creationId xmlns:a16="http://schemas.microsoft.com/office/drawing/2014/main" id="{7E148B3E-2C61-432F-70AE-C9265811D30A}"/>
              </a:ext>
            </a:extLst>
          </p:cNvPr>
          <p:cNvSpPr/>
          <p:nvPr/>
        </p:nvSpPr>
        <p:spPr>
          <a:xfrm rot="5400000" flipV="1">
            <a:off x="6260803" y="1038442"/>
            <a:ext cx="6858002" cy="4781107"/>
          </a:xfrm>
          <a:prstGeom prst="flowChartDocument">
            <a:avLst/>
          </a:prstGeom>
          <a:solidFill>
            <a:srgbClr val="FF68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lowchart: Document 14">
            <a:extLst>
              <a:ext uri="{FF2B5EF4-FFF2-40B4-BE49-F238E27FC236}">
                <a16:creationId xmlns:a16="http://schemas.microsoft.com/office/drawing/2014/main" id="{346F7E6D-610C-20E3-3D79-6B206E3D91C0}"/>
              </a:ext>
            </a:extLst>
          </p:cNvPr>
          <p:cNvSpPr/>
          <p:nvPr/>
        </p:nvSpPr>
        <p:spPr>
          <a:xfrm rot="5400000" flipV="1">
            <a:off x="5761075" y="703524"/>
            <a:ext cx="6858002" cy="5450953"/>
          </a:xfrm>
          <a:prstGeom prst="flowChartDocumen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Google Shape;1663;p58">
            <a:extLst>
              <a:ext uri="{FF2B5EF4-FFF2-40B4-BE49-F238E27FC236}">
                <a16:creationId xmlns:a16="http://schemas.microsoft.com/office/drawing/2014/main" id="{04FF1CE3-5CE0-B09D-7927-9ED49B0F4B59}"/>
              </a:ext>
            </a:extLst>
          </p:cNvPr>
          <p:cNvSpPr txBox="1">
            <a:spLocks/>
          </p:cNvSpPr>
          <p:nvPr/>
        </p:nvSpPr>
        <p:spPr>
          <a:xfrm>
            <a:off x="814747" y="495121"/>
            <a:ext cx="6484503" cy="765910"/>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4000" dirty="0">
                <a:latin typeface="Arial Black" panose="020B0A04020102020204" pitchFamily="34" charset="0"/>
              </a:rPr>
              <a:t>Recommendations</a:t>
            </a:r>
          </a:p>
        </p:txBody>
      </p:sp>
      <p:sp>
        <p:nvSpPr>
          <p:cNvPr id="6" name="Rectangle 3">
            <a:extLst>
              <a:ext uri="{FF2B5EF4-FFF2-40B4-BE49-F238E27FC236}">
                <a16:creationId xmlns:a16="http://schemas.microsoft.com/office/drawing/2014/main" id="{0E9C922F-F5E3-FCCF-0885-0E3C8F85BF52}"/>
              </a:ext>
            </a:extLst>
          </p:cNvPr>
          <p:cNvSpPr>
            <a:spLocks noChangeArrowheads="1"/>
          </p:cNvSpPr>
          <p:nvPr/>
        </p:nvSpPr>
        <p:spPr bwMode="auto">
          <a:xfrm>
            <a:off x="-53608" y="1564328"/>
            <a:ext cx="784727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742950" lvl="1" indent="-285750" eaLnBrk="0" fontAlgn="base" hangingPunct="0">
              <a:spcBef>
                <a:spcPct val="0"/>
              </a:spcBef>
              <a:spcAft>
                <a:spcPct val="0"/>
              </a:spcAft>
              <a:buFont typeface="Wingdings" panose="05000000000000000000" pitchFamily="2" charset="2"/>
              <a:buChar char="q"/>
            </a:pPr>
            <a:r>
              <a:rPr kumimoji="0" lang="en-US" altLang="en-US" sz="2000" b="0" i="0" u="none" strike="noStrike" cap="none" normalizeH="0" baseline="0" dirty="0">
                <a:ln>
                  <a:noFill/>
                </a:ln>
                <a:solidFill>
                  <a:schemeClr val="tx1"/>
                </a:solidFill>
                <a:effectLst/>
              </a:rPr>
              <a:t>Improve customer service efficiency by resolving issues within the first 2–3 interactions and reducing repeated customer complaints.</a:t>
            </a:r>
          </a:p>
        </p:txBody>
      </p:sp>
      <p:pic>
        <p:nvPicPr>
          <p:cNvPr id="196" name="Picture 195">
            <a:extLst>
              <a:ext uri="{FF2B5EF4-FFF2-40B4-BE49-F238E27FC236}">
                <a16:creationId xmlns:a16="http://schemas.microsoft.com/office/drawing/2014/main" id="{918E4E77-7A71-1387-26DC-0A463B3852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25656" y="-74287"/>
            <a:ext cx="3628367" cy="3628367"/>
          </a:xfrm>
          <a:prstGeom prst="rect">
            <a:avLst/>
          </a:prstGeom>
        </p:spPr>
      </p:pic>
      <p:sp>
        <p:nvSpPr>
          <p:cNvPr id="198" name="TextBox 197">
            <a:extLst>
              <a:ext uri="{FF2B5EF4-FFF2-40B4-BE49-F238E27FC236}">
                <a16:creationId xmlns:a16="http://schemas.microsoft.com/office/drawing/2014/main" id="{6DFB2325-79C7-0471-BCF2-584F1C5130DC}"/>
              </a:ext>
            </a:extLst>
          </p:cNvPr>
          <p:cNvSpPr txBox="1"/>
          <p:nvPr/>
        </p:nvSpPr>
        <p:spPr>
          <a:xfrm>
            <a:off x="-53608" y="2522061"/>
            <a:ext cx="9058797" cy="707886"/>
          </a:xfrm>
          <a:prstGeom prst="rect">
            <a:avLst/>
          </a:prstGeom>
          <a:noFill/>
        </p:spPr>
        <p:txBody>
          <a:bodyPr wrap="square" rtlCol="0">
            <a:spAutoFit/>
          </a:bodyPr>
          <a:lstStyle/>
          <a:p>
            <a:pPr marL="742950" lvl="1" indent="-285750" eaLnBrk="0" fontAlgn="base" hangingPunct="0">
              <a:spcBef>
                <a:spcPct val="0"/>
              </a:spcBef>
              <a:spcAft>
                <a:spcPct val="0"/>
              </a:spcAft>
              <a:buFont typeface="Wingdings" panose="05000000000000000000" pitchFamily="2" charset="2"/>
              <a:buChar char="q"/>
            </a:pPr>
            <a:r>
              <a:rPr lang="en-US" altLang="en-US" sz="2000" dirty="0"/>
              <a:t>Implement an early warning system to identify customers with frequent service calls and proactively engage them with retention offers.</a:t>
            </a:r>
          </a:p>
        </p:txBody>
      </p:sp>
      <p:sp>
        <p:nvSpPr>
          <p:cNvPr id="199" name="TextBox 198">
            <a:extLst>
              <a:ext uri="{FF2B5EF4-FFF2-40B4-BE49-F238E27FC236}">
                <a16:creationId xmlns:a16="http://schemas.microsoft.com/office/drawing/2014/main" id="{73ED4510-E7A4-7078-2C0F-E19AD3545F5E}"/>
              </a:ext>
            </a:extLst>
          </p:cNvPr>
          <p:cNvSpPr txBox="1"/>
          <p:nvPr/>
        </p:nvSpPr>
        <p:spPr>
          <a:xfrm>
            <a:off x="-53608" y="3479794"/>
            <a:ext cx="11051808" cy="2831544"/>
          </a:xfrm>
          <a:prstGeom prst="rect">
            <a:avLst/>
          </a:prstGeom>
          <a:noFill/>
        </p:spPr>
        <p:txBody>
          <a:bodyPr wrap="square" rtlCol="0">
            <a:spAutoFit/>
          </a:bodyPr>
          <a:lstStyle/>
          <a:p>
            <a:pPr marL="742950" lvl="1" indent="-285750" eaLnBrk="0" fontAlgn="base" hangingPunct="0">
              <a:spcBef>
                <a:spcPct val="0"/>
              </a:spcBef>
              <a:spcAft>
                <a:spcPct val="0"/>
              </a:spcAft>
              <a:buFont typeface="Wingdings" panose="05000000000000000000" pitchFamily="2" charset="2"/>
              <a:buChar char="q"/>
            </a:pPr>
            <a:r>
              <a:rPr lang="en-US" altLang="en-US" sz="2000" dirty="0"/>
              <a:t>Provide targeted support for high-risk customers through personalized follow-ups, discounts, and service recovery strategies.</a:t>
            </a:r>
          </a:p>
          <a:p>
            <a:pPr lvl="1" eaLnBrk="0" fontAlgn="base" hangingPunct="0">
              <a:spcBef>
                <a:spcPct val="0"/>
              </a:spcBef>
              <a:spcAft>
                <a:spcPct val="0"/>
              </a:spcAft>
            </a:pPr>
            <a:endParaRPr lang="en-US" altLang="en-US" sz="2000" dirty="0"/>
          </a:p>
          <a:p>
            <a:pPr marL="742950" lvl="1" indent="-285750" eaLnBrk="0" fontAlgn="base" hangingPunct="0">
              <a:spcBef>
                <a:spcPct val="0"/>
              </a:spcBef>
              <a:spcAft>
                <a:spcPct val="0"/>
              </a:spcAft>
              <a:buFont typeface="Wingdings" panose="05000000000000000000" pitchFamily="2" charset="2"/>
              <a:buChar char="q"/>
            </a:pPr>
            <a:r>
              <a:rPr lang="en-US" altLang="en-US" sz="2000" dirty="0"/>
              <a:t>Strengthen onboarding and early customer engagement with guidance, check-ins, and incentives to reduce early-stage churn.</a:t>
            </a:r>
          </a:p>
          <a:p>
            <a:pPr lvl="1" eaLnBrk="0" fontAlgn="base" hangingPunct="0">
              <a:spcBef>
                <a:spcPct val="0"/>
              </a:spcBef>
              <a:spcAft>
                <a:spcPct val="0"/>
              </a:spcAft>
            </a:pPr>
            <a:endParaRPr lang="en-US" altLang="en-US" sz="2000" dirty="0"/>
          </a:p>
          <a:p>
            <a:pPr marL="742950" lvl="1" indent="-285750" eaLnBrk="0" fontAlgn="base" hangingPunct="0">
              <a:spcBef>
                <a:spcPct val="0"/>
              </a:spcBef>
              <a:spcAft>
                <a:spcPct val="0"/>
              </a:spcAft>
              <a:buFont typeface="Wingdings" panose="05000000000000000000" pitchFamily="2" charset="2"/>
              <a:buChar char="q"/>
            </a:pPr>
            <a:r>
              <a:rPr lang="en-US" altLang="en-US" sz="2000" dirty="0"/>
              <a:t>Optimize pricing and service offerings by reviewing plan value, promoting voice mail adoption, and addressing regional service issues </a:t>
            </a:r>
          </a:p>
          <a:p>
            <a:endParaRPr lang="en-US" dirty="0"/>
          </a:p>
        </p:txBody>
      </p:sp>
    </p:spTree>
    <p:extLst>
      <p:ext uri="{BB962C8B-B14F-4D97-AF65-F5344CB8AC3E}">
        <p14:creationId xmlns:p14="http://schemas.microsoft.com/office/powerpoint/2010/main" val="18281871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4BC0027-D873-5C15-FCD6-8DE27770CD30}"/>
              </a:ext>
            </a:extLst>
          </p:cNvPr>
          <p:cNvSpPr/>
          <p:nvPr/>
        </p:nvSpPr>
        <p:spPr>
          <a:xfrm>
            <a:off x="0" y="0"/>
            <a:ext cx="12192000" cy="6858000"/>
          </a:xfrm>
          <a:prstGeom prst="rect">
            <a:avLst/>
          </a:prstGeom>
          <a:solidFill>
            <a:srgbClr val="FF68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lowchart: Document 4">
            <a:extLst>
              <a:ext uri="{FF2B5EF4-FFF2-40B4-BE49-F238E27FC236}">
                <a16:creationId xmlns:a16="http://schemas.microsoft.com/office/drawing/2014/main" id="{A18C220A-135F-E9A3-C8D8-21F613C5F16C}"/>
              </a:ext>
            </a:extLst>
          </p:cNvPr>
          <p:cNvSpPr/>
          <p:nvPr/>
        </p:nvSpPr>
        <p:spPr>
          <a:xfrm rot="16200000" flipV="1">
            <a:off x="-1277198" y="517692"/>
            <a:ext cx="6858000" cy="5822616"/>
          </a:xfrm>
          <a:prstGeom prst="flowChartDocument">
            <a:avLst/>
          </a:prstGeom>
          <a:solidFill>
            <a:srgbClr val="FF68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lowchart: Document 3">
            <a:extLst>
              <a:ext uri="{FF2B5EF4-FFF2-40B4-BE49-F238E27FC236}">
                <a16:creationId xmlns:a16="http://schemas.microsoft.com/office/drawing/2014/main" id="{ACE3DBC4-7E47-01D8-E294-C6BE9AD97FA2}"/>
              </a:ext>
            </a:extLst>
          </p:cNvPr>
          <p:cNvSpPr/>
          <p:nvPr/>
        </p:nvSpPr>
        <p:spPr>
          <a:xfrm rot="5400000" flipH="1">
            <a:off x="-421005" y="-1299455"/>
            <a:ext cx="9062386" cy="8258879"/>
          </a:xfrm>
          <a:prstGeom prst="flowChartDocumen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lowchart: Document 7">
            <a:extLst>
              <a:ext uri="{FF2B5EF4-FFF2-40B4-BE49-F238E27FC236}">
                <a16:creationId xmlns:a16="http://schemas.microsoft.com/office/drawing/2014/main" id="{4B37FC67-0EE7-CB47-D520-0C6512426B9C}"/>
              </a:ext>
            </a:extLst>
          </p:cNvPr>
          <p:cNvSpPr/>
          <p:nvPr/>
        </p:nvSpPr>
        <p:spPr>
          <a:xfrm rot="5400000" flipV="1">
            <a:off x="6591946" y="517692"/>
            <a:ext cx="6858000" cy="5822616"/>
          </a:xfrm>
          <a:prstGeom prst="flowChartDocument">
            <a:avLst/>
          </a:prstGeom>
          <a:solidFill>
            <a:srgbClr val="FF68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lowchart: Document 6">
            <a:extLst>
              <a:ext uri="{FF2B5EF4-FFF2-40B4-BE49-F238E27FC236}">
                <a16:creationId xmlns:a16="http://schemas.microsoft.com/office/drawing/2014/main" id="{93F0AB11-6AB7-98BF-3368-70297065D5B0}"/>
              </a:ext>
            </a:extLst>
          </p:cNvPr>
          <p:cNvSpPr/>
          <p:nvPr/>
        </p:nvSpPr>
        <p:spPr>
          <a:xfrm rot="5400000" flipV="1">
            <a:off x="4334587" y="336551"/>
            <a:ext cx="9062387" cy="6652439"/>
          </a:xfrm>
          <a:prstGeom prst="flowChartDocumen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Google Shape;1663;p58">
            <a:extLst>
              <a:ext uri="{FF2B5EF4-FFF2-40B4-BE49-F238E27FC236}">
                <a16:creationId xmlns:a16="http://schemas.microsoft.com/office/drawing/2014/main" id="{A113DEF4-5701-48FD-9CF9-4D8B48EEBBA2}"/>
              </a:ext>
            </a:extLst>
          </p:cNvPr>
          <p:cNvSpPr txBox="1">
            <a:spLocks/>
          </p:cNvSpPr>
          <p:nvPr/>
        </p:nvSpPr>
        <p:spPr>
          <a:xfrm>
            <a:off x="2415894" y="772546"/>
            <a:ext cx="7704000" cy="765910"/>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dirty="0">
                <a:latin typeface="Arial Black" panose="020B0A04020102020204" pitchFamily="34" charset="0"/>
              </a:rPr>
              <a:t>Conclusion</a:t>
            </a:r>
          </a:p>
        </p:txBody>
      </p:sp>
      <p:sp>
        <p:nvSpPr>
          <p:cNvPr id="11" name="TextBox 10">
            <a:extLst>
              <a:ext uri="{FF2B5EF4-FFF2-40B4-BE49-F238E27FC236}">
                <a16:creationId xmlns:a16="http://schemas.microsoft.com/office/drawing/2014/main" id="{4F43E670-6103-83D1-67EB-6AA4C70EA44D}"/>
              </a:ext>
            </a:extLst>
          </p:cNvPr>
          <p:cNvSpPr txBox="1"/>
          <p:nvPr/>
        </p:nvSpPr>
        <p:spPr>
          <a:xfrm>
            <a:off x="1579221" y="1569611"/>
            <a:ext cx="9490757" cy="4770537"/>
          </a:xfrm>
          <a:prstGeom prst="rect">
            <a:avLst/>
          </a:prstGeom>
          <a:noFill/>
        </p:spPr>
        <p:txBody>
          <a:bodyPr wrap="square" rtlCol="0">
            <a:spAutoFit/>
          </a:bodyPr>
          <a:lstStyle/>
          <a:p>
            <a:r>
              <a:rPr lang="en-US" sz="2200" dirty="0"/>
              <a:t>Customer churn at Orange Telecom is largely driven by poor customer service experience, especially among customers with frequent support interactions. As service calls increase, the likelihood of churn rises significantly, with a clear tipping point after multiple unresolved issues.</a:t>
            </a:r>
          </a:p>
          <a:p>
            <a:endParaRPr lang="en-US" sz="2200" dirty="0"/>
          </a:p>
          <a:p>
            <a:r>
              <a:rPr lang="en-US" sz="2200" dirty="0"/>
              <a:t>Newer customers are also more likely to churn, highlighting gaps in early customer experience and onboarding. While pricing and plan subscriptions have some impact, they are less significant compared to service-related factors, though value-added services like the voice mail plan support retention.</a:t>
            </a:r>
          </a:p>
          <a:p>
            <a:endParaRPr lang="en-US" sz="2200" dirty="0"/>
          </a:p>
          <a:p>
            <a:r>
              <a:rPr lang="en-US" sz="2200" dirty="0"/>
              <a:t>Overall, improving customer service efficiency, identifying at-risk customers early, and enhancing customer engagement are key to reducing churn and strengthening long-term customer loyalty.</a:t>
            </a:r>
          </a:p>
          <a:p>
            <a:endParaRPr lang="en-US" dirty="0"/>
          </a:p>
        </p:txBody>
      </p:sp>
    </p:spTree>
    <p:extLst>
      <p:ext uri="{BB962C8B-B14F-4D97-AF65-F5344CB8AC3E}">
        <p14:creationId xmlns:p14="http://schemas.microsoft.com/office/powerpoint/2010/main" val="31285883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E5F1-B2F2-C900-06F6-87212777DAD2}"/>
            </a:ext>
          </a:extLst>
        </p:cNvPr>
        <p:cNvGrpSpPr/>
        <p:nvPr/>
      </p:nvGrpSpPr>
      <p:grpSpPr>
        <a:xfrm>
          <a:off x="0" y="0"/>
          <a:ext cx="0" cy="0"/>
          <a:chOff x="0" y="0"/>
          <a:chExt cx="0" cy="0"/>
        </a:xfrm>
      </p:grpSpPr>
      <p:sp>
        <p:nvSpPr>
          <p:cNvPr id="3" name="Flowchart: Document 2">
            <a:extLst>
              <a:ext uri="{FF2B5EF4-FFF2-40B4-BE49-F238E27FC236}">
                <a16:creationId xmlns:a16="http://schemas.microsoft.com/office/drawing/2014/main" id="{FBAF3D04-B877-102A-95C1-E90469AD8999}"/>
              </a:ext>
            </a:extLst>
          </p:cNvPr>
          <p:cNvSpPr/>
          <p:nvPr/>
        </p:nvSpPr>
        <p:spPr>
          <a:xfrm rot="9810817">
            <a:off x="2762552" y="3859490"/>
            <a:ext cx="10226530" cy="7527851"/>
          </a:xfrm>
          <a:prstGeom prst="flowChartDocument">
            <a:avLst/>
          </a:prstGeom>
          <a:solidFill>
            <a:srgbClr val="FF68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lowchart: Document 1">
            <a:extLst>
              <a:ext uri="{FF2B5EF4-FFF2-40B4-BE49-F238E27FC236}">
                <a16:creationId xmlns:a16="http://schemas.microsoft.com/office/drawing/2014/main" id="{4061B953-9E39-A7EE-AF33-427486E99715}"/>
              </a:ext>
            </a:extLst>
          </p:cNvPr>
          <p:cNvSpPr/>
          <p:nvPr/>
        </p:nvSpPr>
        <p:spPr>
          <a:xfrm rot="20739616" flipH="1">
            <a:off x="-1332208" y="-2116484"/>
            <a:ext cx="13922563" cy="8746148"/>
          </a:xfrm>
          <a:prstGeom prst="flowChartDocument">
            <a:avLst/>
          </a:prstGeom>
          <a:solidFill>
            <a:srgbClr val="534D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 name="Google Shape;5664;p111">
            <a:extLst>
              <a:ext uri="{FF2B5EF4-FFF2-40B4-BE49-F238E27FC236}">
                <a16:creationId xmlns:a16="http://schemas.microsoft.com/office/drawing/2014/main" id="{5618F46D-90D0-942A-72F2-53911FF292FA}"/>
              </a:ext>
            </a:extLst>
          </p:cNvPr>
          <p:cNvGrpSpPr/>
          <p:nvPr/>
        </p:nvGrpSpPr>
        <p:grpSpPr>
          <a:xfrm>
            <a:off x="5864362" y="1583309"/>
            <a:ext cx="5355821" cy="4710800"/>
            <a:chOff x="5032675" y="1881795"/>
            <a:chExt cx="3594542" cy="2703111"/>
          </a:xfrm>
        </p:grpSpPr>
        <p:sp>
          <p:nvSpPr>
            <p:cNvPr id="9" name="Google Shape;5665;p111">
              <a:extLst>
                <a:ext uri="{FF2B5EF4-FFF2-40B4-BE49-F238E27FC236}">
                  <a16:creationId xmlns:a16="http://schemas.microsoft.com/office/drawing/2014/main" id="{CE9AA6D3-5C24-FE0A-F20E-249B0A98D8BF}"/>
                </a:ext>
              </a:extLst>
            </p:cNvPr>
            <p:cNvSpPr/>
            <p:nvPr/>
          </p:nvSpPr>
          <p:spPr>
            <a:xfrm>
              <a:off x="5032675" y="4373498"/>
              <a:ext cx="3594542" cy="211408"/>
            </a:xfrm>
            <a:custGeom>
              <a:avLst/>
              <a:gdLst/>
              <a:ahLst/>
              <a:cxnLst/>
              <a:rect l="l" t="t" r="r" b="b"/>
              <a:pathLst>
                <a:path w="161716" h="9441" extrusionOk="0">
                  <a:moveTo>
                    <a:pt x="80858" y="1"/>
                  </a:moveTo>
                  <a:cubicBezTo>
                    <a:pt x="36193" y="1"/>
                    <a:pt x="0" y="2136"/>
                    <a:pt x="0" y="4738"/>
                  </a:cubicBezTo>
                  <a:cubicBezTo>
                    <a:pt x="0" y="7339"/>
                    <a:pt x="36193" y="9441"/>
                    <a:pt x="80858" y="9441"/>
                  </a:cubicBezTo>
                  <a:cubicBezTo>
                    <a:pt x="125523" y="9441"/>
                    <a:pt x="161716" y="7339"/>
                    <a:pt x="161716" y="4738"/>
                  </a:cubicBezTo>
                  <a:cubicBezTo>
                    <a:pt x="161716" y="2136"/>
                    <a:pt x="125523" y="1"/>
                    <a:pt x="80858" y="1"/>
                  </a:cubicBezTo>
                  <a:close/>
                </a:path>
              </a:pathLst>
            </a:cu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666;p111">
              <a:extLst>
                <a:ext uri="{FF2B5EF4-FFF2-40B4-BE49-F238E27FC236}">
                  <a16:creationId xmlns:a16="http://schemas.microsoft.com/office/drawing/2014/main" id="{96AA69FF-B042-AA5A-92C1-3B5B8CE1F5E8}"/>
                </a:ext>
              </a:extLst>
            </p:cNvPr>
            <p:cNvSpPr/>
            <p:nvPr/>
          </p:nvSpPr>
          <p:spPr>
            <a:xfrm>
              <a:off x="6781001" y="2326107"/>
              <a:ext cx="424123" cy="416836"/>
            </a:xfrm>
            <a:custGeom>
              <a:avLst/>
              <a:gdLst/>
              <a:ahLst/>
              <a:cxnLst/>
              <a:rect l="l" t="t" r="r" b="b"/>
              <a:pathLst>
                <a:path w="19081" h="18615" extrusionOk="0">
                  <a:moveTo>
                    <a:pt x="14844" y="1"/>
                  </a:moveTo>
                  <a:cubicBezTo>
                    <a:pt x="14744" y="401"/>
                    <a:pt x="14644" y="935"/>
                    <a:pt x="14511" y="1402"/>
                  </a:cubicBezTo>
                  <a:cubicBezTo>
                    <a:pt x="14377" y="1902"/>
                    <a:pt x="14244" y="2369"/>
                    <a:pt x="14111" y="2869"/>
                  </a:cubicBezTo>
                  <a:cubicBezTo>
                    <a:pt x="13810" y="3837"/>
                    <a:pt x="13510" y="4771"/>
                    <a:pt x="13143" y="5705"/>
                  </a:cubicBezTo>
                  <a:cubicBezTo>
                    <a:pt x="12409" y="7506"/>
                    <a:pt x="11509" y="9274"/>
                    <a:pt x="10375" y="10508"/>
                  </a:cubicBezTo>
                  <a:cubicBezTo>
                    <a:pt x="10108" y="10808"/>
                    <a:pt x="9808" y="11075"/>
                    <a:pt x="9474" y="11309"/>
                  </a:cubicBezTo>
                  <a:cubicBezTo>
                    <a:pt x="9407" y="11342"/>
                    <a:pt x="9341" y="11409"/>
                    <a:pt x="9240" y="11476"/>
                  </a:cubicBezTo>
                  <a:lnTo>
                    <a:pt x="8940" y="11642"/>
                  </a:lnTo>
                  <a:cubicBezTo>
                    <a:pt x="8707" y="11776"/>
                    <a:pt x="8507" y="11909"/>
                    <a:pt x="8273" y="12043"/>
                  </a:cubicBezTo>
                  <a:cubicBezTo>
                    <a:pt x="7406" y="12576"/>
                    <a:pt x="6505" y="13077"/>
                    <a:pt x="5571" y="13577"/>
                  </a:cubicBezTo>
                  <a:cubicBezTo>
                    <a:pt x="3737" y="14578"/>
                    <a:pt x="1835" y="15579"/>
                    <a:pt x="1" y="16613"/>
                  </a:cubicBezTo>
                  <a:lnTo>
                    <a:pt x="768" y="18614"/>
                  </a:lnTo>
                  <a:cubicBezTo>
                    <a:pt x="2869" y="18080"/>
                    <a:pt x="4937" y="17413"/>
                    <a:pt x="6972" y="16646"/>
                  </a:cubicBezTo>
                  <a:cubicBezTo>
                    <a:pt x="8006" y="16279"/>
                    <a:pt x="9007" y="15879"/>
                    <a:pt x="10041" y="15412"/>
                  </a:cubicBezTo>
                  <a:cubicBezTo>
                    <a:pt x="10308" y="15312"/>
                    <a:pt x="10541" y="15178"/>
                    <a:pt x="10808" y="15045"/>
                  </a:cubicBezTo>
                  <a:lnTo>
                    <a:pt x="11175" y="14845"/>
                  </a:lnTo>
                  <a:cubicBezTo>
                    <a:pt x="11309" y="14778"/>
                    <a:pt x="11475" y="14678"/>
                    <a:pt x="11642" y="14611"/>
                  </a:cubicBezTo>
                  <a:cubicBezTo>
                    <a:pt x="12209" y="14244"/>
                    <a:pt x="12743" y="13844"/>
                    <a:pt x="13210" y="13377"/>
                  </a:cubicBezTo>
                  <a:cubicBezTo>
                    <a:pt x="15078" y="11542"/>
                    <a:pt x="16212" y="9441"/>
                    <a:pt x="17113" y="7339"/>
                  </a:cubicBezTo>
                  <a:cubicBezTo>
                    <a:pt x="17580" y="6272"/>
                    <a:pt x="17947" y="5204"/>
                    <a:pt x="18280" y="4104"/>
                  </a:cubicBezTo>
                  <a:cubicBezTo>
                    <a:pt x="18414" y="3570"/>
                    <a:pt x="18580" y="3036"/>
                    <a:pt x="18714" y="2469"/>
                  </a:cubicBezTo>
                  <a:cubicBezTo>
                    <a:pt x="18847" y="1902"/>
                    <a:pt x="18981" y="1368"/>
                    <a:pt x="19081" y="768"/>
                  </a:cubicBezTo>
                  <a:lnTo>
                    <a:pt x="14844" y="1"/>
                  </a:lnTo>
                  <a:close/>
                </a:path>
              </a:pathLst>
            </a:custGeom>
            <a:solidFill>
              <a:srgbClr val="CE7A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667;p111">
              <a:extLst>
                <a:ext uri="{FF2B5EF4-FFF2-40B4-BE49-F238E27FC236}">
                  <a16:creationId xmlns:a16="http://schemas.microsoft.com/office/drawing/2014/main" id="{3C210C79-F000-C5D0-00E0-3B2154BB69AF}"/>
                </a:ext>
              </a:extLst>
            </p:cNvPr>
            <p:cNvSpPr/>
            <p:nvPr/>
          </p:nvSpPr>
          <p:spPr>
            <a:xfrm>
              <a:off x="7011590" y="2283427"/>
              <a:ext cx="224342" cy="262306"/>
            </a:xfrm>
            <a:custGeom>
              <a:avLst/>
              <a:gdLst/>
              <a:ahLst/>
              <a:cxnLst/>
              <a:rect l="l" t="t" r="r" b="b"/>
              <a:pathLst>
                <a:path w="10093" h="11714" extrusionOk="0">
                  <a:moveTo>
                    <a:pt x="7986" y="0"/>
                  </a:moveTo>
                  <a:cubicBezTo>
                    <a:pt x="6865" y="0"/>
                    <a:pt x="5394" y="636"/>
                    <a:pt x="3837" y="2007"/>
                  </a:cubicBezTo>
                  <a:cubicBezTo>
                    <a:pt x="2402" y="3241"/>
                    <a:pt x="1668" y="5343"/>
                    <a:pt x="935" y="6610"/>
                  </a:cubicBezTo>
                  <a:cubicBezTo>
                    <a:pt x="701" y="7044"/>
                    <a:pt x="501" y="7411"/>
                    <a:pt x="334" y="7711"/>
                  </a:cubicBezTo>
                  <a:cubicBezTo>
                    <a:pt x="134" y="8111"/>
                    <a:pt x="1" y="8378"/>
                    <a:pt x="1" y="8378"/>
                  </a:cubicBezTo>
                  <a:lnTo>
                    <a:pt x="4504" y="11714"/>
                  </a:lnTo>
                  <a:cubicBezTo>
                    <a:pt x="4504" y="11714"/>
                    <a:pt x="4671" y="11547"/>
                    <a:pt x="4971" y="11213"/>
                  </a:cubicBezTo>
                  <a:cubicBezTo>
                    <a:pt x="5171" y="10980"/>
                    <a:pt x="5438" y="10646"/>
                    <a:pt x="5738" y="10279"/>
                  </a:cubicBezTo>
                  <a:cubicBezTo>
                    <a:pt x="7506" y="8145"/>
                    <a:pt x="10041" y="4242"/>
                    <a:pt x="10074" y="2340"/>
                  </a:cubicBezTo>
                  <a:cubicBezTo>
                    <a:pt x="10092" y="829"/>
                    <a:pt x="9266" y="0"/>
                    <a:pt x="79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668;p111">
              <a:extLst>
                <a:ext uri="{FF2B5EF4-FFF2-40B4-BE49-F238E27FC236}">
                  <a16:creationId xmlns:a16="http://schemas.microsoft.com/office/drawing/2014/main" id="{BCD371A8-33E0-5841-0043-CB4F9000F02F}"/>
                </a:ext>
              </a:extLst>
            </p:cNvPr>
            <p:cNvSpPr/>
            <p:nvPr/>
          </p:nvSpPr>
          <p:spPr>
            <a:xfrm>
              <a:off x="6715764" y="2671198"/>
              <a:ext cx="94178" cy="84263"/>
            </a:xfrm>
            <a:custGeom>
              <a:avLst/>
              <a:gdLst/>
              <a:ahLst/>
              <a:cxnLst/>
              <a:rect l="l" t="t" r="r" b="b"/>
              <a:pathLst>
                <a:path w="4237" h="3763" extrusionOk="0">
                  <a:moveTo>
                    <a:pt x="0" y="1"/>
                  </a:moveTo>
                  <a:lnTo>
                    <a:pt x="267" y="3703"/>
                  </a:lnTo>
                  <a:cubicBezTo>
                    <a:pt x="267" y="3703"/>
                    <a:pt x="849" y="3762"/>
                    <a:pt x="1568" y="3762"/>
                  </a:cubicBezTo>
                  <a:cubicBezTo>
                    <a:pt x="2647" y="3762"/>
                    <a:pt x="4036" y="3630"/>
                    <a:pt x="4236" y="2970"/>
                  </a:cubicBezTo>
                  <a:lnTo>
                    <a:pt x="3736" y="1001"/>
                  </a:lnTo>
                  <a:lnTo>
                    <a:pt x="0" y="1"/>
                  </a:lnTo>
                  <a:close/>
                </a:path>
              </a:pathLst>
            </a:custGeom>
            <a:solidFill>
              <a:srgbClr val="CE7A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669;p111">
              <a:extLst>
                <a:ext uri="{FF2B5EF4-FFF2-40B4-BE49-F238E27FC236}">
                  <a16:creationId xmlns:a16="http://schemas.microsoft.com/office/drawing/2014/main" id="{36C07042-1541-0300-F06B-9C24F3AD6E11}"/>
                </a:ext>
              </a:extLst>
            </p:cNvPr>
            <p:cNvSpPr/>
            <p:nvPr/>
          </p:nvSpPr>
          <p:spPr>
            <a:xfrm>
              <a:off x="6651993" y="2671198"/>
              <a:ext cx="69705" cy="99378"/>
            </a:xfrm>
            <a:custGeom>
              <a:avLst/>
              <a:gdLst/>
              <a:ahLst/>
              <a:cxnLst/>
              <a:rect l="l" t="t" r="r" b="b"/>
              <a:pathLst>
                <a:path w="3136" h="4438" extrusionOk="0">
                  <a:moveTo>
                    <a:pt x="2869" y="1"/>
                  </a:moveTo>
                  <a:lnTo>
                    <a:pt x="0" y="1902"/>
                  </a:lnTo>
                  <a:lnTo>
                    <a:pt x="868" y="4437"/>
                  </a:lnTo>
                  <a:lnTo>
                    <a:pt x="3136" y="3703"/>
                  </a:lnTo>
                  <a:lnTo>
                    <a:pt x="2869" y="1"/>
                  </a:lnTo>
                  <a:close/>
                </a:path>
              </a:pathLst>
            </a:custGeom>
            <a:solidFill>
              <a:srgbClr val="CE7A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5670;p111">
              <a:extLst>
                <a:ext uri="{FF2B5EF4-FFF2-40B4-BE49-F238E27FC236}">
                  <a16:creationId xmlns:a16="http://schemas.microsoft.com/office/drawing/2014/main" id="{9EEB0BB8-44C3-1B6F-AEA4-45EC7208F4E1}"/>
                </a:ext>
              </a:extLst>
            </p:cNvPr>
            <p:cNvSpPr/>
            <p:nvPr/>
          </p:nvSpPr>
          <p:spPr>
            <a:xfrm>
              <a:off x="7077583" y="2268603"/>
              <a:ext cx="436726" cy="571434"/>
            </a:xfrm>
            <a:custGeom>
              <a:avLst/>
              <a:gdLst/>
              <a:ahLst/>
              <a:cxnLst/>
              <a:rect l="l" t="t" r="r" b="b"/>
              <a:pathLst>
                <a:path w="19648" h="25519" extrusionOk="0">
                  <a:moveTo>
                    <a:pt x="11325" y="0"/>
                  </a:moveTo>
                  <a:cubicBezTo>
                    <a:pt x="10241" y="0"/>
                    <a:pt x="9157" y="34"/>
                    <a:pt x="8073" y="100"/>
                  </a:cubicBezTo>
                  <a:cubicBezTo>
                    <a:pt x="7072" y="200"/>
                    <a:pt x="6105" y="367"/>
                    <a:pt x="5338" y="501"/>
                  </a:cubicBezTo>
                  <a:cubicBezTo>
                    <a:pt x="4337" y="701"/>
                    <a:pt x="3770" y="901"/>
                    <a:pt x="3770" y="901"/>
                  </a:cubicBezTo>
                  <a:cubicBezTo>
                    <a:pt x="3770" y="901"/>
                    <a:pt x="0" y="9507"/>
                    <a:pt x="2636" y="25518"/>
                  </a:cubicBezTo>
                  <a:lnTo>
                    <a:pt x="17913" y="25518"/>
                  </a:lnTo>
                  <a:cubicBezTo>
                    <a:pt x="18013" y="24184"/>
                    <a:pt x="17680" y="19748"/>
                    <a:pt x="17913" y="14110"/>
                  </a:cubicBezTo>
                  <a:cubicBezTo>
                    <a:pt x="18080" y="9907"/>
                    <a:pt x="18580" y="5771"/>
                    <a:pt x="19448" y="1668"/>
                  </a:cubicBezTo>
                  <a:lnTo>
                    <a:pt x="19648" y="734"/>
                  </a:lnTo>
                  <a:cubicBezTo>
                    <a:pt x="19648" y="734"/>
                    <a:pt x="18881" y="601"/>
                    <a:pt x="17780" y="434"/>
                  </a:cubicBezTo>
                  <a:cubicBezTo>
                    <a:pt x="16846" y="300"/>
                    <a:pt x="15678" y="167"/>
                    <a:pt x="14577" y="100"/>
                  </a:cubicBezTo>
                  <a:cubicBezTo>
                    <a:pt x="13493" y="34"/>
                    <a:pt x="12409" y="0"/>
                    <a:pt x="113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5671;p111">
              <a:extLst>
                <a:ext uri="{FF2B5EF4-FFF2-40B4-BE49-F238E27FC236}">
                  <a16:creationId xmlns:a16="http://schemas.microsoft.com/office/drawing/2014/main" id="{56FDA50F-9297-1635-C368-080B8FDCEFC6}"/>
                </a:ext>
              </a:extLst>
            </p:cNvPr>
            <p:cNvSpPr/>
            <p:nvPr/>
          </p:nvSpPr>
          <p:spPr>
            <a:xfrm>
              <a:off x="7214749" y="2124441"/>
              <a:ext cx="192046" cy="209168"/>
            </a:xfrm>
            <a:custGeom>
              <a:avLst/>
              <a:gdLst/>
              <a:ahLst/>
              <a:cxnLst/>
              <a:rect l="l" t="t" r="r" b="b"/>
              <a:pathLst>
                <a:path w="8640" h="9341" extrusionOk="0">
                  <a:moveTo>
                    <a:pt x="8273" y="0"/>
                  </a:moveTo>
                  <a:lnTo>
                    <a:pt x="6505" y="1435"/>
                  </a:lnTo>
                  <a:lnTo>
                    <a:pt x="4170" y="3403"/>
                  </a:lnTo>
                  <a:cubicBezTo>
                    <a:pt x="4237" y="3703"/>
                    <a:pt x="4270" y="4037"/>
                    <a:pt x="4304" y="4337"/>
                  </a:cubicBezTo>
                  <a:cubicBezTo>
                    <a:pt x="4437" y="5638"/>
                    <a:pt x="4103" y="6071"/>
                    <a:pt x="2235" y="6505"/>
                  </a:cubicBezTo>
                  <a:cubicBezTo>
                    <a:pt x="2235" y="6505"/>
                    <a:pt x="0" y="8006"/>
                    <a:pt x="3303" y="8273"/>
                  </a:cubicBezTo>
                  <a:cubicBezTo>
                    <a:pt x="3336" y="8640"/>
                    <a:pt x="3370" y="8973"/>
                    <a:pt x="3470" y="9340"/>
                  </a:cubicBezTo>
                  <a:cubicBezTo>
                    <a:pt x="3770" y="8940"/>
                    <a:pt x="4137" y="8573"/>
                    <a:pt x="4537" y="8306"/>
                  </a:cubicBezTo>
                  <a:cubicBezTo>
                    <a:pt x="8173" y="8240"/>
                    <a:pt x="8640" y="6572"/>
                    <a:pt x="8640" y="6572"/>
                  </a:cubicBezTo>
                  <a:cubicBezTo>
                    <a:pt x="7239" y="5171"/>
                    <a:pt x="7773" y="2102"/>
                    <a:pt x="8273" y="0"/>
                  </a:cubicBezTo>
                  <a:close/>
                </a:path>
              </a:pathLst>
            </a:custGeom>
            <a:solidFill>
              <a:srgbClr val="CE7A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672;p111">
              <a:extLst>
                <a:ext uri="{FF2B5EF4-FFF2-40B4-BE49-F238E27FC236}">
                  <a16:creationId xmlns:a16="http://schemas.microsoft.com/office/drawing/2014/main" id="{B5FBEA29-C881-F59B-BF14-CEA00312745C}"/>
                </a:ext>
              </a:extLst>
            </p:cNvPr>
            <p:cNvSpPr/>
            <p:nvPr/>
          </p:nvSpPr>
          <p:spPr>
            <a:xfrm>
              <a:off x="7307438" y="2156551"/>
              <a:ext cx="52657" cy="65005"/>
            </a:xfrm>
            <a:custGeom>
              <a:avLst/>
              <a:gdLst/>
              <a:ahLst/>
              <a:cxnLst/>
              <a:rect l="l" t="t" r="r" b="b"/>
              <a:pathLst>
                <a:path w="2369" h="2903" extrusionOk="0">
                  <a:moveTo>
                    <a:pt x="2368" y="1"/>
                  </a:moveTo>
                  <a:lnTo>
                    <a:pt x="0" y="1969"/>
                  </a:lnTo>
                  <a:cubicBezTo>
                    <a:pt x="67" y="2269"/>
                    <a:pt x="100" y="2603"/>
                    <a:pt x="134" y="2903"/>
                  </a:cubicBezTo>
                  <a:cubicBezTo>
                    <a:pt x="1034" y="2736"/>
                    <a:pt x="2202" y="1802"/>
                    <a:pt x="2335" y="901"/>
                  </a:cubicBezTo>
                  <a:cubicBezTo>
                    <a:pt x="2368" y="601"/>
                    <a:pt x="2368" y="301"/>
                    <a:pt x="236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5673;p111">
              <a:extLst>
                <a:ext uri="{FF2B5EF4-FFF2-40B4-BE49-F238E27FC236}">
                  <a16:creationId xmlns:a16="http://schemas.microsoft.com/office/drawing/2014/main" id="{BD9BED8F-81A0-FD64-5186-F4A5729F19D2}"/>
                </a:ext>
              </a:extLst>
            </p:cNvPr>
            <p:cNvSpPr/>
            <p:nvPr/>
          </p:nvSpPr>
          <p:spPr>
            <a:xfrm>
              <a:off x="7082029" y="4259230"/>
              <a:ext cx="84553" cy="162099"/>
            </a:xfrm>
            <a:custGeom>
              <a:avLst/>
              <a:gdLst/>
              <a:ahLst/>
              <a:cxnLst/>
              <a:rect l="l" t="t" r="r" b="b"/>
              <a:pathLst>
                <a:path w="3804" h="7239" extrusionOk="0">
                  <a:moveTo>
                    <a:pt x="3203" y="0"/>
                  </a:moveTo>
                  <a:lnTo>
                    <a:pt x="1" y="334"/>
                  </a:lnTo>
                  <a:lnTo>
                    <a:pt x="434" y="5371"/>
                  </a:lnTo>
                  <a:lnTo>
                    <a:pt x="601" y="7239"/>
                  </a:lnTo>
                  <a:lnTo>
                    <a:pt x="3803" y="6905"/>
                  </a:lnTo>
                  <a:lnTo>
                    <a:pt x="3703" y="5571"/>
                  </a:lnTo>
                  <a:lnTo>
                    <a:pt x="3203" y="0"/>
                  </a:lnTo>
                  <a:close/>
                </a:path>
              </a:pathLst>
            </a:custGeom>
            <a:solidFill>
              <a:srgbClr val="9F5B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5674;p111">
              <a:extLst>
                <a:ext uri="{FF2B5EF4-FFF2-40B4-BE49-F238E27FC236}">
                  <a16:creationId xmlns:a16="http://schemas.microsoft.com/office/drawing/2014/main" id="{1F374C4F-BED5-796A-94C2-61007EAA9911}"/>
                </a:ext>
              </a:extLst>
            </p:cNvPr>
            <p:cNvSpPr/>
            <p:nvPr/>
          </p:nvSpPr>
          <p:spPr>
            <a:xfrm>
              <a:off x="7447560" y="4245033"/>
              <a:ext cx="74907" cy="159860"/>
            </a:xfrm>
            <a:custGeom>
              <a:avLst/>
              <a:gdLst/>
              <a:ahLst/>
              <a:cxnLst/>
              <a:rect l="l" t="t" r="r" b="b"/>
              <a:pathLst>
                <a:path w="3370" h="7139" extrusionOk="0">
                  <a:moveTo>
                    <a:pt x="1" y="0"/>
                  </a:moveTo>
                  <a:lnTo>
                    <a:pt x="67" y="1735"/>
                  </a:lnTo>
                  <a:lnTo>
                    <a:pt x="67" y="1835"/>
                  </a:lnTo>
                  <a:lnTo>
                    <a:pt x="234" y="6338"/>
                  </a:lnTo>
                  <a:lnTo>
                    <a:pt x="234" y="6438"/>
                  </a:lnTo>
                  <a:lnTo>
                    <a:pt x="267" y="7139"/>
                  </a:lnTo>
                  <a:lnTo>
                    <a:pt x="3370" y="7139"/>
                  </a:lnTo>
                  <a:lnTo>
                    <a:pt x="3103" y="0"/>
                  </a:lnTo>
                  <a:close/>
                </a:path>
              </a:pathLst>
            </a:custGeom>
            <a:solidFill>
              <a:srgbClr val="9F5B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5675;p111">
              <a:extLst>
                <a:ext uri="{FF2B5EF4-FFF2-40B4-BE49-F238E27FC236}">
                  <a16:creationId xmlns:a16="http://schemas.microsoft.com/office/drawing/2014/main" id="{ECCDDD25-00FB-9857-C081-1F803C5544EC}"/>
                </a:ext>
              </a:extLst>
            </p:cNvPr>
            <p:cNvSpPr/>
            <p:nvPr/>
          </p:nvSpPr>
          <p:spPr>
            <a:xfrm>
              <a:off x="7082029" y="4259230"/>
              <a:ext cx="82331" cy="124749"/>
            </a:xfrm>
            <a:custGeom>
              <a:avLst/>
              <a:gdLst/>
              <a:ahLst/>
              <a:cxnLst/>
              <a:rect l="l" t="t" r="r" b="b"/>
              <a:pathLst>
                <a:path w="3704" h="5571" extrusionOk="0">
                  <a:moveTo>
                    <a:pt x="3203" y="0"/>
                  </a:moveTo>
                  <a:lnTo>
                    <a:pt x="1" y="334"/>
                  </a:lnTo>
                  <a:lnTo>
                    <a:pt x="434" y="5371"/>
                  </a:lnTo>
                  <a:lnTo>
                    <a:pt x="3703" y="5571"/>
                  </a:lnTo>
                  <a:lnTo>
                    <a:pt x="3203"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5676;p111">
              <a:extLst>
                <a:ext uri="{FF2B5EF4-FFF2-40B4-BE49-F238E27FC236}">
                  <a16:creationId xmlns:a16="http://schemas.microsoft.com/office/drawing/2014/main" id="{CB51F0C5-AF93-0DA6-C63F-3D62974B21BD}"/>
                </a:ext>
              </a:extLst>
            </p:cNvPr>
            <p:cNvSpPr/>
            <p:nvPr/>
          </p:nvSpPr>
          <p:spPr>
            <a:xfrm>
              <a:off x="7449049" y="4289840"/>
              <a:ext cx="72684" cy="106096"/>
            </a:xfrm>
            <a:custGeom>
              <a:avLst/>
              <a:gdLst/>
              <a:ahLst/>
              <a:cxnLst/>
              <a:rect l="l" t="t" r="r" b="b"/>
              <a:pathLst>
                <a:path w="3270" h="4738" extrusionOk="0">
                  <a:moveTo>
                    <a:pt x="0" y="1"/>
                  </a:moveTo>
                  <a:lnTo>
                    <a:pt x="167" y="4337"/>
                  </a:lnTo>
                  <a:lnTo>
                    <a:pt x="3269" y="4738"/>
                  </a:lnTo>
                  <a:lnTo>
                    <a:pt x="3269" y="4604"/>
                  </a:lnTo>
                  <a:lnTo>
                    <a:pt x="3103" y="234"/>
                  </a:ln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5677;p111">
              <a:extLst>
                <a:ext uri="{FF2B5EF4-FFF2-40B4-BE49-F238E27FC236}">
                  <a16:creationId xmlns:a16="http://schemas.microsoft.com/office/drawing/2014/main" id="{62C83C13-5DBD-8BC8-3CD9-13E56FE33D6A}"/>
                </a:ext>
              </a:extLst>
            </p:cNvPr>
            <p:cNvSpPr/>
            <p:nvPr/>
          </p:nvSpPr>
          <p:spPr>
            <a:xfrm>
              <a:off x="7309660" y="4400392"/>
              <a:ext cx="238012" cy="79202"/>
            </a:xfrm>
            <a:custGeom>
              <a:avLst/>
              <a:gdLst/>
              <a:ahLst/>
              <a:cxnLst/>
              <a:rect l="l" t="t" r="r" b="b"/>
              <a:pathLst>
                <a:path w="10708" h="3537" extrusionOk="0">
                  <a:moveTo>
                    <a:pt x="6038" y="1"/>
                  </a:moveTo>
                  <a:cubicBezTo>
                    <a:pt x="5838" y="1"/>
                    <a:pt x="5638" y="67"/>
                    <a:pt x="5504" y="201"/>
                  </a:cubicBezTo>
                  <a:cubicBezTo>
                    <a:pt x="4737" y="868"/>
                    <a:pt x="2936" y="1602"/>
                    <a:pt x="534" y="2136"/>
                  </a:cubicBezTo>
                  <a:cubicBezTo>
                    <a:pt x="0" y="2236"/>
                    <a:pt x="167" y="3537"/>
                    <a:pt x="1468" y="3537"/>
                  </a:cubicBezTo>
                  <a:cubicBezTo>
                    <a:pt x="2769" y="3537"/>
                    <a:pt x="5638" y="3437"/>
                    <a:pt x="6572" y="3437"/>
                  </a:cubicBezTo>
                  <a:cubicBezTo>
                    <a:pt x="8106" y="3437"/>
                    <a:pt x="9007" y="3503"/>
                    <a:pt x="10207" y="3537"/>
                  </a:cubicBezTo>
                  <a:lnTo>
                    <a:pt x="10308" y="3537"/>
                  </a:lnTo>
                  <a:cubicBezTo>
                    <a:pt x="10574" y="3470"/>
                    <a:pt x="10708" y="3236"/>
                    <a:pt x="10674" y="3003"/>
                  </a:cubicBezTo>
                  <a:lnTo>
                    <a:pt x="10041" y="234"/>
                  </a:lnTo>
                  <a:cubicBezTo>
                    <a:pt x="10041" y="101"/>
                    <a:pt x="9907" y="1"/>
                    <a:pt x="9774" y="1"/>
                  </a:cubicBezTo>
                  <a:close/>
                </a:path>
              </a:pathLst>
            </a:custGeom>
            <a:solidFill>
              <a:srgbClr val="FF68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 name="Google Shape;5678;p111">
              <a:extLst>
                <a:ext uri="{FF2B5EF4-FFF2-40B4-BE49-F238E27FC236}">
                  <a16:creationId xmlns:a16="http://schemas.microsoft.com/office/drawing/2014/main" id="{4B210D21-D500-D968-1E96-BBEF50A3CB03}"/>
                </a:ext>
              </a:extLst>
            </p:cNvPr>
            <p:cNvSpPr/>
            <p:nvPr/>
          </p:nvSpPr>
          <p:spPr>
            <a:xfrm>
              <a:off x="6953754" y="4398153"/>
              <a:ext cx="238768" cy="79202"/>
            </a:xfrm>
            <a:custGeom>
              <a:avLst/>
              <a:gdLst/>
              <a:ahLst/>
              <a:cxnLst/>
              <a:rect l="l" t="t" r="r" b="b"/>
              <a:pathLst>
                <a:path w="10742" h="3537" extrusionOk="0">
                  <a:moveTo>
                    <a:pt x="6038" y="1"/>
                  </a:moveTo>
                  <a:cubicBezTo>
                    <a:pt x="5838" y="1"/>
                    <a:pt x="5638" y="67"/>
                    <a:pt x="5505" y="201"/>
                  </a:cubicBezTo>
                  <a:cubicBezTo>
                    <a:pt x="4737" y="868"/>
                    <a:pt x="2936" y="1602"/>
                    <a:pt x="534" y="2136"/>
                  </a:cubicBezTo>
                  <a:cubicBezTo>
                    <a:pt x="1" y="2236"/>
                    <a:pt x="168" y="3537"/>
                    <a:pt x="1468" y="3537"/>
                  </a:cubicBezTo>
                  <a:cubicBezTo>
                    <a:pt x="2769" y="3537"/>
                    <a:pt x="5638" y="3436"/>
                    <a:pt x="6572" y="3436"/>
                  </a:cubicBezTo>
                  <a:cubicBezTo>
                    <a:pt x="8107" y="3436"/>
                    <a:pt x="9007" y="3537"/>
                    <a:pt x="10241" y="3537"/>
                  </a:cubicBezTo>
                  <a:lnTo>
                    <a:pt x="10341" y="3537"/>
                  </a:lnTo>
                  <a:cubicBezTo>
                    <a:pt x="10575" y="3470"/>
                    <a:pt x="10742" y="3236"/>
                    <a:pt x="10675" y="3003"/>
                  </a:cubicBezTo>
                  <a:lnTo>
                    <a:pt x="10075" y="234"/>
                  </a:lnTo>
                  <a:cubicBezTo>
                    <a:pt x="10041" y="101"/>
                    <a:pt x="9941" y="1"/>
                    <a:pt x="9808" y="1"/>
                  </a:cubicBezTo>
                  <a:close/>
                </a:path>
              </a:pathLst>
            </a:custGeom>
            <a:solidFill>
              <a:srgbClr val="FF68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5679;p111">
              <a:extLst>
                <a:ext uri="{FF2B5EF4-FFF2-40B4-BE49-F238E27FC236}">
                  <a16:creationId xmlns:a16="http://schemas.microsoft.com/office/drawing/2014/main" id="{490BF328-893E-06AE-8B66-782F1F0D64A4}"/>
                </a:ext>
              </a:extLst>
            </p:cNvPr>
            <p:cNvSpPr/>
            <p:nvPr/>
          </p:nvSpPr>
          <p:spPr>
            <a:xfrm>
              <a:off x="6997497" y="2840015"/>
              <a:ext cx="533860" cy="1537984"/>
            </a:xfrm>
            <a:custGeom>
              <a:avLst/>
              <a:gdLst/>
              <a:ahLst/>
              <a:cxnLst/>
              <a:rect l="l" t="t" r="r" b="b"/>
              <a:pathLst>
                <a:path w="24018" h="68683" extrusionOk="0">
                  <a:moveTo>
                    <a:pt x="6239" y="0"/>
                  </a:moveTo>
                  <a:cubicBezTo>
                    <a:pt x="4671" y="8306"/>
                    <a:pt x="1" y="41397"/>
                    <a:pt x="3503" y="68283"/>
                  </a:cubicBezTo>
                  <a:lnTo>
                    <a:pt x="8073" y="68283"/>
                  </a:lnTo>
                  <a:cubicBezTo>
                    <a:pt x="8073" y="68283"/>
                    <a:pt x="7840" y="49302"/>
                    <a:pt x="10108" y="32524"/>
                  </a:cubicBezTo>
                  <a:cubicBezTo>
                    <a:pt x="10742" y="27820"/>
                    <a:pt x="11542" y="23684"/>
                    <a:pt x="12610" y="20782"/>
                  </a:cubicBezTo>
                  <a:cubicBezTo>
                    <a:pt x="12977" y="25185"/>
                    <a:pt x="13377" y="29722"/>
                    <a:pt x="13744" y="33524"/>
                  </a:cubicBezTo>
                  <a:cubicBezTo>
                    <a:pt x="13977" y="35860"/>
                    <a:pt x="14244" y="37861"/>
                    <a:pt x="14444" y="39395"/>
                  </a:cubicBezTo>
                  <a:cubicBezTo>
                    <a:pt x="15879" y="49302"/>
                    <a:pt x="19515" y="68683"/>
                    <a:pt x="19515" y="68683"/>
                  </a:cubicBezTo>
                  <a:lnTo>
                    <a:pt x="24018" y="68683"/>
                  </a:lnTo>
                  <a:cubicBezTo>
                    <a:pt x="24018" y="68683"/>
                    <a:pt x="23484" y="50303"/>
                    <a:pt x="22951" y="40596"/>
                  </a:cubicBezTo>
                  <a:cubicBezTo>
                    <a:pt x="22350" y="30022"/>
                    <a:pt x="21516" y="2002"/>
                    <a:pt x="21483" y="0"/>
                  </a:cubicBezTo>
                  <a:close/>
                </a:path>
              </a:pathLst>
            </a:custGeom>
            <a:solidFill>
              <a:srgbClr val="FF68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5680;p111">
              <a:extLst>
                <a:ext uri="{FF2B5EF4-FFF2-40B4-BE49-F238E27FC236}">
                  <a16:creationId xmlns:a16="http://schemas.microsoft.com/office/drawing/2014/main" id="{C31F5C7D-25FB-DB78-73F5-2210B3AA7434}"/>
                </a:ext>
              </a:extLst>
            </p:cNvPr>
            <p:cNvSpPr/>
            <p:nvPr/>
          </p:nvSpPr>
          <p:spPr>
            <a:xfrm>
              <a:off x="7064224" y="4340649"/>
              <a:ext cx="124585" cy="28394"/>
            </a:xfrm>
            <a:custGeom>
              <a:avLst/>
              <a:gdLst/>
              <a:ahLst/>
              <a:cxnLst/>
              <a:rect l="l" t="t" r="r" b="b"/>
              <a:pathLst>
                <a:path w="5605" h="1268" extrusionOk="0">
                  <a:moveTo>
                    <a:pt x="1" y="0"/>
                  </a:moveTo>
                  <a:lnTo>
                    <a:pt x="201" y="1268"/>
                  </a:lnTo>
                  <a:lnTo>
                    <a:pt x="5605" y="1268"/>
                  </a:lnTo>
                  <a:lnTo>
                    <a:pt x="5605" y="100"/>
                  </a:lnTo>
                  <a:lnTo>
                    <a:pt x="1" y="0"/>
                  </a:lnTo>
                  <a:close/>
                </a:path>
              </a:pathLst>
            </a:cu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5681;p111">
              <a:extLst>
                <a:ext uri="{FF2B5EF4-FFF2-40B4-BE49-F238E27FC236}">
                  <a16:creationId xmlns:a16="http://schemas.microsoft.com/office/drawing/2014/main" id="{393FC71C-B7CF-E53F-D88B-15E29BC7EE41}"/>
                </a:ext>
              </a:extLst>
            </p:cNvPr>
            <p:cNvSpPr/>
            <p:nvPr/>
          </p:nvSpPr>
          <p:spPr>
            <a:xfrm>
              <a:off x="7419397" y="4351845"/>
              <a:ext cx="118650" cy="26154"/>
            </a:xfrm>
            <a:custGeom>
              <a:avLst/>
              <a:gdLst/>
              <a:ahLst/>
              <a:cxnLst/>
              <a:rect l="l" t="t" r="r" b="b"/>
              <a:pathLst>
                <a:path w="5338" h="1168" extrusionOk="0">
                  <a:moveTo>
                    <a:pt x="0" y="0"/>
                  </a:moveTo>
                  <a:lnTo>
                    <a:pt x="534" y="1168"/>
                  </a:lnTo>
                  <a:lnTo>
                    <a:pt x="5037" y="1168"/>
                  </a:lnTo>
                  <a:lnTo>
                    <a:pt x="5337" y="0"/>
                  </a:lnTo>
                  <a:close/>
                </a:path>
              </a:pathLst>
            </a:cu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5682;p111">
              <a:extLst>
                <a:ext uri="{FF2B5EF4-FFF2-40B4-BE49-F238E27FC236}">
                  <a16:creationId xmlns:a16="http://schemas.microsoft.com/office/drawing/2014/main" id="{F367D0C2-8B2D-32E2-CA6C-6EA3EA80DE8B}"/>
                </a:ext>
              </a:extLst>
            </p:cNvPr>
            <p:cNvSpPr/>
            <p:nvPr/>
          </p:nvSpPr>
          <p:spPr>
            <a:xfrm>
              <a:off x="7202146" y="1881795"/>
              <a:ext cx="289180" cy="252363"/>
            </a:xfrm>
            <a:custGeom>
              <a:avLst/>
              <a:gdLst/>
              <a:ahLst/>
              <a:cxnLst/>
              <a:rect l="l" t="t" r="r" b="b"/>
              <a:pathLst>
                <a:path w="13010" h="11270" extrusionOk="0">
                  <a:moveTo>
                    <a:pt x="7097" y="0"/>
                  </a:moveTo>
                  <a:cubicBezTo>
                    <a:pt x="6910" y="0"/>
                    <a:pt x="6681" y="63"/>
                    <a:pt x="6405" y="195"/>
                  </a:cubicBezTo>
                  <a:cubicBezTo>
                    <a:pt x="5778" y="509"/>
                    <a:pt x="5580" y="1396"/>
                    <a:pt x="5316" y="1396"/>
                  </a:cubicBezTo>
                  <a:cubicBezTo>
                    <a:pt x="5243" y="1396"/>
                    <a:pt x="5165" y="1329"/>
                    <a:pt x="5071" y="1163"/>
                  </a:cubicBezTo>
                  <a:cubicBezTo>
                    <a:pt x="4773" y="591"/>
                    <a:pt x="4197" y="168"/>
                    <a:pt x="3744" y="168"/>
                  </a:cubicBezTo>
                  <a:cubicBezTo>
                    <a:pt x="3588" y="168"/>
                    <a:pt x="3447" y="218"/>
                    <a:pt x="3336" y="329"/>
                  </a:cubicBezTo>
                  <a:cubicBezTo>
                    <a:pt x="2915" y="718"/>
                    <a:pt x="3155" y="1264"/>
                    <a:pt x="2526" y="1264"/>
                  </a:cubicBezTo>
                  <a:cubicBezTo>
                    <a:pt x="2508" y="1264"/>
                    <a:pt x="2489" y="1264"/>
                    <a:pt x="2469" y="1263"/>
                  </a:cubicBezTo>
                  <a:cubicBezTo>
                    <a:pt x="2460" y="1262"/>
                    <a:pt x="2451" y="1262"/>
                    <a:pt x="2442" y="1262"/>
                  </a:cubicBezTo>
                  <a:cubicBezTo>
                    <a:pt x="1776" y="1262"/>
                    <a:pt x="839" y="2466"/>
                    <a:pt x="1168" y="2664"/>
                  </a:cubicBezTo>
                  <a:cubicBezTo>
                    <a:pt x="1501" y="2864"/>
                    <a:pt x="1468" y="3197"/>
                    <a:pt x="1001" y="3598"/>
                  </a:cubicBezTo>
                  <a:cubicBezTo>
                    <a:pt x="534" y="3965"/>
                    <a:pt x="0" y="4565"/>
                    <a:pt x="601" y="4832"/>
                  </a:cubicBezTo>
                  <a:cubicBezTo>
                    <a:pt x="1201" y="5099"/>
                    <a:pt x="1168" y="5532"/>
                    <a:pt x="1001" y="5733"/>
                  </a:cubicBezTo>
                  <a:cubicBezTo>
                    <a:pt x="805" y="5896"/>
                    <a:pt x="1347" y="6734"/>
                    <a:pt x="2124" y="6734"/>
                  </a:cubicBezTo>
                  <a:cubicBezTo>
                    <a:pt x="2139" y="6734"/>
                    <a:pt x="2154" y="6734"/>
                    <a:pt x="2169" y="6733"/>
                  </a:cubicBezTo>
                  <a:cubicBezTo>
                    <a:pt x="2175" y="6733"/>
                    <a:pt x="2181" y="6733"/>
                    <a:pt x="2187" y="6733"/>
                  </a:cubicBezTo>
                  <a:cubicBezTo>
                    <a:pt x="3057" y="6733"/>
                    <a:pt x="8907" y="11103"/>
                    <a:pt x="8907" y="11103"/>
                  </a:cubicBezTo>
                  <a:cubicBezTo>
                    <a:pt x="8907" y="11103"/>
                    <a:pt x="9265" y="11269"/>
                    <a:pt x="9601" y="11269"/>
                  </a:cubicBezTo>
                  <a:cubicBezTo>
                    <a:pt x="9807" y="11269"/>
                    <a:pt x="10006" y="11206"/>
                    <a:pt x="10108" y="11003"/>
                  </a:cubicBezTo>
                  <a:cubicBezTo>
                    <a:pt x="10408" y="10503"/>
                    <a:pt x="10108" y="9669"/>
                    <a:pt x="10575" y="9502"/>
                  </a:cubicBezTo>
                  <a:cubicBezTo>
                    <a:pt x="11008" y="9369"/>
                    <a:pt x="12009" y="9335"/>
                    <a:pt x="11942" y="8801"/>
                  </a:cubicBezTo>
                  <a:cubicBezTo>
                    <a:pt x="11876" y="8234"/>
                    <a:pt x="11242" y="7801"/>
                    <a:pt x="11675" y="7434"/>
                  </a:cubicBezTo>
                  <a:cubicBezTo>
                    <a:pt x="12109" y="7067"/>
                    <a:pt x="13010" y="6567"/>
                    <a:pt x="12609" y="6133"/>
                  </a:cubicBezTo>
                  <a:cubicBezTo>
                    <a:pt x="12209" y="5699"/>
                    <a:pt x="11842" y="4965"/>
                    <a:pt x="12176" y="4732"/>
                  </a:cubicBezTo>
                  <a:cubicBezTo>
                    <a:pt x="12498" y="4474"/>
                    <a:pt x="12103" y="3093"/>
                    <a:pt x="11293" y="3093"/>
                  </a:cubicBezTo>
                  <a:cubicBezTo>
                    <a:pt x="11265" y="3093"/>
                    <a:pt x="11237" y="3094"/>
                    <a:pt x="11208" y="3097"/>
                  </a:cubicBezTo>
                  <a:cubicBezTo>
                    <a:pt x="11170" y="3100"/>
                    <a:pt x="11133" y="3102"/>
                    <a:pt x="11098" y="3102"/>
                  </a:cubicBezTo>
                  <a:cubicBezTo>
                    <a:pt x="10353" y="3102"/>
                    <a:pt x="10476" y="2435"/>
                    <a:pt x="10508" y="1830"/>
                  </a:cubicBezTo>
                  <a:cubicBezTo>
                    <a:pt x="10508" y="1397"/>
                    <a:pt x="9902" y="1011"/>
                    <a:pt x="9422" y="1011"/>
                  </a:cubicBezTo>
                  <a:cubicBezTo>
                    <a:pt x="9198" y="1011"/>
                    <a:pt x="9002" y="1095"/>
                    <a:pt x="8907" y="1296"/>
                  </a:cubicBezTo>
                  <a:cubicBezTo>
                    <a:pt x="8829" y="1461"/>
                    <a:pt x="8726" y="1529"/>
                    <a:pt x="8612" y="1529"/>
                  </a:cubicBezTo>
                  <a:cubicBezTo>
                    <a:pt x="8291" y="1529"/>
                    <a:pt x="7887" y="982"/>
                    <a:pt x="7739" y="562"/>
                  </a:cubicBezTo>
                  <a:cubicBezTo>
                    <a:pt x="7633" y="199"/>
                    <a:pt x="7430" y="0"/>
                    <a:pt x="7097" y="0"/>
                  </a:cubicBezTo>
                  <a:close/>
                </a:path>
              </a:pathLst>
            </a:custGeom>
            <a:solidFill>
              <a:srgbClr val="FF68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5683;p111">
              <a:extLst>
                <a:ext uri="{FF2B5EF4-FFF2-40B4-BE49-F238E27FC236}">
                  <a16:creationId xmlns:a16="http://schemas.microsoft.com/office/drawing/2014/main" id="{52B5787C-63EB-2172-0522-53ECEE577D68}"/>
                </a:ext>
              </a:extLst>
            </p:cNvPr>
            <p:cNvSpPr/>
            <p:nvPr/>
          </p:nvSpPr>
          <p:spPr>
            <a:xfrm>
              <a:off x="7206591" y="1954123"/>
              <a:ext cx="114205" cy="134691"/>
            </a:xfrm>
            <a:custGeom>
              <a:avLst/>
              <a:gdLst/>
              <a:ahLst/>
              <a:cxnLst/>
              <a:rect l="l" t="t" r="r" b="b"/>
              <a:pathLst>
                <a:path w="5138" h="6015" extrusionOk="0">
                  <a:moveTo>
                    <a:pt x="1568" y="1"/>
                  </a:moveTo>
                  <a:cubicBezTo>
                    <a:pt x="1568" y="1"/>
                    <a:pt x="1" y="3670"/>
                    <a:pt x="1668" y="5672"/>
                  </a:cubicBezTo>
                  <a:cubicBezTo>
                    <a:pt x="1870" y="5910"/>
                    <a:pt x="2074" y="6015"/>
                    <a:pt x="2277" y="6015"/>
                  </a:cubicBezTo>
                  <a:cubicBezTo>
                    <a:pt x="3746" y="6015"/>
                    <a:pt x="5138" y="501"/>
                    <a:pt x="5138" y="501"/>
                  </a:cubicBezTo>
                  <a:lnTo>
                    <a:pt x="1568" y="1"/>
                  </a:lnTo>
                  <a:close/>
                </a:path>
              </a:pathLst>
            </a:custGeom>
            <a:solidFill>
              <a:srgbClr val="FF68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5684;p111">
              <a:extLst>
                <a:ext uri="{FF2B5EF4-FFF2-40B4-BE49-F238E27FC236}">
                  <a16:creationId xmlns:a16="http://schemas.microsoft.com/office/drawing/2014/main" id="{9AA0E622-749F-8829-42F3-280BB2E51C37}"/>
                </a:ext>
              </a:extLst>
            </p:cNvPr>
            <p:cNvSpPr/>
            <p:nvPr/>
          </p:nvSpPr>
          <p:spPr>
            <a:xfrm>
              <a:off x="7211793" y="1951481"/>
              <a:ext cx="199536" cy="251401"/>
            </a:xfrm>
            <a:custGeom>
              <a:avLst/>
              <a:gdLst/>
              <a:ahLst/>
              <a:cxnLst/>
              <a:rect l="l" t="t" r="r" b="b"/>
              <a:pathLst>
                <a:path w="8977" h="11227" extrusionOk="0">
                  <a:moveTo>
                    <a:pt x="4764" y="0"/>
                  </a:moveTo>
                  <a:cubicBezTo>
                    <a:pt x="4374" y="0"/>
                    <a:pt x="3972" y="59"/>
                    <a:pt x="3569" y="186"/>
                  </a:cubicBezTo>
                  <a:cubicBezTo>
                    <a:pt x="734" y="1120"/>
                    <a:pt x="0" y="5289"/>
                    <a:pt x="400" y="7858"/>
                  </a:cubicBezTo>
                  <a:cubicBezTo>
                    <a:pt x="434" y="8025"/>
                    <a:pt x="467" y="8158"/>
                    <a:pt x="500" y="8291"/>
                  </a:cubicBezTo>
                  <a:cubicBezTo>
                    <a:pt x="767" y="9259"/>
                    <a:pt x="1401" y="10126"/>
                    <a:pt x="2268" y="10660"/>
                  </a:cubicBezTo>
                  <a:cubicBezTo>
                    <a:pt x="2851" y="11038"/>
                    <a:pt x="3516" y="11226"/>
                    <a:pt x="4183" y="11226"/>
                  </a:cubicBezTo>
                  <a:cubicBezTo>
                    <a:pt x="5044" y="11226"/>
                    <a:pt x="5909" y="10913"/>
                    <a:pt x="6605" y="10293"/>
                  </a:cubicBezTo>
                  <a:cubicBezTo>
                    <a:pt x="8106" y="8992"/>
                    <a:pt x="8206" y="7324"/>
                    <a:pt x="8606" y="4489"/>
                  </a:cubicBezTo>
                  <a:cubicBezTo>
                    <a:pt x="8977" y="2037"/>
                    <a:pt x="7058" y="0"/>
                    <a:pt x="4764" y="0"/>
                  </a:cubicBezTo>
                  <a:close/>
                </a:path>
              </a:pathLst>
            </a:custGeom>
            <a:solidFill>
              <a:srgbClr val="CE7A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5685;p111">
              <a:extLst>
                <a:ext uri="{FF2B5EF4-FFF2-40B4-BE49-F238E27FC236}">
                  <a16:creationId xmlns:a16="http://schemas.microsoft.com/office/drawing/2014/main" id="{56170F8B-FC25-D75C-9445-FCC445AA1488}"/>
                </a:ext>
              </a:extLst>
            </p:cNvPr>
            <p:cNvSpPr/>
            <p:nvPr/>
          </p:nvSpPr>
          <p:spPr>
            <a:xfrm>
              <a:off x="7293345" y="2052628"/>
              <a:ext cx="13359" cy="18787"/>
            </a:xfrm>
            <a:custGeom>
              <a:avLst/>
              <a:gdLst/>
              <a:ahLst/>
              <a:cxnLst/>
              <a:rect l="l" t="t" r="r" b="b"/>
              <a:pathLst>
                <a:path w="601" h="839" extrusionOk="0">
                  <a:moveTo>
                    <a:pt x="292" y="1"/>
                  </a:moveTo>
                  <a:cubicBezTo>
                    <a:pt x="145" y="1"/>
                    <a:pt x="34" y="158"/>
                    <a:pt x="34" y="372"/>
                  </a:cubicBezTo>
                  <a:cubicBezTo>
                    <a:pt x="0" y="605"/>
                    <a:pt x="100" y="806"/>
                    <a:pt x="267" y="839"/>
                  </a:cubicBezTo>
                  <a:cubicBezTo>
                    <a:pt x="434" y="839"/>
                    <a:pt x="567" y="672"/>
                    <a:pt x="567" y="439"/>
                  </a:cubicBezTo>
                  <a:cubicBezTo>
                    <a:pt x="601" y="205"/>
                    <a:pt x="467" y="5"/>
                    <a:pt x="334" y="5"/>
                  </a:cubicBezTo>
                  <a:cubicBezTo>
                    <a:pt x="320" y="2"/>
                    <a:pt x="306" y="1"/>
                    <a:pt x="292"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5686;p111">
              <a:extLst>
                <a:ext uri="{FF2B5EF4-FFF2-40B4-BE49-F238E27FC236}">
                  <a16:creationId xmlns:a16="http://schemas.microsoft.com/office/drawing/2014/main" id="{810A867F-5FFF-D27E-ADDB-49BE540B9C53}"/>
                </a:ext>
              </a:extLst>
            </p:cNvPr>
            <p:cNvSpPr/>
            <p:nvPr/>
          </p:nvSpPr>
          <p:spPr>
            <a:xfrm>
              <a:off x="7235509" y="2047500"/>
              <a:ext cx="13359" cy="18787"/>
            </a:xfrm>
            <a:custGeom>
              <a:avLst/>
              <a:gdLst/>
              <a:ahLst/>
              <a:cxnLst/>
              <a:rect l="l" t="t" r="r" b="b"/>
              <a:pathLst>
                <a:path w="601" h="839" extrusionOk="0">
                  <a:moveTo>
                    <a:pt x="334" y="0"/>
                  </a:moveTo>
                  <a:cubicBezTo>
                    <a:pt x="167" y="0"/>
                    <a:pt x="34" y="167"/>
                    <a:pt x="34" y="401"/>
                  </a:cubicBezTo>
                  <a:cubicBezTo>
                    <a:pt x="0" y="634"/>
                    <a:pt x="101" y="834"/>
                    <a:pt x="267" y="834"/>
                  </a:cubicBezTo>
                  <a:cubicBezTo>
                    <a:pt x="277" y="837"/>
                    <a:pt x="287" y="838"/>
                    <a:pt x="297" y="838"/>
                  </a:cubicBezTo>
                  <a:cubicBezTo>
                    <a:pt x="425" y="838"/>
                    <a:pt x="568" y="653"/>
                    <a:pt x="568" y="467"/>
                  </a:cubicBezTo>
                  <a:cubicBezTo>
                    <a:pt x="601" y="234"/>
                    <a:pt x="467" y="34"/>
                    <a:pt x="334"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5687;p111">
              <a:extLst>
                <a:ext uri="{FF2B5EF4-FFF2-40B4-BE49-F238E27FC236}">
                  <a16:creationId xmlns:a16="http://schemas.microsoft.com/office/drawing/2014/main" id="{85ACF2E9-2F27-D2B0-6761-139FE3C7DE21}"/>
                </a:ext>
              </a:extLst>
            </p:cNvPr>
            <p:cNvSpPr/>
            <p:nvPr/>
          </p:nvSpPr>
          <p:spPr>
            <a:xfrm>
              <a:off x="7238466" y="2061697"/>
              <a:ext cx="28207" cy="49017"/>
            </a:xfrm>
            <a:custGeom>
              <a:avLst/>
              <a:gdLst/>
              <a:ahLst/>
              <a:cxnLst/>
              <a:rect l="l" t="t" r="r" b="b"/>
              <a:pathLst>
                <a:path w="1269" h="2189" extrusionOk="0">
                  <a:moveTo>
                    <a:pt x="1268" y="0"/>
                  </a:moveTo>
                  <a:lnTo>
                    <a:pt x="1268" y="0"/>
                  </a:lnTo>
                  <a:cubicBezTo>
                    <a:pt x="935" y="667"/>
                    <a:pt x="501" y="1301"/>
                    <a:pt x="1" y="1868"/>
                  </a:cubicBezTo>
                  <a:cubicBezTo>
                    <a:pt x="241" y="2082"/>
                    <a:pt x="545" y="2189"/>
                    <a:pt x="862" y="2189"/>
                  </a:cubicBezTo>
                  <a:cubicBezTo>
                    <a:pt x="942" y="2189"/>
                    <a:pt x="1022" y="2182"/>
                    <a:pt x="1102" y="2168"/>
                  </a:cubicBezTo>
                  <a:lnTo>
                    <a:pt x="1268" y="0"/>
                  </a:lnTo>
                  <a:close/>
                </a:path>
              </a:pathLst>
            </a:custGeom>
            <a:solidFill>
              <a:srgbClr val="BA4D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5688;p111">
              <a:extLst>
                <a:ext uri="{FF2B5EF4-FFF2-40B4-BE49-F238E27FC236}">
                  <a16:creationId xmlns:a16="http://schemas.microsoft.com/office/drawing/2014/main" id="{4A6237BA-94FF-D59E-B6A7-C0E6DAB16C46}"/>
                </a:ext>
              </a:extLst>
            </p:cNvPr>
            <p:cNvSpPr/>
            <p:nvPr/>
          </p:nvSpPr>
          <p:spPr>
            <a:xfrm>
              <a:off x="7226618" y="2022017"/>
              <a:ext cx="32074" cy="10390"/>
            </a:xfrm>
            <a:custGeom>
              <a:avLst/>
              <a:gdLst/>
              <a:ahLst/>
              <a:cxnLst/>
              <a:rect l="l" t="t" r="r" b="b"/>
              <a:pathLst>
                <a:path w="1443" h="464" extrusionOk="0">
                  <a:moveTo>
                    <a:pt x="778" y="0"/>
                  </a:moveTo>
                  <a:cubicBezTo>
                    <a:pt x="529" y="0"/>
                    <a:pt x="281" y="68"/>
                    <a:pt x="67" y="204"/>
                  </a:cubicBezTo>
                  <a:cubicBezTo>
                    <a:pt x="34" y="271"/>
                    <a:pt x="0" y="338"/>
                    <a:pt x="34" y="405"/>
                  </a:cubicBezTo>
                  <a:cubicBezTo>
                    <a:pt x="34" y="405"/>
                    <a:pt x="67" y="438"/>
                    <a:pt x="100" y="438"/>
                  </a:cubicBezTo>
                  <a:cubicBezTo>
                    <a:pt x="117" y="455"/>
                    <a:pt x="134" y="463"/>
                    <a:pt x="154" y="463"/>
                  </a:cubicBezTo>
                  <a:cubicBezTo>
                    <a:pt x="175" y="463"/>
                    <a:pt x="200" y="455"/>
                    <a:pt x="234" y="438"/>
                  </a:cubicBezTo>
                  <a:cubicBezTo>
                    <a:pt x="400" y="334"/>
                    <a:pt x="606" y="282"/>
                    <a:pt x="819" y="282"/>
                  </a:cubicBezTo>
                  <a:cubicBezTo>
                    <a:pt x="946" y="282"/>
                    <a:pt x="1076" y="300"/>
                    <a:pt x="1201" y="338"/>
                  </a:cubicBezTo>
                  <a:cubicBezTo>
                    <a:pt x="1227" y="353"/>
                    <a:pt x="1251" y="360"/>
                    <a:pt x="1273" y="360"/>
                  </a:cubicBezTo>
                  <a:cubicBezTo>
                    <a:pt x="1392" y="360"/>
                    <a:pt x="1442" y="161"/>
                    <a:pt x="1301" y="104"/>
                  </a:cubicBezTo>
                  <a:cubicBezTo>
                    <a:pt x="1134" y="35"/>
                    <a:pt x="956" y="0"/>
                    <a:pt x="778"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5689;p111">
              <a:extLst>
                <a:ext uri="{FF2B5EF4-FFF2-40B4-BE49-F238E27FC236}">
                  <a16:creationId xmlns:a16="http://schemas.microsoft.com/office/drawing/2014/main" id="{C612268A-F9E8-BD3E-F96D-F9F497AA50C3}"/>
                </a:ext>
              </a:extLst>
            </p:cNvPr>
            <p:cNvSpPr/>
            <p:nvPr/>
          </p:nvSpPr>
          <p:spPr>
            <a:xfrm>
              <a:off x="7292590" y="2025734"/>
              <a:ext cx="29696" cy="14309"/>
            </a:xfrm>
            <a:custGeom>
              <a:avLst/>
              <a:gdLst/>
              <a:ahLst/>
              <a:cxnLst/>
              <a:rect l="l" t="t" r="r" b="b"/>
              <a:pathLst>
                <a:path w="1336" h="639" extrusionOk="0">
                  <a:moveTo>
                    <a:pt x="230" y="0"/>
                  </a:moveTo>
                  <a:cubicBezTo>
                    <a:pt x="187" y="0"/>
                    <a:pt x="144" y="2"/>
                    <a:pt x="101" y="5"/>
                  </a:cubicBezTo>
                  <a:cubicBezTo>
                    <a:pt x="34" y="38"/>
                    <a:pt x="1" y="105"/>
                    <a:pt x="1" y="172"/>
                  </a:cubicBezTo>
                  <a:cubicBezTo>
                    <a:pt x="26" y="247"/>
                    <a:pt x="70" y="285"/>
                    <a:pt x="118" y="285"/>
                  </a:cubicBezTo>
                  <a:cubicBezTo>
                    <a:pt x="134" y="285"/>
                    <a:pt x="151" y="280"/>
                    <a:pt x="168" y="272"/>
                  </a:cubicBezTo>
                  <a:cubicBezTo>
                    <a:pt x="201" y="269"/>
                    <a:pt x="235" y="267"/>
                    <a:pt x="269" y="267"/>
                  </a:cubicBezTo>
                  <a:cubicBezTo>
                    <a:pt x="568" y="267"/>
                    <a:pt x="862" y="399"/>
                    <a:pt x="1102" y="639"/>
                  </a:cubicBezTo>
                  <a:lnTo>
                    <a:pt x="1269" y="639"/>
                  </a:lnTo>
                  <a:cubicBezTo>
                    <a:pt x="1335" y="572"/>
                    <a:pt x="1335" y="505"/>
                    <a:pt x="1269" y="439"/>
                  </a:cubicBezTo>
                  <a:cubicBezTo>
                    <a:pt x="998" y="138"/>
                    <a:pt x="619" y="0"/>
                    <a:pt x="230"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5690;p111">
              <a:extLst>
                <a:ext uri="{FF2B5EF4-FFF2-40B4-BE49-F238E27FC236}">
                  <a16:creationId xmlns:a16="http://schemas.microsoft.com/office/drawing/2014/main" id="{8E33ECF3-0E99-7AF6-9638-84CC01726B67}"/>
                </a:ext>
              </a:extLst>
            </p:cNvPr>
            <p:cNvSpPr/>
            <p:nvPr/>
          </p:nvSpPr>
          <p:spPr>
            <a:xfrm>
              <a:off x="7351181" y="1969059"/>
              <a:ext cx="89732" cy="173139"/>
            </a:xfrm>
            <a:custGeom>
              <a:avLst/>
              <a:gdLst/>
              <a:ahLst/>
              <a:cxnLst/>
              <a:rect l="l" t="t" r="r" b="b"/>
              <a:pathLst>
                <a:path w="4037" h="7732" extrusionOk="0">
                  <a:moveTo>
                    <a:pt x="534" y="1"/>
                  </a:moveTo>
                  <a:lnTo>
                    <a:pt x="200" y="501"/>
                  </a:lnTo>
                  <a:cubicBezTo>
                    <a:pt x="1101" y="935"/>
                    <a:pt x="801" y="2002"/>
                    <a:pt x="534" y="2469"/>
                  </a:cubicBezTo>
                  <a:cubicBezTo>
                    <a:pt x="0" y="3437"/>
                    <a:pt x="400" y="5138"/>
                    <a:pt x="1101" y="5905"/>
                  </a:cubicBezTo>
                  <a:cubicBezTo>
                    <a:pt x="1101" y="5905"/>
                    <a:pt x="1173" y="5569"/>
                    <a:pt x="1419" y="5569"/>
                  </a:cubicBezTo>
                  <a:cubicBezTo>
                    <a:pt x="1463" y="5569"/>
                    <a:pt x="1512" y="5580"/>
                    <a:pt x="1568" y="5605"/>
                  </a:cubicBezTo>
                  <a:cubicBezTo>
                    <a:pt x="1935" y="5738"/>
                    <a:pt x="1568" y="7673"/>
                    <a:pt x="1568" y="7673"/>
                  </a:cubicBezTo>
                  <a:cubicBezTo>
                    <a:pt x="1568" y="7673"/>
                    <a:pt x="1599" y="7731"/>
                    <a:pt x="1673" y="7731"/>
                  </a:cubicBezTo>
                  <a:cubicBezTo>
                    <a:pt x="1829" y="7731"/>
                    <a:pt x="2178" y="7470"/>
                    <a:pt x="2836" y="5838"/>
                  </a:cubicBezTo>
                  <a:cubicBezTo>
                    <a:pt x="3703" y="3637"/>
                    <a:pt x="4036" y="1736"/>
                    <a:pt x="3669" y="802"/>
                  </a:cubicBezTo>
                  <a:lnTo>
                    <a:pt x="534" y="1"/>
                  </a:lnTo>
                  <a:close/>
                </a:path>
              </a:pathLst>
            </a:custGeom>
            <a:solidFill>
              <a:srgbClr val="FF68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5691;p111">
              <a:extLst>
                <a:ext uri="{FF2B5EF4-FFF2-40B4-BE49-F238E27FC236}">
                  <a16:creationId xmlns:a16="http://schemas.microsoft.com/office/drawing/2014/main" id="{596BE16B-6A32-2B9A-EFAF-DF43F2D62D14}"/>
                </a:ext>
              </a:extLst>
            </p:cNvPr>
            <p:cNvSpPr/>
            <p:nvPr/>
          </p:nvSpPr>
          <p:spPr>
            <a:xfrm>
              <a:off x="7360095" y="2063667"/>
              <a:ext cx="77107" cy="71387"/>
            </a:xfrm>
            <a:custGeom>
              <a:avLst/>
              <a:gdLst/>
              <a:ahLst/>
              <a:cxnLst/>
              <a:rect l="l" t="t" r="r" b="b"/>
              <a:pathLst>
                <a:path w="3469" h="3188" extrusionOk="0">
                  <a:moveTo>
                    <a:pt x="2037" y="1"/>
                  </a:moveTo>
                  <a:cubicBezTo>
                    <a:pt x="1178" y="1"/>
                    <a:pt x="486" y="958"/>
                    <a:pt x="266" y="1680"/>
                  </a:cubicBezTo>
                  <a:cubicBezTo>
                    <a:pt x="1" y="2447"/>
                    <a:pt x="309" y="3188"/>
                    <a:pt x="1030" y="3188"/>
                  </a:cubicBezTo>
                  <a:cubicBezTo>
                    <a:pt x="1124" y="3188"/>
                    <a:pt x="1226" y="3175"/>
                    <a:pt x="1334" y="3148"/>
                  </a:cubicBezTo>
                  <a:cubicBezTo>
                    <a:pt x="2034" y="2948"/>
                    <a:pt x="2601" y="2514"/>
                    <a:pt x="2968" y="1880"/>
                  </a:cubicBezTo>
                  <a:cubicBezTo>
                    <a:pt x="3469" y="1146"/>
                    <a:pt x="3068" y="179"/>
                    <a:pt x="2201" y="12"/>
                  </a:cubicBezTo>
                  <a:cubicBezTo>
                    <a:pt x="2146" y="4"/>
                    <a:pt x="2091" y="1"/>
                    <a:pt x="2037" y="1"/>
                  </a:cubicBezTo>
                  <a:close/>
                </a:path>
              </a:pathLst>
            </a:custGeom>
            <a:solidFill>
              <a:srgbClr val="CE7A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5692;p111">
              <a:extLst>
                <a:ext uri="{FF2B5EF4-FFF2-40B4-BE49-F238E27FC236}">
                  <a16:creationId xmlns:a16="http://schemas.microsoft.com/office/drawing/2014/main" id="{B8BC1B06-D1F1-AF35-60A4-3567B79F888C}"/>
                </a:ext>
              </a:extLst>
            </p:cNvPr>
            <p:cNvSpPr/>
            <p:nvPr/>
          </p:nvSpPr>
          <p:spPr>
            <a:xfrm>
              <a:off x="7265917" y="2101287"/>
              <a:ext cx="49701" cy="46330"/>
            </a:xfrm>
            <a:custGeom>
              <a:avLst/>
              <a:gdLst/>
              <a:ahLst/>
              <a:cxnLst/>
              <a:rect l="l" t="t" r="r" b="b"/>
              <a:pathLst>
                <a:path w="2236" h="2069" extrusionOk="0">
                  <a:moveTo>
                    <a:pt x="2068" y="0"/>
                  </a:moveTo>
                  <a:cubicBezTo>
                    <a:pt x="1535" y="400"/>
                    <a:pt x="934" y="701"/>
                    <a:pt x="300" y="868"/>
                  </a:cubicBezTo>
                  <a:cubicBezTo>
                    <a:pt x="100" y="934"/>
                    <a:pt x="0" y="968"/>
                    <a:pt x="0" y="968"/>
                  </a:cubicBezTo>
                  <a:cubicBezTo>
                    <a:pt x="200" y="1335"/>
                    <a:pt x="400" y="1668"/>
                    <a:pt x="567" y="2068"/>
                  </a:cubicBezTo>
                  <a:lnTo>
                    <a:pt x="767" y="2002"/>
                  </a:lnTo>
                  <a:cubicBezTo>
                    <a:pt x="1701" y="1735"/>
                    <a:pt x="2068" y="1301"/>
                    <a:pt x="2168" y="901"/>
                  </a:cubicBezTo>
                  <a:cubicBezTo>
                    <a:pt x="2235" y="701"/>
                    <a:pt x="2235" y="501"/>
                    <a:pt x="2168" y="300"/>
                  </a:cubicBezTo>
                  <a:cubicBezTo>
                    <a:pt x="2135" y="200"/>
                    <a:pt x="2102" y="100"/>
                    <a:pt x="2068"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5693;p111">
              <a:extLst>
                <a:ext uri="{FF2B5EF4-FFF2-40B4-BE49-F238E27FC236}">
                  <a16:creationId xmlns:a16="http://schemas.microsoft.com/office/drawing/2014/main" id="{3D083911-5EB9-19C1-F312-8EE29F939D51}"/>
                </a:ext>
              </a:extLst>
            </p:cNvPr>
            <p:cNvSpPr/>
            <p:nvPr/>
          </p:nvSpPr>
          <p:spPr>
            <a:xfrm>
              <a:off x="7272585" y="2101287"/>
              <a:ext cx="41543" cy="26916"/>
            </a:xfrm>
            <a:custGeom>
              <a:avLst/>
              <a:gdLst/>
              <a:ahLst/>
              <a:cxnLst/>
              <a:rect l="l" t="t" r="r" b="b"/>
              <a:pathLst>
                <a:path w="1869" h="1202" extrusionOk="0">
                  <a:moveTo>
                    <a:pt x="1735" y="0"/>
                  </a:moveTo>
                  <a:cubicBezTo>
                    <a:pt x="1235" y="400"/>
                    <a:pt x="634" y="701"/>
                    <a:pt x="0" y="868"/>
                  </a:cubicBezTo>
                  <a:lnTo>
                    <a:pt x="167" y="1201"/>
                  </a:lnTo>
                  <a:cubicBezTo>
                    <a:pt x="1068" y="934"/>
                    <a:pt x="1668" y="667"/>
                    <a:pt x="1868" y="300"/>
                  </a:cubicBezTo>
                  <a:cubicBezTo>
                    <a:pt x="1835" y="200"/>
                    <a:pt x="1802" y="100"/>
                    <a:pt x="173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5694;p111">
              <a:extLst>
                <a:ext uri="{FF2B5EF4-FFF2-40B4-BE49-F238E27FC236}">
                  <a16:creationId xmlns:a16="http://schemas.microsoft.com/office/drawing/2014/main" id="{845A0C8D-1148-E89B-04A8-02000B3F925F}"/>
                </a:ext>
              </a:extLst>
            </p:cNvPr>
            <p:cNvSpPr/>
            <p:nvPr/>
          </p:nvSpPr>
          <p:spPr>
            <a:xfrm>
              <a:off x="7282965" y="2121440"/>
              <a:ext cx="31163" cy="24677"/>
            </a:xfrm>
            <a:custGeom>
              <a:avLst/>
              <a:gdLst/>
              <a:ahLst/>
              <a:cxnLst/>
              <a:rect l="l" t="t" r="r" b="b"/>
              <a:pathLst>
                <a:path w="1402" h="1102" extrusionOk="0">
                  <a:moveTo>
                    <a:pt x="1401" y="1"/>
                  </a:moveTo>
                  <a:cubicBezTo>
                    <a:pt x="1034" y="101"/>
                    <a:pt x="701" y="268"/>
                    <a:pt x="401" y="501"/>
                  </a:cubicBezTo>
                  <a:cubicBezTo>
                    <a:pt x="200" y="668"/>
                    <a:pt x="67" y="868"/>
                    <a:pt x="0" y="1102"/>
                  </a:cubicBezTo>
                  <a:cubicBezTo>
                    <a:pt x="934" y="835"/>
                    <a:pt x="1301" y="401"/>
                    <a:pt x="1401" y="1"/>
                  </a:cubicBezTo>
                  <a:close/>
                </a:path>
              </a:pathLst>
            </a:custGeom>
            <a:solidFill>
              <a:srgbClr val="FF68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5695;p111">
              <a:extLst>
                <a:ext uri="{FF2B5EF4-FFF2-40B4-BE49-F238E27FC236}">
                  <a16:creationId xmlns:a16="http://schemas.microsoft.com/office/drawing/2014/main" id="{B38DC029-9F3F-0D2E-A7ED-EAC0B660FFDE}"/>
                </a:ext>
              </a:extLst>
            </p:cNvPr>
            <p:cNvSpPr/>
            <p:nvPr/>
          </p:nvSpPr>
          <p:spPr>
            <a:xfrm>
              <a:off x="7236999" y="1928618"/>
              <a:ext cx="180598" cy="72171"/>
            </a:xfrm>
            <a:custGeom>
              <a:avLst/>
              <a:gdLst/>
              <a:ahLst/>
              <a:cxnLst/>
              <a:rect l="l" t="t" r="r" b="b"/>
              <a:pathLst>
                <a:path w="8125" h="3223" extrusionOk="0">
                  <a:moveTo>
                    <a:pt x="4447" y="0"/>
                  </a:moveTo>
                  <a:cubicBezTo>
                    <a:pt x="4156" y="0"/>
                    <a:pt x="3871" y="43"/>
                    <a:pt x="3603" y="139"/>
                  </a:cubicBezTo>
                  <a:cubicBezTo>
                    <a:pt x="3603" y="139"/>
                    <a:pt x="2068" y="139"/>
                    <a:pt x="1301" y="773"/>
                  </a:cubicBezTo>
                  <a:cubicBezTo>
                    <a:pt x="534" y="1407"/>
                    <a:pt x="0" y="2407"/>
                    <a:pt x="267" y="2507"/>
                  </a:cubicBezTo>
                  <a:cubicBezTo>
                    <a:pt x="289" y="2512"/>
                    <a:pt x="313" y="2515"/>
                    <a:pt x="339" y="2515"/>
                  </a:cubicBezTo>
                  <a:cubicBezTo>
                    <a:pt x="641" y="2515"/>
                    <a:pt x="1229" y="2226"/>
                    <a:pt x="1487" y="2226"/>
                  </a:cubicBezTo>
                  <a:cubicBezTo>
                    <a:pt x="1520" y="2226"/>
                    <a:pt x="1547" y="2230"/>
                    <a:pt x="1568" y="2241"/>
                  </a:cubicBezTo>
                  <a:cubicBezTo>
                    <a:pt x="1740" y="2326"/>
                    <a:pt x="1764" y="3223"/>
                    <a:pt x="2252" y="3223"/>
                  </a:cubicBezTo>
                  <a:cubicBezTo>
                    <a:pt x="2333" y="3223"/>
                    <a:pt x="2426" y="3198"/>
                    <a:pt x="2535" y="3141"/>
                  </a:cubicBezTo>
                  <a:cubicBezTo>
                    <a:pt x="3303" y="2708"/>
                    <a:pt x="2869" y="2708"/>
                    <a:pt x="3503" y="2574"/>
                  </a:cubicBezTo>
                  <a:cubicBezTo>
                    <a:pt x="3565" y="2558"/>
                    <a:pt x="3625" y="2550"/>
                    <a:pt x="3682" y="2550"/>
                  </a:cubicBezTo>
                  <a:cubicBezTo>
                    <a:pt x="4195" y="2550"/>
                    <a:pt x="4514" y="3142"/>
                    <a:pt x="4753" y="3142"/>
                  </a:cubicBezTo>
                  <a:cubicBezTo>
                    <a:pt x="4759" y="3142"/>
                    <a:pt x="4765" y="3142"/>
                    <a:pt x="4770" y="3141"/>
                  </a:cubicBezTo>
                  <a:cubicBezTo>
                    <a:pt x="4970" y="3075"/>
                    <a:pt x="5137" y="3008"/>
                    <a:pt x="5304" y="2874"/>
                  </a:cubicBezTo>
                  <a:cubicBezTo>
                    <a:pt x="5304" y="2874"/>
                    <a:pt x="4470" y="2608"/>
                    <a:pt x="4437" y="2341"/>
                  </a:cubicBezTo>
                  <a:cubicBezTo>
                    <a:pt x="4370" y="2074"/>
                    <a:pt x="3603" y="1907"/>
                    <a:pt x="3603" y="1907"/>
                  </a:cubicBezTo>
                  <a:cubicBezTo>
                    <a:pt x="3603" y="1907"/>
                    <a:pt x="4063" y="1748"/>
                    <a:pt x="4458" y="1748"/>
                  </a:cubicBezTo>
                  <a:cubicBezTo>
                    <a:pt x="4636" y="1748"/>
                    <a:pt x="4800" y="1781"/>
                    <a:pt x="4904" y="1874"/>
                  </a:cubicBezTo>
                  <a:cubicBezTo>
                    <a:pt x="5204" y="2141"/>
                    <a:pt x="5037" y="2741"/>
                    <a:pt x="5838" y="2741"/>
                  </a:cubicBezTo>
                  <a:cubicBezTo>
                    <a:pt x="5856" y="2740"/>
                    <a:pt x="5874" y="2740"/>
                    <a:pt x="5893" y="2740"/>
                  </a:cubicBezTo>
                  <a:cubicBezTo>
                    <a:pt x="6352" y="2740"/>
                    <a:pt x="6947" y="2963"/>
                    <a:pt x="7396" y="2963"/>
                  </a:cubicBezTo>
                  <a:cubicBezTo>
                    <a:pt x="7730" y="2963"/>
                    <a:pt x="7984" y="2839"/>
                    <a:pt x="8039" y="2407"/>
                  </a:cubicBezTo>
                  <a:cubicBezTo>
                    <a:pt x="8125" y="1522"/>
                    <a:pt x="6180" y="0"/>
                    <a:pt x="4447" y="0"/>
                  </a:cubicBezTo>
                  <a:close/>
                </a:path>
              </a:pathLst>
            </a:custGeom>
            <a:solidFill>
              <a:srgbClr val="FF68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5696;p111">
              <a:extLst>
                <a:ext uri="{FF2B5EF4-FFF2-40B4-BE49-F238E27FC236}">
                  <a16:creationId xmlns:a16="http://schemas.microsoft.com/office/drawing/2014/main" id="{478AD6EA-1120-2A36-39EF-05A20C5344EE}"/>
                </a:ext>
              </a:extLst>
            </p:cNvPr>
            <p:cNvSpPr/>
            <p:nvPr/>
          </p:nvSpPr>
          <p:spPr>
            <a:xfrm>
              <a:off x="7291856" y="2239471"/>
              <a:ext cx="138677" cy="109074"/>
            </a:xfrm>
            <a:custGeom>
              <a:avLst/>
              <a:gdLst/>
              <a:ahLst/>
              <a:cxnLst/>
              <a:rect l="l" t="t" r="r" b="b"/>
              <a:pathLst>
                <a:path w="6239" h="4871" extrusionOk="0">
                  <a:moveTo>
                    <a:pt x="5171" y="0"/>
                  </a:moveTo>
                  <a:lnTo>
                    <a:pt x="1302" y="1668"/>
                  </a:lnTo>
                  <a:lnTo>
                    <a:pt x="1" y="4203"/>
                  </a:lnTo>
                  <a:lnTo>
                    <a:pt x="1302" y="3336"/>
                  </a:lnTo>
                  <a:lnTo>
                    <a:pt x="2869" y="4870"/>
                  </a:lnTo>
                  <a:lnTo>
                    <a:pt x="6238" y="1501"/>
                  </a:lnTo>
                  <a:lnTo>
                    <a:pt x="5171" y="0"/>
                  </a:ln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5697;p111">
              <a:extLst>
                <a:ext uri="{FF2B5EF4-FFF2-40B4-BE49-F238E27FC236}">
                  <a16:creationId xmlns:a16="http://schemas.microsoft.com/office/drawing/2014/main" id="{8D3F0AA0-4B0C-0108-B38B-5DA10A2D0309}"/>
                </a:ext>
              </a:extLst>
            </p:cNvPr>
            <p:cNvSpPr/>
            <p:nvPr/>
          </p:nvSpPr>
          <p:spPr>
            <a:xfrm>
              <a:off x="7221417" y="2239471"/>
              <a:ext cx="81575" cy="94138"/>
            </a:xfrm>
            <a:custGeom>
              <a:avLst/>
              <a:gdLst/>
              <a:ahLst/>
              <a:cxnLst/>
              <a:rect l="l" t="t" r="r" b="b"/>
              <a:pathLst>
                <a:path w="3670" h="4204" extrusionOk="0">
                  <a:moveTo>
                    <a:pt x="2269" y="0"/>
                  </a:moveTo>
                  <a:cubicBezTo>
                    <a:pt x="2269" y="0"/>
                    <a:pt x="134" y="2569"/>
                    <a:pt x="1" y="4170"/>
                  </a:cubicBezTo>
                  <a:lnTo>
                    <a:pt x="1902" y="2936"/>
                  </a:lnTo>
                  <a:lnTo>
                    <a:pt x="3170" y="4203"/>
                  </a:lnTo>
                  <a:lnTo>
                    <a:pt x="3170" y="4203"/>
                  </a:lnTo>
                  <a:lnTo>
                    <a:pt x="2736" y="1968"/>
                  </a:lnTo>
                  <a:cubicBezTo>
                    <a:pt x="2736" y="1968"/>
                    <a:pt x="2803" y="1301"/>
                    <a:pt x="3670" y="667"/>
                  </a:cubicBezTo>
                  <a:lnTo>
                    <a:pt x="2269" y="0"/>
                  </a:ln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5698;p111">
              <a:extLst>
                <a:ext uri="{FF2B5EF4-FFF2-40B4-BE49-F238E27FC236}">
                  <a16:creationId xmlns:a16="http://schemas.microsoft.com/office/drawing/2014/main" id="{0FBDBE86-E20A-1E69-ED7C-09F72AC5D12E}"/>
                </a:ext>
              </a:extLst>
            </p:cNvPr>
            <p:cNvSpPr/>
            <p:nvPr/>
          </p:nvSpPr>
          <p:spPr>
            <a:xfrm>
              <a:off x="7291856" y="2239471"/>
              <a:ext cx="138677" cy="109074"/>
            </a:xfrm>
            <a:custGeom>
              <a:avLst/>
              <a:gdLst/>
              <a:ahLst/>
              <a:cxnLst/>
              <a:rect l="l" t="t" r="r" b="b"/>
              <a:pathLst>
                <a:path w="6239" h="4871" extrusionOk="0">
                  <a:moveTo>
                    <a:pt x="5171" y="0"/>
                  </a:moveTo>
                  <a:lnTo>
                    <a:pt x="1302" y="1668"/>
                  </a:lnTo>
                  <a:lnTo>
                    <a:pt x="1" y="4203"/>
                  </a:lnTo>
                  <a:lnTo>
                    <a:pt x="1302" y="3336"/>
                  </a:lnTo>
                  <a:lnTo>
                    <a:pt x="2869" y="4870"/>
                  </a:lnTo>
                  <a:lnTo>
                    <a:pt x="6238" y="1501"/>
                  </a:lnTo>
                  <a:lnTo>
                    <a:pt x="517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5699;p111">
              <a:extLst>
                <a:ext uri="{FF2B5EF4-FFF2-40B4-BE49-F238E27FC236}">
                  <a16:creationId xmlns:a16="http://schemas.microsoft.com/office/drawing/2014/main" id="{F2B0DE4A-BFB9-E7CB-D845-263E7A4FBF88}"/>
                </a:ext>
              </a:extLst>
            </p:cNvPr>
            <p:cNvSpPr/>
            <p:nvPr/>
          </p:nvSpPr>
          <p:spPr>
            <a:xfrm>
              <a:off x="7221417" y="2239471"/>
              <a:ext cx="81575" cy="94138"/>
            </a:xfrm>
            <a:custGeom>
              <a:avLst/>
              <a:gdLst/>
              <a:ahLst/>
              <a:cxnLst/>
              <a:rect l="l" t="t" r="r" b="b"/>
              <a:pathLst>
                <a:path w="3670" h="4204" extrusionOk="0">
                  <a:moveTo>
                    <a:pt x="2269" y="0"/>
                  </a:moveTo>
                  <a:cubicBezTo>
                    <a:pt x="2269" y="0"/>
                    <a:pt x="134" y="2569"/>
                    <a:pt x="1" y="4170"/>
                  </a:cubicBezTo>
                  <a:lnTo>
                    <a:pt x="1902" y="2936"/>
                  </a:lnTo>
                  <a:lnTo>
                    <a:pt x="3170" y="4203"/>
                  </a:lnTo>
                  <a:lnTo>
                    <a:pt x="3170" y="4203"/>
                  </a:lnTo>
                  <a:lnTo>
                    <a:pt x="2736" y="1968"/>
                  </a:lnTo>
                  <a:cubicBezTo>
                    <a:pt x="2736" y="1968"/>
                    <a:pt x="2803" y="1301"/>
                    <a:pt x="3670" y="667"/>
                  </a:cubicBezTo>
                  <a:lnTo>
                    <a:pt x="226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5700;p111">
              <a:extLst>
                <a:ext uri="{FF2B5EF4-FFF2-40B4-BE49-F238E27FC236}">
                  <a16:creationId xmlns:a16="http://schemas.microsoft.com/office/drawing/2014/main" id="{F6917D5B-58DE-1E40-F0C3-EA914A88BF6E}"/>
                </a:ext>
              </a:extLst>
            </p:cNvPr>
            <p:cNvSpPr/>
            <p:nvPr/>
          </p:nvSpPr>
          <p:spPr>
            <a:xfrm>
              <a:off x="7041241" y="4392174"/>
              <a:ext cx="29696" cy="21698"/>
            </a:xfrm>
            <a:custGeom>
              <a:avLst/>
              <a:gdLst/>
              <a:ahLst/>
              <a:cxnLst/>
              <a:rect l="l" t="t" r="r" b="b"/>
              <a:pathLst>
                <a:path w="1336" h="969" extrusionOk="0">
                  <a:moveTo>
                    <a:pt x="301" y="134"/>
                  </a:moveTo>
                  <a:cubicBezTo>
                    <a:pt x="501" y="134"/>
                    <a:pt x="868" y="501"/>
                    <a:pt x="1135" y="801"/>
                  </a:cubicBezTo>
                  <a:cubicBezTo>
                    <a:pt x="601" y="768"/>
                    <a:pt x="268" y="635"/>
                    <a:pt x="168" y="468"/>
                  </a:cubicBezTo>
                  <a:cubicBezTo>
                    <a:pt x="134" y="368"/>
                    <a:pt x="134" y="268"/>
                    <a:pt x="201" y="201"/>
                  </a:cubicBezTo>
                  <a:cubicBezTo>
                    <a:pt x="234" y="168"/>
                    <a:pt x="268" y="134"/>
                    <a:pt x="301" y="134"/>
                  </a:cubicBezTo>
                  <a:close/>
                  <a:moveTo>
                    <a:pt x="301" y="1"/>
                  </a:moveTo>
                  <a:cubicBezTo>
                    <a:pt x="201" y="1"/>
                    <a:pt x="134" y="67"/>
                    <a:pt x="101" y="134"/>
                  </a:cubicBezTo>
                  <a:cubicBezTo>
                    <a:pt x="1" y="268"/>
                    <a:pt x="1" y="401"/>
                    <a:pt x="68" y="501"/>
                  </a:cubicBezTo>
                  <a:cubicBezTo>
                    <a:pt x="168" y="668"/>
                    <a:pt x="334" y="768"/>
                    <a:pt x="501" y="835"/>
                  </a:cubicBezTo>
                  <a:cubicBezTo>
                    <a:pt x="768" y="901"/>
                    <a:pt x="1002" y="935"/>
                    <a:pt x="1268" y="968"/>
                  </a:cubicBezTo>
                  <a:cubicBezTo>
                    <a:pt x="1302" y="968"/>
                    <a:pt x="1302" y="935"/>
                    <a:pt x="1335" y="935"/>
                  </a:cubicBezTo>
                  <a:cubicBezTo>
                    <a:pt x="1335" y="901"/>
                    <a:pt x="1335" y="868"/>
                    <a:pt x="1335" y="835"/>
                  </a:cubicBezTo>
                  <a:cubicBezTo>
                    <a:pt x="1268" y="768"/>
                    <a:pt x="668" y="1"/>
                    <a:pt x="301"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5701;p111">
              <a:extLst>
                <a:ext uri="{FF2B5EF4-FFF2-40B4-BE49-F238E27FC236}">
                  <a16:creationId xmlns:a16="http://schemas.microsoft.com/office/drawing/2014/main" id="{369EC8A4-15CA-79F6-A919-5F89AA156864}"/>
                </a:ext>
              </a:extLst>
            </p:cNvPr>
            <p:cNvSpPr/>
            <p:nvPr/>
          </p:nvSpPr>
          <p:spPr>
            <a:xfrm>
              <a:off x="7059045" y="4382948"/>
              <a:ext cx="19293" cy="30924"/>
            </a:xfrm>
            <a:custGeom>
              <a:avLst/>
              <a:gdLst/>
              <a:ahLst/>
              <a:cxnLst/>
              <a:rect l="l" t="t" r="r" b="b"/>
              <a:pathLst>
                <a:path w="868" h="1381" extrusionOk="0">
                  <a:moveTo>
                    <a:pt x="367" y="133"/>
                  </a:moveTo>
                  <a:cubicBezTo>
                    <a:pt x="385" y="133"/>
                    <a:pt x="407" y="137"/>
                    <a:pt x="434" y="146"/>
                  </a:cubicBezTo>
                  <a:lnTo>
                    <a:pt x="467" y="146"/>
                  </a:lnTo>
                  <a:cubicBezTo>
                    <a:pt x="501" y="179"/>
                    <a:pt x="534" y="213"/>
                    <a:pt x="568" y="246"/>
                  </a:cubicBezTo>
                  <a:cubicBezTo>
                    <a:pt x="634" y="546"/>
                    <a:pt x="601" y="880"/>
                    <a:pt x="467" y="1180"/>
                  </a:cubicBezTo>
                  <a:cubicBezTo>
                    <a:pt x="301" y="880"/>
                    <a:pt x="201" y="546"/>
                    <a:pt x="267" y="213"/>
                  </a:cubicBezTo>
                  <a:cubicBezTo>
                    <a:pt x="292" y="164"/>
                    <a:pt x="316" y="133"/>
                    <a:pt x="367" y="133"/>
                  </a:cubicBezTo>
                  <a:close/>
                  <a:moveTo>
                    <a:pt x="359" y="0"/>
                  </a:moveTo>
                  <a:cubicBezTo>
                    <a:pt x="275" y="0"/>
                    <a:pt x="185" y="44"/>
                    <a:pt x="134" y="146"/>
                  </a:cubicBezTo>
                  <a:cubicBezTo>
                    <a:pt x="0" y="413"/>
                    <a:pt x="201" y="1113"/>
                    <a:pt x="434" y="1347"/>
                  </a:cubicBezTo>
                  <a:lnTo>
                    <a:pt x="467" y="1380"/>
                  </a:lnTo>
                  <a:lnTo>
                    <a:pt x="501" y="1380"/>
                  </a:lnTo>
                  <a:cubicBezTo>
                    <a:pt x="501" y="1380"/>
                    <a:pt x="534" y="1347"/>
                    <a:pt x="534" y="1347"/>
                  </a:cubicBezTo>
                  <a:cubicBezTo>
                    <a:pt x="534" y="1313"/>
                    <a:pt x="868" y="546"/>
                    <a:pt x="668" y="179"/>
                  </a:cubicBezTo>
                  <a:cubicBezTo>
                    <a:pt x="634" y="79"/>
                    <a:pt x="534" y="46"/>
                    <a:pt x="434" y="12"/>
                  </a:cubicBezTo>
                  <a:cubicBezTo>
                    <a:pt x="410" y="5"/>
                    <a:pt x="385" y="0"/>
                    <a:pt x="359"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5702;p111">
              <a:extLst>
                <a:ext uri="{FF2B5EF4-FFF2-40B4-BE49-F238E27FC236}">
                  <a16:creationId xmlns:a16="http://schemas.microsoft.com/office/drawing/2014/main" id="{AC6260BD-9B38-588E-3CF9-C929821E5DDE}"/>
                </a:ext>
              </a:extLst>
            </p:cNvPr>
            <p:cNvSpPr/>
            <p:nvPr/>
          </p:nvSpPr>
          <p:spPr>
            <a:xfrm>
              <a:off x="7397148" y="4392174"/>
              <a:ext cx="29674" cy="21698"/>
            </a:xfrm>
            <a:custGeom>
              <a:avLst/>
              <a:gdLst/>
              <a:ahLst/>
              <a:cxnLst/>
              <a:rect l="l" t="t" r="r" b="b"/>
              <a:pathLst>
                <a:path w="1335" h="969" extrusionOk="0">
                  <a:moveTo>
                    <a:pt x="301" y="134"/>
                  </a:moveTo>
                  <a:cubicBezTo>
                    <a:pt x="501" y="134"/>
                    <a:pt x="868" y="501"/>
                    <a:pt x="1134" y="801"/>
                  </a:cubicBezTo>
                  <a:cubicBezTo>
                    <a:pt x="601" y="768"/>
                    <a:pt x="267" y="635"/>
                    <a:pt x="167" y="468"/>
                  </a:cubicBezTo>
                  <a:cubicBezTo>
                    <a:pt x="134" y="368"/>
                    <a:pt x="167" y="268"/>
                    <a:pt x="200" y="201"/>
                  </a:cubicBezTo>
                  <a:cubicBezTo>
                    <a:pt x="234" y="168"/>
                    <a:pt x="267" y="134"/>
                    <a:pt x="301" y="134"/>
                  </a:cubicBezTo>
                  <a:close/>
                  <a:moveTo>
                    <a:pt x="301" y="1"/>
                  </a:moveTo>
                  <a:cubicBezTo>
                    <a:pt x="200" y="1"/>
                    <a:pt x="134" y="67"/>
                    <a:pt x="100" y="134"/>
                  </a:cubicBezTo>
                  <a:cubicBezTo>
                    <a:pt x="0" y="268"/>
                    <a:pt x="0" y="401"/>
                    <a:pt x="67" y="501"/>
                  </a:cubicBezTo>
                  <a:cubicBezTo>
                    <a:pt x="167" y="668"/>
                    <a:pt x="334" y="768"/>
                    <a:pt x="534" y="835"/>
                  </a:cubicBezTo>
                  <a:cubicBezTo>
                    <a:pt x="768" y="901"/>
                    <a:pt x="1001" y="935"/>
                    <a:pt x="1268" y="968"/>
                  </a:cubicBezTo>
                  <a:cubicBezTo>
                    <a:pt x="1301" y="968"/>
                    <a:pt x="1335" y="935"/>
                    <a:pt x="1335" y="935"/>
                  </a:cubicBezTo>
                  <a:cubicBezTo>
                    <a:pt x="1335" y="901"/>
                    <a:pt x="1335" y="868"/>
                    <a:pt x="1335" y="835"/>
                  </a:cubicBezTo>
                  <a:cubicBezTo>
                    <a:pt x="1268" y="768"/>
                    <a:pt x="667" y="1"/>
                    <a:pt x="301"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5703;p111">
              <a:extLst>
                <a:ext uri="{FF2B5EF4-FFF2-40B4-BE49-F238E27FC236}">
                  <a16:creationId xmlns:a16="http://schemas.microsoft.com/office/drawing/2014/main" id="{C58D1613-875F-0202-93EC-6C9483D13A03}"/>
                </a:ext>
              </a:extLst>
            </p:cNvPr>
            <p:cNvSpPr/>
            <p:nvPr/>
          </p:nvSpPr>
          <p:spPr>
            <a:xfrm>
              <a:off x="7414930" y="4382948"/>
              <a:ext cx="19316" cy="30924"/>
            </a:xfrm>
            <a:custGeom>
              <a:avLst/>
              <a:gdLst/>
              <a:ahLst/>
              <a:cxnLst/>
              <a:rect l="l" t="t" r="r" b="b"/>
              <a:pathLst>
                <a:path w="869" h="1381" extrusionOk="0">
                  <a:moveTo>
                    <a:pt x="367" y="133"/>
                  </a:moveTo>
                  <a:cubicBezTo>
                    <a:pt x="386" y="133"/>
                    <a:pt x="408" y="137"/>
                    <a:pt x="435" y="146"/>
                  </a:cubicBezTo>
                  <a:lnTo>
                    <a:pt x="468" y="146"/>
                  </a:lnTo>
                  <a:cubicBezTo>
                    <a:pt x="501" y="179"/>
                    <a:pt x="568" y="213"/>
                    <a:pt x="568" y="246"/>
                  </a:cubicBezTo>
                  <a:cubicBezTo>
                    <a:pt x="635" y="546"/>
                    <a:pt x="601" y="880"/>
                    <a:pt x="468" y="1180"/>
                  </a:cubicBezTo>
                  <a:cubicBezTo>
                    <a:pt x="301" y="880"/>
                    <a:pt x="234" y="546"/>
                    <a:pt x="268" y="213"/>
                  </a:cubicBezTo>
                  <a:cubicBezTo>
                    <a:pt x="292" y="164"/>
                    <a:pt x="317" y="133"/>
                    <a:pt x="367" y="133"/>
                  </a:cubicBezTo>
                  <a:close/>
                  <a:moveTo>
                    <a:pt x="359" y="0"/>
                  </a:moveTo>
                  <a:cubicBezTo>
                    <a:pt x="275" y="0"/>
                    <a:pt x="185" y="44"/>
                    <a:pt x="134" y="146"/>
                  </a:cubicBezTo>
                  <a:cubicBezTo>
                    <a:pt x="1" y="413"/>
                    <a:pt x="201" y="1113"/>
                    <a:pt x="435" y="1347"/>
                  </a:cubicBezTo>
                  <a:lnTo>
                    <a:pt x="468" y="1380"/>
                  </a:lnTo>
                  <a:lnTo>
                    <a:pt x="501" y="1380"/>
                  </a:lnTo>
                  <a:cubicBezTo>
                    <a:pt x="501" y="1380"/>
                    <a:pt x="535" y="1347"/>
                    <a:pt x="535" y="1347"/>
                  </a:cubicBezTo>
                  <a:cubicBezTo>
                    <a:pt x="568" y="1313"/>
                    <a:pt x="868" y="546"/>
                    <a:pt x="668" y="179"/>
                  </a:cubicBezTo>
                  <a:cubicBezTo>
                    <a:pt x="635" y="79"/>
                    <a:pt x="535" y="46"/>
                    <a:pt x="435" y="12"/>
                  </a:cubicBezTo>
                  <a:cubicBezTo>
                    <a:pt x="411" y="5"/>
                    <a:pt x="385" y="0"/>
                    <a:pt x="359"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5704;p111">
              <a:extLst>
                <a:ext uri="{FF2B5EF4-FFF2-40B4-BE49-F238E27FC236}">
                  <a16:creationId xmlns:a16="http://schemas.microsoft.com/office/drawing/2014/main" id="{83571531-3DF6-BB9D-4AD2-C3A8A0994E9A}"/>
                </a:ext>
              </a:extLst>
            </p:cNvPr>
            <p:cNvSpPr/>
            <p:nvPr/>
          </p:nvSpPr>
          <p:spPr>
            <a:xfrm>
              <a:off x="7647007" y="2807345"/>
              <a:ext cx="137944" cy="180394"/>
            </a:xfrm>
            <a:custGeom>
              <a:avLst/>
              <a:gdLst/>
              <a:ahLst/>
              <a:cxnLst/>
              <a:rect l="l" t="t" r="r" b="b"/>
              <a:pathLst>
                <a:path w="6206" h="8056" extrusionOk="0">
                  <a:moveTo>
                    <a:pt x="4016" y="1"/>
                  </a:moveTo>
                  <a:cubicBezTo>
                    <a:pt x="2837" y="1"/>
                    <a:pt x="1467" y="1283"/>
                    <a:pt x="801" y="3194"/>
                  </a:cubicBezTo>
                  <a:cubicBezTo>
                    <a:pt x="1" y="5362"/>
                    <a:pt x="401" y="7497"/>
                    <a:pt x="1669" y="7964"/>
                  </a:cubicBezTo>
                  <a:cubicBezTo>
                    <a:pt x="1832" y="8026"/>
                    <a:pt x="2004" y="8056"/>
                    <a:pt x="2181" y="8056"/>
                  </a:cubicBezTo>
                  <a:cubicBezTo>
                    <a:pt x="3344" y="8056"/>
                    <a:pt x="4739" y="6777"/>
                    <a:pt x="5405" y="4895"/>
                  </a:cubicBezTo>
                  <a:cubicBezTo>
                    <a:pt x="6205" y="2727"/>
                    <a:pt x="5838" y="592"/>
                    <a:pt x="4537" y="92"/>
                  </a:cubicBezTo>
                  <a:cubicBezTo>
                    <a:pt x="4370" y="30"/>
                    <a:pt x="4195" y="1"/>
                    <a:pt x="4016" y="1"/>
                  </a:cubicBezTo>
                  <a:close/>
                </a:path>
              </a:pathLst>
            </a:custGeom>
            <a:solidFill>
              <a:srgbClr val="FF68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5705;p111">
              <a:extLst>
                <a:ext uri="{FF2B5EF4-FFF2-40B4-BE49-F238E27FC236}">
                  <a16:creationId xmlns:a16="http://schemas.microsoft.com/office/drawing/2014/main" id="{EBA70D70-4A5A-77E7-E680-5DB1DBF56F72}"/>
                </a:ext>
              </a:extLst>
            </p:cNvPr>
            <p:cNvSpPr/>
            <p:nvPr/>
          </p:nvSpPr>
          <p:spPr>
            <a:xfrm>
              <a:off x="7526156" y="2720641"/>
              <a:ext cx="247659" cy="286400"/>
            </a:xfrm>
            <a:custGeom>
              <a:avLst/>
              <a:gdLst/>
              <a:ahLst/>
              <a:cxnLst/>
              <a:rect l="l" t="t" r="r" b="b"/>
              <a:pathLst>
                <a:path w="11142" h="12790" extrusionOk="0">
                  <a:moveTo>
                    <a:pt x="5366" y="1"/>
                  </a:moveTo>
                  <a:cubicBezTo>
                    <a:pt x="4124" y="1"/>
                    <a:pt x="2331" y="2182"/>
                    <a:pt x="1235" y="5198"/>
                  </a:cubicBezTo>
                  <a:cubicBezTo>
                    <a:pt x="0" y="8534"/>
                    <a:pt x="34" y="11569"/>
                    <a:pt x="1301" y="12036"/>
                  </a:cubicBezTo>
                  <a:cubicBezTo>
                    <a:pt x="1420" y="12076"/>
                    <a:pt x="1538" y="12094"/>
                    <a:pt x="1657" y="12094"/>
                  </a:cubicBezTo>
                  <a:cubicBezTo>
                    <a:pt x="1838" y="12094"/>
                    <a:pt x="2020" y="12050"/>
                    <a:pt x="2202" y="11970"/>
                  </a:cubicBezTo>
                  <a:cubicBezTo>
                    <a:pt x="2302" y="12070"/>
                    <a:pt x="2436" y="12170"/>
                    <a:pt x="2569" y="12203"/>
                  </a:cubicBezTo>
                  <a:cubicBezTo>
                    <a:pt x="2687" y="12243"/>
                    <a:pt x="2806" y="12261"/>
                    <a:pt x="2922" y="12261"/>
                  </a:cubicBezTo>
                  <a:cubicBezTo>
                    <a:pt x="3101" y="12261"/>
                    <a:pt x="3275" y="12217"/>
                    <a:pt x="3436" y="12136"/>
                  </a:cubicBezTo>
                  <a:cubicBezTo>
                    <a:pt x="3536" y="12236"/>
                    <a:pt x="3670" y="12337"/>
                    <a:pt x="3837" y="12403"/>
                  </a:cubicBezTo>
                  <a:cubicBezTo>
                    <a:pt x="3926" y="12425"/>
                    <a:pt x="4022" y="12437"/>
                    <a:pt x="4121" y="12437"/>
                  </a:cubicBezTo>
                  <a:cubicBezTo>
                    <a:pt x="4318" y="12437"/>
                    <a:pt x="4526" y="12392"/>
                    <a:pt x="4704" y="12303"/>
                  </a:cubicBezTo>
                  <a:cubicBezTo>
                    <a:pt x="4804" y="12437"/>
                    <a:pt x="4937" y="12503"/>
                    <a:pt x="5071" y="12570"/>
                  </a:cubicBezTo>
                  <a:cubicBezTo>
                    <a:pt x="5183" y="12608"/>
                    <a:pt x="5301" y="12626"/>
                    <a:pt x="5417" y="12626"/>
                  </a:cubicBezTo>
                  <a:cubicBezTo>
                    <a:pt x="5612" y="12626"/>
                    <a:pt x="5805" y="12574"/>
                    <a:pt x="5971" y="12470"/>
                  </a:cubicBezTo>
                  <a:cubicBezTo>
                    <a:pt x="6071" y="12603"/>
                    <a:pt x="6205" y="12703"/>
                    <a:pt x="6338" y="12737"/>
                  </a:cubicBezTo>
                  <a:cubicBezTo>
                    <a:pt x="6433" y="12772"/>
                    <a:pt x="6531" y="12789"/>
                    <a:pt x="6634" y="12789"/>
                  </a:cubicBezTo>
                  <a:cubicBezTo>
                    <a:pt x="7695" y="12789"/>
                    <a:pt x="9165" y="10961"/>
                    <a:pt x="10108" y="8467"/>
                  </a:cubicBezTo>
                  <a:cubicBezTo>
                    <a:pt x="11142" y="5732"/>
                    <a:pt x="11075" y="3163"/>
                    <a:pt x="10041" y="2796"/>
                  </a:cubicBezTo>
                  <a:cubicBezTo>
                    <a:pt x="9943" y="2757"/>
                    <a:pt x="9846" y="2741"/>
                    <a:pt x="9755" y="2741"/>
                  </a:cubicBezTo>
                  <a:cubicBezTo>
                    <a:pt x="9690" y="2741"/>
                    <a:pt x="9629" y="2749"/>
                    <a:pt x="9574" y="2763"/>
                  </a:cubicBezTo>
                  <a:cubicBezTo>
                    <a:pt x="9474" y="2463"/>
                    <a:pt x="9240" y="2229"/>
                    <a:pt x="8940" y="2096"/>
                  </a:cubicBezTo>
                  <a:cubicBezTo>
                    <a:pt x="8807" y="2062"/>
                    <a:pt x="8640" y="2062"/>
                    <a:pt x="8507" y="2062"/>
                  </a:cubicBezTo>
                  <a:cubicBezTo>
                    <a:pt x="8373" y="1796"/>
                    <a:pt x="8173" y="1562"/>
                    <a:pt x="7873" y="1429"/>
                  </a:cubicBezTo>
                  <a:cubicBezTo>
                    <a:pt x="7778" y="1405"/>
                    <a:pt x="7667" y="1382"/>
                    <a:pt x="7551" y="1382"/>
                  </a:cubicBezTo>
                  <a:cubicBezTo>
                    <a:pt x="7503" y="1382"/>
                    <a:pt x="7455" y="1386"/>
                    <a:pt x="7406" y="1395"/>
                  </a:cubicBezTo>
                  <a:cubicBezTo>
                    <a:pt x="7306" y="1095"/>
                    <a:pt x="7072" y="862"/>
                    <a:pt x="6805" y="762"/>
                  </a:cubicBezTo>
                  <a:cubicBezTo>
                    <a:pt x="6639" y="695"/>
                    <a:pt x="6505" y="695"/>
                    <a:pt x="6338" y="695"/>
                  </a:cubicBezTo>
                  <a:cubicBezTo>
                    <a:pt x="6205" y="428"/>
                    <a:pt x="6005" y="194"/>
                    <a:pt x="5705" y="61"/>
                  </a:cubicBezTo>
                  <a:cubicBezTo>
                    <a:pt x="5598" y="21"/>
                    <a:pt x="5484" y="1"/>
                    <a:pt x="5366" y="1"/>
                  </a:cubicBezTo>
                  <a:close/>
                </a:path>
              </a:pathLst>
            </a:custGeom>
            <a:solidFill>
              <a:srgbClr val="FF68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706;p111">
              <a:extLst>
                <a:ext uri="{FF2B5EF4-FFF2-40B4-BE49-F238E27FC236}">
                  <a16:creationId xmlns:a16="http://schemas.microsoft.com/office/drawing/2014/main" id="{CB9A1156-314C-6C70-78CC-FDA3E45AC314}"/>
                </a:ext>
              </a:extLst>
            </p:cNvPr>
            <p:cNvSpPr/>
            <p:nvPr/>
          </p:nvSpPr>
          <p:spPr>
            <a:xfrm>
              <a:off x="7108524" y="2517093"/>
              <a:ext cx="560022" cy="506362"/>
            </a:xfrm>
            <a:custGeom>
              <a:avLst/>
              <a:gdLst/>
              <a:ahLst/>
              <a:cxnLst/>
              <a:rect l="l" t="t" r="r" b="b"/>
              <a:pathLst>
                <a:path w="25195" h="22613" extrusionOk="0">
                  <a:moveTo>
                    <a:pt x="11845" y="1"/>
                  </a:moveTo>
                  <a:cubicBezTo>
                    <a:pt x="5493" y="1"/>
                    <a:pt x="0" y="5447"/>
                    <a:pt x="610" y="12320"/>
                  </a:cubicBezTo>
                  <a:cubicBezTo>
                    <a:pt x="1156" y="18456"/>
                    <a:pt x="6346" y="22612"/>
                    <a:pt x="11909" y="22612"/>
                  </a:cubicBezTo>
                  <a:cubicBezTo>
                    <a:pt x="13816" y="22612"/>
                    <a:pt x="15766" y="22124"/>
                    <a:pt x="17589" y="21060"/>
                  </a:cubicBezTo>
                  <a:cubicBezTo>
                    <a:pt x="17885" y="20874"/>
                    <a:pt x="18213" y="20782"/>
                    <a:pt x="18542" y="20782"/>
                  </a:cubicBezTo>
                  <a:cubicBezTo>
                    <a:pt x="18806" y="20782"/>
                    <a:pt x="19071" y="20841"/>
                    <a:pt x="19323" y="20960"/>
                  </a:cubicBezTo>
                  <a:cubicBezTo>
                    <a:pt x="19357" y="20960"/>
                    <a:pt x="19390" y="20993"/>
                    <a:pt x="19423" y="20993"/>
                  </a:cubicBezTo>
                  <a:cubicBezTo>
                    <a:pt x="19532" y="21033"/>
                    <a:pt x="19646" y="21052"/>
                    <a:pt x="19766" y="21052"/>
                  </a:cubicBezTo>
                  <a:cubicBezTo>
                    <a:pt x="21039" y="21052"/>
                    <a:pt x="22862" y="18836"/>
                    <a:pt x="23960" y="15756"/>
                  </a:cubicBezTo>
                  <a:cubicBezTo>
                    <a:pt x="25194" y="12420"/>
                    <a:pt x="25161" y="9318"/>
                    <a:pt x="23893" y="8817"/>
                  </a:cubicBezTo>
                  <a:lnTo>
                    <a:pt x="23793" y="8817"/>
                  </a:lnTo>
                  <a:cubicBezTo>
                    <a:pt x="23193" y="8651"/>
                    <a:pt x="22726" y="8184"/>
                    <a:pt x="22525" y="7583"/>
                  </a:cubicBezTo>
                  <a:cubicBezTo>
                    <a:pt x="21425" y="4414"/>
                    <a:pt x="18923" y="1879"/>
                    <a:pt x="15787" y="712"/>
                  </a:cubicBezTo>
                  <a:cubicBezTo>
                    <a:pt x="14467" y="226"/>
                    <a:pt x="13138" y="1"/>
                    <a:pt x="118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707;p111">
              <a:extLst>
                <a:ext uri="{FF2B5EF4-FFF2-40B4-BE49-F238E27FC236}">
                  <a16:creationId xmlns:a16="http://schemas.microsoft.com/office/drawing/2014/main" id="{3B9D3800-6F82-402A-FE6C-850C643E05C2}"/>
                </a:ext>
              </a:extLst>
            </p:cNvPr>
            <p:cNvSpPr/>
            <p:nvPr/>
          </p:nvSpPr>
          <p:spPr>
            <a:xfrm>
              <a:off x="7391213" y="2677916"/>
              <a:ext cx="227810" cy="242041"/>
            </a:xfrm>
            <a:custGeom>
              <a:avLst/>
              <a:gdLst/>
              <a:ahLst/>
              <a:cxnLst/>
              <a:rect l="l" t="t" r="r" b="b"/>
              <a:pathLst>
                <a:path w="10249" h="10809" extrusionOk="0">
                  <a:moveTo>
                    <a:pt x="4537" y="1"/>
                  </a:moveTo>
                  <a:cubicBezTo>
                    <a:pt x="4504" y="1"/>
                    <a:pt x="4437" y="34"/>
                    <a:pt x="4404" y="101"/>
                  </a:cubicBezTo>
                  <a:lnTo>
                    <a:pt x="3703" y="2002"/>
                  </a:lnTo>
                  <a:lnTo>
                    <a:pt x="2069" y="2102"/>
                  </a:lnTo>
                  <a:cubicBezTo>
                    <a:pt x="2002" y="2102"/>
                    <a:pt x="1969" y="2136"/>
                    <a:pt x="1935" y="2169"/>
                  </a:cubicBezTo>
                  <a:cubicBezTo>
                    <a:pt x="1935" y="2236"/>
                    <a:pt x="1935" y="2269"/>
                    <a:pt x="1969" y="2303"/>
                  </a:cubicBezTo>
                  <a:lnTo>
                    <a:pt x="4070" y="4437"/>
                  </a:lnTo>
                  <a:lnTo>
                    <a:pt x="1101" y="4738"/>
                  </a:lnTo>
                  <a:cubicBezTo>
                    <a:pt x="1068" y="4738"/>
                    <a:pt x="1001" y="4771"/>
                    <a:pt x="1001" y="4804"/>
                  </a:cubicBezTo>
                  <a:cubicBezTo>
                    <a:pt x="968" y="4838"/>
                    <a:pt x="1001" y="4904"/>
                    <a:pt x="1035" y="4938"/>
                  </a:cubicBezTo>
                  <a:lnTo>
                    <a:pt x="2802" y="6973"/>
                  </a:lnTo>
                  <a:lnTo>
                    <a:pt x="134" y="7340"/>
                  </a:lnTo>
                  <a:cubicBezTo>
                    <a:pt x="67" y="7373"/>
                    <a:pt x="34" y="7406"/>
                    <a:pt x="34" y="7440"/>
                  </a:cubicBezTo>
                  <a:cubicBezTo>
                    <a:pt x="0" y="7506"/>
                    <a:pt x="34" y="7540"/>
                    <a:pt x="67" y="7573"/>
                  </a:cubicBezTo>
                  <a:lnTo>
                    <a:pt x="1268" y="8707"/>
                  </a:lnTo>
                  <a:lnTo>
                    <a:pt x="568" y="10642"/>
                  </a:lnTo>
                  <a:cubicBezTo>
                    <a:pt x="534" y="10675"/>
                    <a:pt x="534" y="10742"/>
                    <a:pt x="601" y="10775"/>
                  </a:cubicBezTo>
                  <a:cubicBezTo>
                    <a:pt x="601" y="10809"/>
                    <a:pt x="634" y="10809"/>
                    <a:pt x="701" y="10809"/>
                  </a:cubicBezTo>
                  <a:cubicBezTo>
                    <a:pt x="701" y="10809"/>
                    <a:pt x="701" y="10809"/>
                    <a:pt x="734" y="10775"/>
                  </a:cubicBezTo>
                  <a:cubicBezTo>
                    <a:pt x="759" y="10775"/>
                    <a:pt x="2943" y="9705"/>
                    <a:pt x="5599" y="9705"/>
                  </a:cubicBezTo>
                  <a:cubicBezTo>
                    <a:pt x="6545" y="9705"/>
                    <a:pt x="7550" y="9841"/>
                    <a:pt x="8540" y="10208"/>
                  </a:cubicBezTo>
                  <a:cubicBezTo>
                    <a:pt x="8557" y="10217"/>
                    <a:pt x="8573" y="10221"/>
                    <a:pt x="8589" y="10221"/>
                  </a:cubicBezTo>
                  <a:cubicBezTo>
                    <a:pt x="8638" y="10221"/>
                    <a:pt x="8682" y="10183"/>
                    <a:pt x="8707" y="10108"/>
                  </a:cubicBezTo>
                  <a:cubicBezTo>
                    <a:pt x="8707" y="10042"/>
                    <a:pt x="8673" y="9975"/>
                    <a:pt x="8607" y="9941"/>
                  </a:cubicBezTo>
                  <a:cubicBezTo>
                    <a:pt x="7603" y="9573"/>
                    <a:pt x="6588" y="9437"/>
                    <a:pt x="5632" y="9437"/>
                  </a:cubicBezTo>
                  <a:cubicBezTo>
                    <a:pt x="3472" y="9437"/>
                    <a:pt x="1618" y="10131"/>
                    <a:pt x="901" y="10408"/>
                  </a:cubicBezTo>
                  <a:lnTo>
                    <a:pt x="1535" y="8707"/>
                  </a:lnTo>
                  <a:cubicBezTo>
                    <a:pt x="1535" y="8674"/>
                    <a:pt x="1535" y="8607"/>
                    <a:pt x="1502" y="8574"/>
                  </a:cubicBezTo>
                  <a:lnTo>
                    <a:pt x="434" y="7573"/>
                  </a:lnTo>
                  <a:lnTo>
                    <a:pt x="3069" y="7206"/>
                  </a:lnTo>
                  <a:cubicBezTo>
                    <a:pt x="3103" y="7173"/>
                    <a:pt x="3136" y="7139"/>
                    <a:pt x="3169" y="7106"/>
                  </a:cubicBezTo>
                  <a:cubicBezTo>
                    <a:pt x="3203" y="7073"/>
                    <a:pt x="3169" y="7006"/>
                    <a:pt x="3136" y="6973"/>
                  </a:cubicBezTo>
                  <a:lnTo>
                    <a:pt x="1368" y="4971"/>
                  </a:lnTo>
                  <a:lnTo>
                    <a:pt x="4370" y="4704"/>
                  </a:lnTo>
                  <a:cubicBezTo>
                    <a:pt x="4404" y="4671"/>
                    <a:pt x="4437" y="4638"/>
                    <a:pt x="4470" y="4604"/>
                  </a:cubicBezTo>
                  <a:cubicBezTo>
                    <a:pt x="4470" y="4538"/>
                    <a:pt x="4470" y="4504"/>
                    <a:pt x="4437" y="4471"/>
                  </a:cubicBezTo>
                  <a:lnTo>
                    <a:pt x="2369" y="2336"/>
                  </a:lnTo>
                  <a:lnTo>
                    <a:pt x="3803" y="2269"/>
                  </a:lnTo>
                  <a:cubicBezTo>
                    <a:pt x="3870" y="2269"/>
                    <a:pt x="3903" y="2236"/>
                    <a:pt x="3937" y="2169"/>
                  </a:cubicBezTo>
                  <a:lnTo>
                    <a:pt x="4504" y="601"/>
                  </a:lnTo>
                  <a:cubicBezTo>
                    <a:pt x="5438" y="3670"/>
                    <a:pt x="9807" y="6072"/>
                    <a:pt x="9974" y="6172"/>
                  </a:cubicBezTo>
                  <a:cubicBezTo>
                    <a:pt x="10000" y="6188"/>
                    <a:pt x="10025" y="6194"/>
                    <a:pt x="10048" y="6194"/>
                  </a:cubicBezTo>
                  <a:cubicBezTo>
                    <a:pt x="10175" y="6194"/>
                    <a:pt x="10249" y="5995"/>
                    <a:pt x="10108" y="5939"/>
                  </a:cubicBezTo>
                  <a:cubicBezTo>
                    <a:pt x="10074" y="5905"/>
                    <a:pt x="5238" y="3270"/>
                    <a:pt x="4670" y="134"/>
                  </a:cubicBezTo>
                  <a:cubicBezTo>
                    <a:pt x="4670" y="68"/>
                    <a:pt x="4604" y="1"/>
                    <a:pt x="4537" y="1"/>
                  </a:cubicBezTo>
                  <a:close/>
                </a:path>
              </a:pathLst>
            </a:custGeom>
            <a:solidFill>
              <a:srgbClr val="FF68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708;p111">
              <a:extLst>
                <a:ext uri="{FF2B5EF4-FFF2-40B4-BE49-F238E27FC236}">
                  <a16:creationId xmlns:a16="http://schemas.microsoft.com/office/drawing/2014/main" id="{8C1A4C34-7ECF-D9C6-0180-79FBB07E25D6}"/>
                </a:ext>
              </a:extLst>
            </p:cNvPr>
            <p:cNvSpPr/>
            <p:nvPr/>
          </p:nvSpPr>
          <p:spPr>
            <a:xfrm>
              <a:off x="7464608" y="2313411"/>
              <a:ext cx="247681" cy="513191"/>
            </a:xfrm>
            <a:custGeom>
              <a:avLst/>
              <a:gdLst/>
              <a:ahLst/>
              <a:cxnLst/>
              <a:rect l="l" t="t" r="r" b="b"/>
              <a:pathLst>
                <a:path w="11143" h="22918" extrusionOk="0">
                  <a:moveTo>
                    <a:pt x="2603" y="1"/>
                  </a:moveTo>
                  <a:lnTo>
                    <a:pt x="1" y="3470"/>
                  </a:lnTo>
                  <a:cubicBezTo>
                    <a:pt x="334" y="3703"/>
                    <a:pt x="701" y="4037"/>
                    <a:pt x="1068" y="4337"/>
                  </a:cubicBezTo>
                  <a:cubicBezTo>
                    <a:pt x="1402" y="4637"/>
                    <a:pt x="1769" y="4938"/>
                    <a:pt x="2102" y="5271"/>
                  </a:cubicBezTo>
                  <a:cubicBezTo>
                    <a:pt x="2803" y="5938"/>
                    <a:pt x="3470" y="6572"/>
                    <a:pt x="4070" y="7273"/>
                  </a:cubicBezTo>
                  <a:cubicBezTo>
                    <a:pt x="5271" y="8540"/>
                    <a:pt x="6272" y="9974"/>
                    <a:pt x="7006" y="11576"/>
                  </a:cubicBezTo>
                  <a:cubicBezTo>
                    <a:pt x="7073" y="11742"/>
                    <a:pt x="7139" y="11943"/>
                    <a:pt x="7173" y="12109"/>
                  </a:cubicBezTo>
                  <a:cubicBezTo>
                    <a:pt x="7239" y="12243"/>
                    <a:pt x="7273" y="12376"/>
                    <a:pt x="7273" y="12543"/>
                  </a:cubicBezTo>
                  <a:cubicBezTo>
                    <a:pt x="7339" y="12910"/>
                    <a:pt x="7339" y="13277"/>
                    <a:pt x="7306" y="13677"/>
                  </a:cubicBezTo>
                  <a:cubicBezTo>
                    <a:pt x="7239" y="14578"/>
                    <a:pt x="7106" y="15478"/>
                    <a:pt x="6906" y="16379"/>
                  </a:cubicBezTo>
                  <a:cubicBezTo>
                    <a:pt x="6539" y="18247"/>
                    <a:pt x="6038" y="20182"/>
                    <a:pt x="5538" y="22083"/>
                  </a:cubicBezTo>
                  <a:lnTo>
                    <a:pt x="7506" y="22917"/>
                  </a:lnTo>
                  <a:cubicBezTo>
                    <a:pt x="8540" y="21116"/>
                    <a:pt x="9408" y="19214"/>
                    <a:pt x="10108" y="17280"/>
                  </a:cubicBezTo>
                  <a:cubicBezTo>
                    <a:pt x="10475" y="16246"/>
                    <a:pt x="10775" y="15178"/>
                    <a:pt x="10975" y="14111"/>
                  </a:cubicBezTo>
                  <a:cubicBezTo>
                    <a:pt x="11109" y="13510"/>
                    <a:pt x="11142" y="12877"/>
                    <a:pt x="11142" y="12243"/>
                  </a:cubicBezTo>
                  <a:cubicBezTo>
                    <a:pt x="11109" y="11876"/>
                    <a:pt x="11075" y="11509"/>
                    <a:pt x="10975" y="11175"/>
                  </a:cubicBezTo>
                  <a:cubicBezTo>
                    <a:pt x="10909" y="10842"/>
                    <a:pt x="10842" y="10575"/>
                    <a:pt x="10742" y="10275"/>
                  </a:cubicBezTo>
                  <a:cubicBezTo>
                    <a:pt x="10375" y="9141"/>
                    <a:pt x="9875" y="8073"/>
                    <a:pt x="9241" y="7106"/>
                  </a:cubicBezTo>
                  <a:cubicBezTo>
                    <a:pt x="8674" y="6172"/>
                    <a:pt x="8007" y="5271"/>
                    <a:pt x="7306" y="4437"/>
                  </a:cubicBezTo>
                  <a:cubicBezTo>
                    <a:pt x="6606" y="3603"/>
                    <a:pt x="5838" y="2836"/>
                    <a:pt x="5071" y="2102"/>
                  </a:cubicBezTo>
                  <a:cubicBezTo>
                    <a:pt x="4671" y="1735"/>
                    <a:pt x="4304" y="1368"/>
                    <a:pt x="3870" y="1035"/>
                  </a:cubicBezTo>
                  <a:cubicBezTo>
                    <a:pt x="3470" y="668"/>
                    <a:pt x="3070" y="368"/>
                    <a:pt x="2603" y="1"/>
                  </a:cubicBezTo>
                  <a:close/>
                </a:path>
              </a:pathLst>
            </a:custGeom>
            <a:solidFill>
              <a:srgbClr val="CE7A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709;p111">
              <a:extLst>
                <a:ext uri="{FF2B5EF4-FFF2-40B4-BE49-F238E27FC236}">
                  <a16:creationId xmlns:a16="http://schemas.microsoft.com/office/drawing/2014/main" id="{1CC3A342-9E0A-8DEC-54A3-70F2400AEB69}"/>
                </a:ext>
              </a:extLst>
            </p:cNvPr>
            <p:cNvSpPr/>
            <p:nvPr/>
          </p:nvSpPr>
          <p:spPr>
            <a:xfrm>
              <a:off x="7398637" y="2283338"/>
              <a:ext cx="269153" cy="281832"/>
            </a:xfrm>
            <a:custGeom>
              <a:avLst/>
              <a:gdLst/>
              <a:ahLst/>
              <a:cxnLst/>
              <a:rect l="l" t="t" r="r" b="b"/>
              <a:pathLst>
                <a:path w="12109" h="12586" extrusionOk="0">
                  <a:moveTo>
                    <a:pt x="4494" y="0"/>
                  </a:moveTo>
                  <a:cubicBezTo>
                    <a:pt x="4440" y="0"/>
                    <a:pt x="4388" y="3"/>
                    <a:pt x="4336" y="9"/>
                  </a:cubicBezTo>
                  <a:cubicBezTo>
                    <a:pt x="1434" y="343"/>
                    <a:pt x="0" y="2978"/>
                    <a:pt x="2001" y="6014"/>
                  </a:cubicBezTo>
                  <a:cubicBezTo>
                    <a:pt x="3202" y="7715"/>
                    <a:pt x="4503" y="9383"/>
                    <a:pt x="5904" y="10951"/>
                  </a:cubicBezTo>
                  <a:cubicBezTo>
                    <a:pt x="6204" y="11317"/>
                    <a:pt x="6471" y="11618"/>
                    <a:pt x="6705" y="11885"/>
                  </a:cubicBezTo>
                  <a:cubicBezTo>
                    <a:pt x="7138" y="12318"/>
                    <a:pt x="7372" y="12585"/>
                    <a:pt x="7372" y="12585"/>
                  </a:cubicBezTo>
                  <a:lnTo>
                    <a:pt x="12109" y="8015"/>
                  </a:lnTo>
                  <a:cubicBezTo>
                    <a:pt x="12109" y="8015"/>
                    <a:pt x="11975" y="7782"/>
                    <a:pt x="11742" y="7415"/>
                  </a:cubicBezTo>
                  <a:cubicBezTo>
                    <a:pt x="11575" y="7148"/>
                    <a:pt x="11341" y="6814"/>
                    <a:pt x="11075" y="6381"/>
                  </a:cubicBezTo>
                  <a:cubicBezTo>
                    <a:pt x="9484" y="4075"/>
                    <a:pt x="6439" y="0"/>
                    <a:pt x="44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710;p111">
              <a:extLst>
                <a:ext uri="{FF2B5EF4-FFF2-40B4-BE49-F238E27FC236}">
                  <a16:creationId xmlns:a16="http://schemas.microsoft.com/office/drawing/2014/main" id="{3A9402DA-CAEF-60CB-7C6F-89E6B3051BAC}"/>
                </a:ext>
              </a:extLst>
            </p:cNvPr>
            <p:cNvSpPr/>
            <p:nvPr/>
          </p:nvSpPr>
          <p:spPr>
            <a:xfrm>
              <a:off x="7558030" y="2776734"/>
              <a:ext cx="74173" cy="111112"/>
            </a:xfrm>
            <a:custGeom>
              <a:avLst/>
              <a:gdLst/>
              <a:ahLst/>
              <a:cxnLst/>
              <a:rect l="l" t="t" r="r" b="b"/>
              <a:pathLst>
                <a:path w="3337" h="4962" extrusionOk="0">
                  <a:moveTo>
                    <a:pt x="2165" y="0"/>
                  </a:moveTo>
                  <a:cubicBezTo>
                    <a:pt x="1159" y="0"/>
                    <a:pt x="1" y="1492"/>
                    <a:pt x="1" y="1492"/>
                  </a:cubicBezTo>
                  <a:lnTo>
                    <a:pt x="1869" y="4961"/>
                  </a:lnTo>
                  <a:lnTo>
                    <a:pt x="3337" y="2159"/>
                  </a:lnTo>
                  <a:lnTo>
                    <a:pt x="2803" y="258"/>
                  </a:lnTo>
                  <a:cubicBezTo>
                    <a:pt x="2608" y="75"/>
                    <a:pt x="2390" y="0"/>
                    <a:pt x="2165" y="0"/>
                  </a:cubicBezTo>
                  <a:close/>
                </a:path>
              </a:pathLst>
            </a:custGeom>
            <a:solidFill>
              <a:srgbClr val="CE7A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711;p111">
              <a:extLst>
                <a:ext uri="{FF2B5EF4-FFF2-40B4-BE49-F238E27FC236}">
                  <a16:creationId xmlns:a16="http://schemas.microsoft.com/office/drawing/2014/main" id="{78245688-E03C-D2DE-FA06-79FD251420DE}"/>
                </a:ext>
              </a:extLst>
            </p:cNvPr>
            <p:cNvSpPr/>
            <p:nvPr/>
          </p:nvSpPr>
          <p:spPr>
            <a:xfrm>
              <a:off x="7504662" y="2810144"/>
              <a:ext cx="94911" cy="94138"/>
            </a:xfrm>
            <a:custGeom>
              <a:avLst/>
              <a:gdLst/>
              <a:ahLst/>
              <a:cxnLst/>
              <a:rect l="l" t="t" r="r" b="b"/>
              <a:pathLst>
                <a:path w="4270" h="4204" extrusionOk="0">
                  <a:moveTo>
                    <a:pt x="2402" y="0"/>
                  </a:moveTo>
                  <a:lnTo>
                    <a:pt x="0" y="1268"/>
                  </a:lnTo>
                  <a:lnTo>
                    <a:pt x="1434" y="4203"/>
                  </a:lnTo>
                  <a:lnTo>
                    <a:pt x="4270" y="3469"/>
                  </a:lnTo>
                  <a:lnTo>
                    <a:pt x="2402" y="0"/>
                  </a:lnTo>
                  <a:close/>
                </a:path>
              </a:pathLst>
            </a:custGeom>
            <a:solidFill>
              <a:srgbClr val="CE7A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712;p111">
              <a:extLst>
                <a:ext uri="{FF2B5EF4-FFF2-40B4-BE49-F238E27FC236}">
                  <a16:creationId xmlns:a16="http://schemas.microsoft.com/office/drawing/2014/main" id="{54B9DE50-F7AE-A935-4047-C9C2D989323D}"/>
                </a:ext>
              </a:extLst>
            </p:cNvPr>
            <p:cNvSpPr/>
            <p:nvPr/>
          </p:nvSpPr>
          <p:spPr>
            <a:xfrm>
              <a:off x="6296842" y="3219456"/>
              <a:ext cx="550175" cy="497494"/>
            </a:xfrm>
            <a:custGeom>
              <a:avLst/>
              <a:gdLst/>
              <a:ahLst/>
              <a:cxnLst/>
              <a:rect l="l" t="t" r="r" b="b"/>
              <a:pathLst>
                <a:path w="24752" h="22217" extrusionOk="0">
                  <a:moveTo>
                    <a:pt x="5971" y="1"/>
                  </a:moveTo>
                  <a:lnTo>
                    <a:pt x="901" y="2403"/>
                  </a:lnTo>
                  <a:lnTo>
                    <a:pt x="0" y="18481"/>
                  </a:lnTo>
                  <a:lnTo>
                    <a:pt x="20115" y="22217"/>
                  </a:lnTo>
                  <a:lnTo>
                    <a:pt x="24751" y="17847"/>
                  </a:lnTo>
                  <a:lnTo>
                    <a:pt x="24618" y="2770"/>
                  </a:lnTo>
                  <a:lnTo>
                    <a:pt x="5971" y="1"/>
                  </a:ln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13;p111">
              <a:extLst>
                <a:ext uri="{FF2B5EF4-FFF2-40B4-BE49-F238E27FC236}">
                  <a16:creationId xmlns:a16="http://schemas.microsoft.com/office/drawing/2014/main" id="{6BA2C232-93C0-A33E-E0D7-7CB27687EAC0}"/>
                </a:ext>
              </a:extLst>
            </p:cNvPr>
            <p:cNvSpPr/>
            <p:nvPr/>
          </p:nvSpPr>
          <p:spPr>
            <a:xfrm>
              <a:off x="6296086" y="3219456"/>
              <a:ext cx="550931" cy="497494"/>
            </a:xfrm>
            <a:custGeom>
              <a:avLst/>
              <a:gdLst/>
              <a:ahLst/>
              <a:cxnLst/>
              <a:rect l="l" t="t" r="r" b="b"/>
              <a:pathLst>
                <a:path w="24786" h="22217" extrusionOk="0">
                  <a:moveTo>
                    <a:pt x="6005" y="1"/>
                  </a:moveTo>
                  <a:lnTo>
                    <a:pt x="3737" y="1068"/>
                  </a:lnTo>
                  <a:lnTo>
                    <a:pt x="3070" y="1369"/>
                  </a:lnTo>
                  <a:lnTo>
                    <a:pt x="935" y="2403"/>
                  </a:lnTo>
                  <a:lnTo>
                    <a:pt x="1" y="18481"/>
                  </a:lnTo>
                  <a:lnTo>
                    <a:pt x="20149" y="22217"/>
                  </a:lnTo>
                  <a:lnTo>
                    <a:pt x="22584" y="19949"/>
                  </a:lnTo>
                  <a:lnTo>
                    <a:pt x="22984" y="19548"/>
                  </a:lnTo>
                  <a:lnTo>
                    <a:pt x="24785" y="17847"/>
                  </a:lnTo>
                  <a:lnTo>
                    <a:pt x="24652" y="2770"/>
                  </a:lnTo>
                  <a:lnTo>
                    <a:pt x="60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714;p111">
              <a:extLst>
                <a:ext uri="{FF2B5EF4-FFF2-40B4-BE49-F238E27FC236}">
                  <a16:creationId xmlns:a16="http://schemas.microsoft.com/office/drawing/2014/main" id="{6F2844CE-0A30-867C-63B2-362B74174075}"/>
                </a:ext>
              </a:extLst>
            </p:cNvPr>
            <p:cNvSpPr/>
            <p:nvPr/>
          </p:nvSpPr>
          <p:spPr>
            <a:xfrm>
              <a:off x="6364303" y="3243371"/>
              <a:ext cx="442683" cy="422793"/>
            </a:xfrm>
            <a:custGeom>
              <a:avLst/>
              <a:gdLst/>
              <a:ahLst/>
              <a:cxnLst/>
              <a:rect l="l" t="t" r="r" b="b"/>
              <a:pathLst>
                <a:path w="19916" h="18881" extrusionOk="0">
                  <a:moveTo>
                    <a:pt x="668" y="0"/>
                  </a:moveTo>
                  <a:lnTo>
                    <a:pt x="1" y="301"/>
                  </a:lnTo>
                  <a:lnTo>
                    <a:pt x="18781" y="3103"/>
                  </a:lnTo>
                  <a:lnTo>
                    <a:pt x="19515" y="18881"/>
                  </a:lnTo>
                  <a:lnTo>
                    <a:pt x="19915" y="18480"/>
                  </a:lnTo>
                  <a:lnTo>
                    <a:pt x="19215" y="2902"/>
                  </a:lnTo>
                  <a:lnTo>
                    <a:pt x="6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715;p111">
              <a:extLst>
                <a:ext uri="{FF2B5EF4-FFF2-40B4-BE49-F238E27FC236}">
                  <a16:creationId xmlns:a16="http://schemas.microsoft.com/office/drawing/2014/main" id="{19E1297A-6C17-EA61-4709-4BB6741D0EEE}"/>
                </a:ext>
              </a:extLst>
            </p:cNvPr>
            <p:cNvSpPr/>
            <p:nvPr/>
          </p:nvSpPr>
          <p:spPr>
            <a:xfrm>
              <a:off x="6506670" y="3252328"/>
              <a:ext cx="130520" cy="29155"/>
            </a:xfrm>
            <a:custGeom>
              <a:avLst/>
              <a:gdLst/>
              <a:ahLst/>
              <a:cxnLst/>
              <a:rect l="l" t="t" r="r" b="b"/>
              <a:pathLst>
                <a:path w="5872" h="1302" extrusionOk="0">
                  <a:moveTo>
                    <a:pt x="1168" y="1"/>
                  </a:moveTo>
                  <a:lnTo>
                    <a:pt x="0" y="534"/>
                  </a:lnTo>
                  <a:lnTo>
                    <a:pt x="4804" y="1302"/>
                  </a:lnTo>
                  <a:lnTo>
                    <a:pt x="5871" y="668"/>
                  </a:lnTo>
                  <a:lnTo>
                    <a:pt x="116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5716;p111">
              <a:extLst>
                <a:ext uri="{FF2B5EF4-FFF2-40B4-BE49-F238E27FC236}">
                  <a16:creationId xmlns:a16="http://schemas.microsoft.com/office/drawing/2014/main" id="{1887D15B-E55B-E484-DE80-A5A20C9C106F}"/>
                </a:ext>
              </a:extLst>
            </p:cNvPr>
            <p:cNvSpPr/>
            <p:nvPr/>
          </p:nvSpPr>
          <p:spPr>
            <a:xfrm>
              <a:off x="6465882" y="3146748"/>
              <a:ext cx="221719" cy="146693"/>
            </a:xfrm>
            <a:custGeom>
              <a:avLst/>
              <a:gdLst/>
              <a:ahLst/>
              <a:cxnLst/>
              <a:rect l="l" t="t" r="r" b="b"/>
              <a:pathLst>
                <a:path w="9975" h="6551" extrusionOk="0">
                  <a:moveTo>
                    <a:pt x="1892" y="1"/>
                  </a:moveTo>
                  <a:cubicBezTo>
                    <a:pt x="1710" y="1"/>
                    <a:pt x="1596" y="14"/>
                    <a:pt x="1569" y="46"/>
                  </a:cubicBezTo>
                  <a:cubicBezTo>
                    <a:pt x="1335" y="313"/>
                    <a:pt x="1" y="5049"/>
                    <a:pt x="1" y="5049"/>
                  </a:cubicBezTo>
                  <a:lnTo>
                    <a:pt x="1035" y="5183"/>
                  </a:lnTo>
                  <a:lnTo>
                    <a:pt x="1635" y="4716"/>
                  </a:lnTo>
                  <a:cubicBezTo>
                    <a:pt x="1635" y="4716"/>
                    <a:pt x="2269" y="980"/>
                    <a:pt x="2436" y="913"/>
                  </a:cubicBezTo>
                  <a:cubicBezTo>
                    <a:pt x="2440" y="912"/>
                    <a:pt x="2446" y="912"/>
                    <a:pt x="2454" y="912"/>
                  </a:cubicBezTo>
                  <a:cubicBezTo>
                    <a:pt x="2827" y="912"/>
                    <a:pt x="7709" y="1616"/>
                    <a:pt x="7840" y="1747"/>
                  </a:cubicBezTo>
                  <a:cubicBezTo>
                    <a:pt x="7973" y="1880"/>
                    <a:pt x="8173" y="6317"/>
                    <a:pt x="8173" y="6317"/>
                  </a:cubicBezTo>
                  <a:lnTo>
                    <a:pt x="9441" y="6550"/>
                  </a:lnTo>
                  <a:lnTo>
                    <a:pt x="9975" y="6117"/>
                  </a:lnTo>
                  <a:cubicBezTo>
                    <a:pt x="9975" y="6117"/>
                    <a:pt x="9374" y="913"/>
                    <a:pt x="8874" y="846"/>
                  </a:cubicBezTo>
                  <a:cubicBezTo>
                    <a:pt x="8432" y="787"/>
                    <a:pt x="3259" y="1"/>
                    <a:pt x="189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5717;p111">
              <a:extLst>
                <a:ext uri="{FF2B5EF4-FFF2-40B4-BE49-F238E27FC236}">
                  <a16:creationId xmlns:a16="http://schemas.microsoft.com/office/drawing/2014/main" id="{69FB8FC1-8161-79C0-01ED-C9C5702A7073}"/>
                </a:ext>
              </a:extLst>
            </p:cNvPr>
            <p:cNvSpPr/>
            <p:nvPr/>
          </p:nvSpPr>
          <p:spPr>
            <a:xfrm>
              <a:off x="6790648" y="3495085"/>
              <a:ext cx="44499" cy="97878"/>
            </a:xfrm>
            <a:custGeom>
              <a:avLst/>
              <a:gdLst/>
              <a:ahLst/>
              <a:cxnLst/>
              <a:rect l="l" t="t" r="r" b="b"/>
              <a:pathLst>
                <a:path w="2002" h="4371" extrusionOk="0">
                  <a:moveTo>
                    <a:pt x="0" y="1"/>
                  </a:moveTo>
                  <a:lnTo>
                    <a:pt x="34" y="668"/>
                  </a:lnTo>
                  <a:lnTo>
                    <a:pt x="34" y="1001"/>
                  </a:lnTo>
                  <a:lnTo>
                    <a:pt x="167" y="4004"/>
                  </a:lnTo>
                  <a:lnTo>
                    <a:pt x="167" y="4371"/>
                  </a:lnTo>
                  <a:lnTo>
                    <a:pt x="2002" y="3103"/>
                  </a:lnTo>
                  <a:cubicBezTo>
                    <a:pt x="1435" y="2569"/>
                    <a:pt x="934" y="1935"/>
                    <a:pt x="601" y="1202"/>
                  </a:cubicBezTo>
                  <a:cubicBezTo>
                    <a:pt x="267" y="568"/>
                    <a:pt x="0" y="1"/>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5718;p111">
              <a:extLst>
                <a:ext uri="{FF2B5EF4-FFF2-40B4-BE49-F238E27FC236}">
                  <a16:creationId xmlns:a16="http://schemas.microsoft.com/office/drawing/2014/main" id="{513F7B82-5C91-A599-F381-8D8283E6A491}"/>
                </a:ext>
              </a:extLst>
            </p:cNvPr>
            <p:cNvSpPr/>
            <p:nvPr/>
          </p:nvSpPr>
          <p:spPr>
            <a:xfrm>
              <a:off x="6791382" y="3510021"/>
              <a:ext cx="33386" cy="74724"/>
            </a:xfrm>
            <a:custGeom>
              <a:avLst/>
              <a:gdLst/>
              <a:ahLst/>
              <a:cxnLst/>
              <a:rect l="l" t="t" r="r" b="b"/>
              <a:pathLst>
                <a:path w="1502" h="3337" extrusionOk="0">
                  <a:moveTo>
                    <a:pt x="1" y="1"/>
                  </a:moveTo>
                  <a:lnTo>
                    <a:pt x="1" y="334"/>
                  </a:lnTo>
                  <a:lnTo>
                    <a:pt x="134" y="3337"/>
                  </a:lnTo>
                  <a:lnTo>
                    <a:pt x="1502" y="2403"/>
                  </a:lnTo>
                  <a:cubicBezTo>
                    <a:pt x="801" y="1902"/>
                    <a:pt x="267" y="701"/>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5719;p111">
              <a:extLst>
                <a:ext uri="{FF2B5EF4-FFF2-40B4-BE49-F238E27FC236}">
                  <a16:creationId xmlns:a16="http://schemas.microsoft.com/office/drawing/2014/main" id="{3F6298BC-D34F-1337-8EDC-50EF4C25FBC7}"/>
                </a:ext>
              </a:extLst>
            </p:cNvPr>
            <p:cNvSpPr/>
            <p:nvPr/>
          </p:nvSpPr>
          <p:spPr>
            <a:xfrm>
              <a:off x="6789892" y="3495847"/>
              <a:ext cx="13381" cy="26893"/>
            </a:xfrm>
            <a:custGeom>
              <a:avLst/>
              <a:gdLst/>
              <a:ahLst/>
              <a:cxnLst/>
              <a:rect l="l" t="t" r="r" b="b"/>
              <a:pathLst>
                <a:path w="602" h="1201" extrusionOk="0">
                  <a:moveTo>
                    <a:pt x="1" y="0"/>
                  </a:moveTo>
                  <a:lnTo>
                    <a:pt x="68" y="967"/>
                  </a:lnTo>
                  <a:cubicBezTo>
                    <a:pt x="234" y="1034"/>
                    <a:pt x="434" y="1101"/>
                    <a:pt x="601" y="1201"/>
                  </a:cubicBezTo>
                  <a:cubicBezTo>
                    <a:pt x="268" y="534"/>
                    <a:pt x="1" y="0"/>
                    <a:pt x="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5720;p111">
              <a:extLst>
                <a:ext uri="{FF2B5EF4-FFF2-40B4-BE49-F238E27FC236}">
                  <a16:creationId xmlns:a16="http://schemas.microsoft.com/office/drawing/2014/main" id="{04E1821D-94E5-B08F-370A-B7E796094105}"/>
                </a:ext>
              </a:extLst>
            </p:cNvPr>
            <p:cNvSpPr/>
            <p:nvPr/>
          </p:nvSpPr>
          <p:spPr>
            <a:xfrm>
              <a:off x="6789159" y="3451017"/>
              <a:ext cx="80841" cy="97878"/>
            </a:xfrm>
            <a:custGeom>
              <a:avLst/>
              <a:gdLst/>
              <a:ahLst/>
              <a:cxnLst/>
              <a:rect l="l" t="t" r="r" b="b"/>
              <a:pathLst>
                <a:path w="3637" h="4371" extrusionOk="0">
                  <a:moveTo>
                    <a:pt x="0" y="1"/>
                  </a:moveTo>
                  <a:lnTo>
                    <a:pt x="0" y="234"/>
                  </a:lnTo>
                  <a:lnTo>
                    <a:pt x="101" y="2536"/>
                  </a:lnTo>
                  <a:lnTo>
                    <a:pt x="101" y="2903"/>
                  </a:lnTo>
                  <a:cubicBezTo>
                    <a:pt x="1201" y="3070"/>
                    <a:pt x="2269" y="3603"/>
                    <a:pt x="3103" y="4370"/>
                  </a:cubicBezTo>
                  <a:lnTo>
                    <a:pt x="3636" y="1869"/>
                  </a:lnTo>
                  <a:cubicBezTo>
                    <a:pt x="2202" y="434"/>
                    <a:pt x="0" y="1"/>
                    <a:pt x="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5721;p111">
              <a:extLst>
                <a:ext uri="{FF2B5EF4-FFF2-40B4-BE49-F238E27FC236}">
                  <a16:creationId xmlns:a16="http://schemas.microsoft.com/office/drawing/2014/main" id="{FF0C640D-F661-22E5-B715-6B9828CC9AAE}"/>
                </a:ext>
              </a:extLst>
            </p:cNvPr>
            <p:cNvSpPr/>
            <p:nvPr/>
          </p:nvSpPr>
          <p:spPr>
            <a:xfrm>
              <a:off x="6783958" y="3330008"/>
              <a:ext cx="60081" cy="94899"/>
            </a:xfrm>
            <a:custGeom>
              <a:avLst/>
              <a:gdLst/>
              <a:ahLst/>
              <a:cxnLst/>
              <a:rect l="l" t="t" r="r" b="b"/>
              <a:pathLst>
                <a:path w="2703" h="4238" extrusionOk="0">
                  <a:moveTo>
                    <a:pt x="1335" y="1"/>
                  </a:moveTo>
                  <a:cubicBezTo>
                    <a:pt x="935" y="434"/>
                    <a:pt x="468" y="868"/>
                    <a:pt x="1" y="1235"/>
                  </a:cubicBezTo>
                  <a:lnTo>
                    <a:pt x="1" y="1435"/>
                  </a:lnTo>
                  <a:lnTo>
                    <a:pt x="34" y="2002"/>
                  </a:lnTo>
                  <a:lnTo>
                    <a:pt x="68" y="3236"/>
                  </a:lnTo>
                  <a:lnTo>
                    <a:pt x="101" y="3970"/>
                  </a:lnTo>
                  <a:lnTo>
                    <a:pt x="101" y="4237"/>
                  </a:lnTo>
                  <a:cubicBezTo>
                    <a:pt x="1068" y="3770"/>
                    <a:pt x="1936" y="3170"/>
                    <a:pt x="2703" y="2403"/>
                  </a:cubicBezTo>
                  <a:lnTo>
                    <a:pt x="133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5722;p111">
              <a:extLst>
                <a:ext uri="{FF2B5EF4-FFF2-40B4-BE49-F238E27FC236}">
                  <a16:creationId xmlns:a16="http://schemas.microsoft.com/office/drawing/2014/main" id="{96A395C0-E575-7402-24F0-BE508C790E2D}"/>
                </a:ext>
              </a:extLst>
            </p:cNvPr>
            <p:cNvSpPr/>
            <p:nvPr/>
          </p:nvSpPr>
          <p:spPr>
            <a:xfrm>
              <a:off x="6706117" y="3252328"/>
              <a:ext cx="69728" cy="56048"/>
            </a:xfrm>
            <a:custGeom>
              <a:avLst/>
              <a:gdLst/>
              <a:ahLst/>
              <a:cxnLst/>
              <a:rect l="l" t="t" r="r" b="b"/>
              <a:pathLst>
                <a:path w="3137" h="2503" extrusionOk="0">
                  <a:moveTo>
                    <a:pt x="1768" y="1"/>
                  </a:moveTo>
                  <a:cubicBezTo>
                    <a:pt x="934" y="501"/>
                    <a:pt x="301" y="1268"/>
                    <a:pt x="0" y="2202"/>
                  </a:cubicBezTo>
                  <a:lnTo>
                    <a:pt x="201" y="2236"/>
                  </a:lnTo>
                  <a:lnTo>
                    <a:pt x="834" y="2302"/>
                  </a:lnTo>
                  <a:lnTo>
                    <a:pt x="1468" y="2402"/>
                  </a:lnTo>
                  <a:lnTo>
                    <a:pt x="1902" y="2469"/>
                  </a:lnTo>
                  <a:lnTo>
                    <a:pt x="2202" y="2502"/>
                  </a:lnTo>
                  <a:cubicBezTo>
                    <a:pt x="2469" y="2136"/>
                    <a:pt x="2769" y="1769"/>
                    <a:pt x="3136" y="1468"/>
                  </a:cubicBezTo>
                  <a:lnTo>
                    <a:pt x="176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5723;p111">
              <a:extLst>
                <a:ext uri="{FF2B5EF4-FFF2-40B4-BE49-F238E27FC236}">
                  <a16:creationId xmlns:a16="http://schemas.microsoft.com/office/drawing/2014/main" id="{86ACD684-7BBB-2048-AFCA-D6AFBADB2871}"/>
                </a:ext>
              </a:extLst>
            </p:cNvPr>
            <p:cNvSpPr/>
            <p:nvPr/>
          </p:nvSpPr>
          <p:spPr>
            <a:xfrm>
              <a:off x="6711296" y="3259807"/>
              <a:ext cx="55635" cy="47830"/>
            </a:xfrm>
            <a:custGeom>
              <a:avLst/>
              <a:gdLst/>
              <a:ahLst/>
              <a:cxnLst/>
              <a:rect l="l" t="t" r="r" b="b"/>
              <a:pathLst>
                <a:path w="2503" h="2136" extrusionOk="0">
                  <a:moveTo>
                    <a:pt x="1469" y="0"/>
                  </a:moveTo>
                  <a:cubicBezTo>
                    <a:pt x="701" y="401"/>
                    <a:pt x="201" y="1401"/>
                    <a:pt x="1" y="1902"/>
                  </a:cubicBezTo>
                  <a:lnTo>
                    <a:pt x="601" y="1968"/>
                  </a:lnTo>
                  <a:cubicBezTo>
                    <a:pt x="568" y="1902"/>
                    <a:pt x="535" y="1835"/>
                    <a:pt x="535" y="1735"/>
                  </a:cubicBezTo>
                  <a:cubicBezTo>
                    <a:pt x="535" y="1451"/>
                    <a:pt x="752" y="1310"/>
                    <a:pt x="968" y="1310"/>
                  </a:cubicBezTo>
                  <a:cubicBezTo>
                    <a:pt x="1185" y="1310"/>
                    <a:pt x="1402" y="1451"/>
                    <a:pt x="1402" y="1735"/>
                  </a:cubicBezTo>
                  <a:cubicBezTo>
                    <a:pt x="1402" y="1868"/>
                    <a:pt x="1369" y="2002"/>
                    <a:pt x="1269" y="2068"/>
                  </a:cubicBezTo>
                  <a:lnTo>
                    <a:pt x="1669" y="2135"/>
                  </a:lnTo>
                  <a:cubicBezTo>
                    <a:pt x="1902" y="1768"/>
                    <a:pt x="2203" y="1401"/>
                    <a:pt x="2503" y="1101"/>
                  </a:cubicBezTo>
                  <a:lnTo>
                    <a:pt x="146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5724;p111">
              <a:extLst>
                <a:ext uri="{FF2B5EF4-FFF2-40B4-BE49-F238E27FC236}">
                  <a16:creationId xmlns:a16="http://schemas.microsoft.com/office/drawing/2014/main" id="{CF509EBB-BAB2-E9EC-C09D-D5C9B2407ABA}"/>
                </a:ext>
              </a:extLst>
            </p:cNvPr>
            <p:cNvSpPr/>
            <p:nvPr/>
          </p:nvSpPr>
          <p:spPr>
            <a:xfrm>
              <a:off x="6788425" y="3456257"/>
              <a:ext cx="77863" cy="82180"/>
            </a:xfrm>
            <a:custGeom>
              <a:avLst/>
              <a:gdLst/>
              <a:ahLst/>
              <a:cxnLst/>
              <a:rect l="l" t="t" r="r" b="b"/>
              <a:pathLst>
                <a:path w="3503" h="3670" extrusionOk="0">
                  <a:moveTo>
                    <a:pt x="1142" y="776"/>
                  </a:moveTo>
                  <a:cubicBezTo>
                    <a:pt x="1236" y="776"/>
                    <a:pt x="1334" y="794"/>
                    <a:pt x="1434" y="834"/>
                  </a:cubicBezTo>
                  <a:cubicBezTo>
                    <a:pt x="1768" y="934"/>
                    <a:pt x="1968" y="1301"/>
                    <a:pt x="1868" y="1635"/>
                  </a:cubicBezTo>
                  <a:cubicBezTo>
                    <a:pt x="1810" y="2042"/>
                    <a:pt x="1480" y="2269"/>
                    <a:pt x="1143" y="2269"/>
                  </a:cubicBezTo>
                  <a:cubicBezTo>
                    <a:pt x="900" y="2269"/>
                    <a:pt x="654" y="2152"/>
                    <a:pt x="500" y="1902"/>
                  </a:cubicBezTo>
                  <a:cubicBezTo>
                    <a:pt x="217" y="1363"/>
                    <a:pt x="608" y="776"/>
                    <a:pt x="1142" y="776"/>
                  </a:cubicBezTo>
                  <a:close/>
                  <a:moveTo>
                    <a:pt x="0" y="0"/>
                  </a:moveTo>
                  <a:lnTo>
                    <a:pt x="100" y="2302"/>
                  </a:lnTo>
                  <a:cubicBezTo>
                    <a:pt x="1501" y="2535"/>
                    <a:pt x="3036" y="3669"/>
                    <a:pt x="3036" y="3669"/>
                  </a:cubicBezTo>
                  <a:lnTo>
                    <a:pt x="3503" y="1701"/>
                  </a:lnTo>
                  <a:cubicBezTo>
                    <a:pt x="2502" y="834"/>
                    <a:pt x="1301" y="234"/>
                    <a:pt x="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5725;p111">
              <a:extLst>
                <a:ext uri="{FF2B5EF4-FFF2-40B4-BE49-F238E27FC236}">
                  <a16:creationId xmlns:a16="http://schemas.microsoft.com/office/drawing/2014/main" id="{C9394626-873B-28B1-E520-D6A47196097F}"/>
                </a:ext>
              </a:extLst>
            </p:cNvPr>
            <p:cNvSpPr/>
            <p:nvPr/>
          </p:nvSpPr>
          <p:spPr>
            <a:xfrm>
              <a:off x="6784713" y="3339726"/>
              <a:ext cx="51168" cy="79202"/>
            </a:xfrm>
            <a:custGeom>
              <a:avLst/>
              <a:gdLst/>
              <a:ahLst/>
              <a:cxnLst/>
              <a:rect l="l" t="t" r="r" b="b"/>
              <a:pathLst>
                <a:path w="2302" h="3537" extrusionOk="0">
                  <a:moveTo>
                    <a:pt x="1201" y="0"/>
                  </a:moveTo>
                  <a:cubicBezTo>
                    <a:pt x="834" y="401"/>
                    <a:pt x="434" y="734"/>
                    <a:pt x="0" y="1001"/>
                  </a:cubicBezTo>
                  <a:lnTo>
                    <a:pt x="0" y="1568"/>
                  </a:lnTo>
                  <a:lnTo>
                    <a:pt x="34" y="1568"/>
                  </a:lnTo>
                  <a:cubicBezTo>
                    <a:pt x="768" y="1668"/>
                    <a:pt x="768" y="2702"/>
                    <a:pt x="34" y="2802"/>
                  </a:cubicBezTo>
                  <a:lnTo>
                    <a:pt x="67" y="3536"/>
                  </a:lnTo>
                  <a:cubicBezTo>
                    <a:pt x="868" y="3103"/>
                    <a:pt x="1601" y="2569"/>
                    <a:pt x="2302" y="1969"/>
                  </a:cubicBezTo>
                  <a:lnTo>
                    <a:pt x="120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5726;p111">
              <a:extLst>
                <a:ext uri="{FF2B5EF4-FFF2-40B4-BE49-F238E27FC236}">
                  <a16:creationId xmlns:a16="http://schemas.microsoft.com/office/drawing/2014/main" id="{1CBA7ACD-CA28-4368-830F-58C6056C56B3}"/>
                </a:ext>
              </a:extLst>
            </p:cNvPr>
            <p:cNvSpPr/>
            <p:nvPr/>
          </p:nvSpPr>
          <p:spPr>
            <a:xfrm>
              <a:off x="6440676" y="2481489"/>
              <a:ext cx="115694" cy="605784"/>
            </a:xfrm>
            <a:custGeom>
              <a:avLst/>
              <a:gdLst/>
              <a:ahLst/>
              <a:cxnLst/>
              <a:rect l="l" t="t" r="r" b="b"/>
              <a:pathLst>
                <a:path w="5205" h="27053" extrusionOk="0">
                  <a:moveTo>
                    <a:pt x="301" y="0"/>
                  </a:moveTo>
                  <a:cubicBezTo>
                    <a:pt x="301" y="0"/>
                    <a:pt x="1" y="12943"/>
                    <a:pt x="267" y="14677"/>
                  </a:cubicBezTo>
                  <a:cubicBezTo>
                    <a:pt x="1035" y="19180"/>
                    <a:pt x="3236" y="27053"/>
                    <a:pt x="3236" y="27053"/>
                  </a:cubicBezTo>
                  <a:lnTo>
                    <a:pt x="5204" y="26319"/>
                  </a:lnTo>
                  <a:cubicBezTo>
                    <a:pt x="5204" y="26319"/>
                    <a:pt x="3336" y="18080"/>
                    <a:pt x="3136" y="15111"/>
                  </a:cubicBezTo>
                  <a:cubicBezTo>
                    <a:pt x="2903" y="12142"/>
                    <a:pt x="2669" y="1601"/>
                    <a:pt x="3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5727;p111">
              <a:extLst>
                <a:ext uri="{FF2B5EF4-FFF2-40B4-BE49-F238E27FC236}">
                  <a16:creationId xmlns:a16="http://schemas.microsoft.com/office/drawing/2014/main" id="{97E608AB-DF1A-51DF-74A8-247978DF5791}"/>
                </a:ext>
              </a:extLst>
            </p:cNvPr>
            <p:cNvSpPr/>
            <p:nvPr/>
          </p:nvSpPr>
          <p:spPr>
            <a:xfrm>
              <a:off x="6586733" y="2664480"/>
              <a:ext cx="76396" cy="81845"/>
            </a:xfrm>
            <a:custGeom>
              <a:avLst/>
              <a:gdLst/>
              <a:ahLst/>
              <a:cxnLst/>
              <a:rect l="l" t="t" r="r" b="b"/>
              <a:pathLst>
                <a:path w="3437" h="3655" extrusionOk="0">
                  <a:moveTo>
                    <a:pt x="2870" y="1"/>
                  </a:moveTo>
                  <a:lnTo>
                    <a:pt x="1" y="1568"/>
                  </a:lnTo>
                  <a:lnTo>
                    <a:pt x="1" y="3336"/>
                  </a:lnTo>
                  <a:cubicBezTo>
                    <a:pt x="142" y="3571"/>
                    <a:pt x="474" y="3655"/>
                    <a:pt x="880" y="3655"/>
                  </a:cubicBezTo>
                  <a:cubicBezTo>
                    <a:pt x="1919" y="3655"/>
                    <a:pt x="3437" y="3103"/>
                    <a:pt x="3437" y="3103"/>
                  </a:cubicBezTo>
                  <a:lnTo>
                    <a:pt x="2870" y="1"/>
                  </a:ln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5728;p111">
              <a:extLst>
                <a:ext uri="{FF2B5EF4-FFF2-40B4-BE49-F238E27FC236}">
                  <a16:creationId xmlns:a16="http://schemas.microsoft.com/office/drawing/2014/main" id="{A5C05FC1-7EDC-A78F-2C72-2C054A01C84E}"/>
                </a:ext>
              </a:extLst>
            </p:cNvPr>
            <p:cNvSpPr/>
            <p:nvPr/>
          </p:nvSpPr>
          <p:spPr>
            <a:xfrm>
              <a:off x="6650504" y="2664480"/>
              <a:ext cx="61570" cy="72485"/>
            </a:xfrm>
            <a:custGeom>
              <a:avLst/>
              <a:gdLst/>
              <a:ahLst/>
              <a:cxnLst/>
              <a:rect l="l" t="t" r="r" b="b"/>
              <a:pathLst>
                <a:path w="2770" h="3237" extrusionOk="0">
                  <a:moveTo>
                    <a:pt x="1" y="1"/>
                  </a:moveTo>
                  <a:lnTo>
                    <a:pt x="568" y="3103"/>
                  </a:lnTo>
                  <a:lnTo>
                    <a:pt x="2603" y="3236"/>
                  </a:lnTo>
                  <a:lnTo>
                    <a:pt x="2769" y="1001"/>
                  </a:lnTo>
                  <a:lnTo>
                    <a:pt x="1" y="1"/>
                  </a:ln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5729;p111">
              <a:extLst>
                <a:ext uri="{FF2B5EF4-FFF2-40B4-BE49-F238E27FC236}">
                  <a16:creationId xmlns:a16="http://schemas.microsoft.com/office/drawing/2014/main" id="{1DE43DAF-E49E-6650-91AC-E528EBBB951C}"/>
                </a:ext>
              </a:extLst>
            </p:cNvPr>
            <p:cNvSpPr/>
            <p:nvPr/>
          </p:nvSpPr>
          <p:spPr>
            <a:xfrm>
              <a:off x="6101618" y="2084761"/>
              <a:ext cx="304228" cy="335529"/>
            </a:xfrm>
            <a:custGeom>
              <a:avLst/>
              <a:gdLst/>
              <a:ahLst/>
              <a:cxnLst/>
              <a:rect l="l" t="t" r="r" b="b"/>
              <a:pathLst>
                <a:path w="13687" h="14984" extrusionOk="0">
                  <a:moveTo>
                    <a:pt x="7007" y="0"/>
                  </a:moveTo>
                  <a:cubicBezTo>
                    <a:pt x="3105" y="0"/>
                    <a:pt x="2345" y="2573"/>
                    <a:pt x="2345" y="2573"/>
                  </a:cubicBezTo>
                  <a:cubicBezTo>
                    <a:pt x="2256" y="2552"/>
                    <a:pt x="2168" y="2541"/>
                    <a:pt x="2081" y="2541"/>
                  </a:cubicBezTo>
                  <a:cubicBezTo>
                    <a:pt x="930" y="2541"/>
                    <a:pt x="1" y="4352"/>
                    <a:pt x="311" y="7143"/>
                  </a:cubicBezTo>
                  <a:cubicBezTo>
                    <a:pt x="644" y="10112"/>
                    <a:pt x="2479" y="10245"/>
                    <a:pt x="2779" y="11379"/>
                  </a:cubicBezTo>
                  <a:cubicBezTo>
                    <a:pt x="3079" y="12480"/>
                    <a:pt x="2512" y="14081"/>
                    <a:pt x="2512" y="14081"/>
                  </a:cubicBezTo>
                  <a:cubicBezTo>
                    <a:pt x="3046" y="13648"/>
                    <a:pt x="3213" y="12280"/>
                    <a:pt x="3213" y="12280"/>
                  </a:cubicBezTo>
                  <a:lnTo>
                    <a:pt x="3213" y="12280"/>
                  </a:lnTo>
                  <a:cubicBezTo>
                    <a:pt x="3279" y="13114"/>
                    <a:pt x="3079" y="13948"/>
                    <a:pt x="2612" y="14648"/>
                  </a:cubicBezTo>
                  <a:cubicBezTo>
                    <a:pt x="3449" y="14894"/>
                    <a:pt x="4512" y="14983"/>
                    <a:pt x="5615" y="14983"/>
                  </a:cubicBezTo>
                  <a:cubicBezTo>
                    <a:pt x="8557" y="14983"/>
                    <a:pt x="11785" y="14348"/>
                    <a:pt x="11785" y="14348"/>
                  </a:cubicBezTo>
                  <a:cubicBezTo>
                    <a:pt x="11552" y="13814"/>
                    <a:pt x="11452" y="13247"/>
                    <a:pt x="11519" y="12680"/>
                  </a:cubicBezTo>
                  <a:lnTo>
                    <a:pt x="11519" y="12680"/>
                  </a:lnTo>
                  <a:cubicBezTo>
                    <a:pt x="11652" y="13214"/>
                    <a:pt x="12052" y="13681"/>
                    <a:pt x="12553" y="13914"/>
                  </a:cubicBezTo>
                  <a:cubicBezTo>
                    <a:pt x="11719" y="12013"/>
                    <a:pt x="11685" y="9878"/>
                    <a:pt x="12453" y="7943"/>
                  </a:cubicBezTo>
                  <a:cubicBezTo>
                    <a:pt x="13687" y="4608"/>
                    <a:pt x="12486" y="438"/>
                    <a:pt x="7849" y="38"/>
                  </a:cubicBezTo>
                  <a:cubicBezTo>
                    <a:pt x="7553" y="12"/>
                    <a:pt x="7273" y="0"/>
                    <a:pt x="7007" y="0"/>
                  </a:cubicBezTo>
                  <a:close/>
                </a:path>
              </a:pathLst>
            </a:custGeom>
            <a:solidFill>
              <a:srgbClr val="FF68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5730;p111">
              <a:extLst>
                <a:ext uri="{FF2B5EF4-FFF2-40B4-BE49-F238E27FC236}">
                  <a16:creationId xmlns:a16="http://schemas.microsoft.com/office/drawing/2014/main" id="{D97D404D-6A4D-D01C-CB26-BC3483FF6BED}"/>
                </a:ext>
              </a:extLst>
            </p:cNvPr>
            <p:cNvSpPr/>
            <p:nvPr/>
          </p:nvSpPr>
          <p:spPr>
            <a:xfrm>
              <a:off x="6187838" y="2902759"/>
              <a:ext cx="349994" cy="1380139"/>
            </a:xfrm>
            <a:custGeom>
              <a:avLst/>
              <a:gdLst/>
              <a:ahLst/>
              <a:cxnLst/>
              <a:rect l="l" t="t" r="r" b="b"/>
              <a:pathLst>
                <a:path w="15746" h="61634" extrusionOk="0">
                  <a:moveTo>
                    <a:pt x="401" y="1"/>
                  </a:moveTo>
                  <a:cubicBezTo>
                    <a:pt x="401" y="1"/>
                    <a:pt x="1" y="10575"/>
                    <a:pt x="6906" y="27620"/>
                  </a:cubicBezTo>
                  <a:cubicBezTo>
                    <a:pt x="5905" y="43932"/>
                    <a:pt x="13744" y="61478"/>
                    <a:pt x="13744" y="61478"/>
                  </a:cubicBezTo>
                  <a:cubicBezTo>
                    <a:pt x="13894" y="61585"/>
                    <a:pt x="14151" y="61634"/>
                    <a:pt x="14432" y="61634"/>
                  </a:cubicBezTo>
                  <a:cubicBezTo>
                    <a:pt x="15024" y="61634"/>
                    <a:pt x="15723" y="61417"/>
                    <a:pt x="15745" y="61078"/>
                  </a:cubicBezTo>
                  <a:cubicBezTo>
                    <a:pt x="14578" y="58776"/>
                    <a:pt x="13977" y="37694"/>
                    <a:pt x="13210" y="27620"/>
                  </a:cubicBezTo>
                  <a:cubicBezTo>
                    <a:pt x="13410" y="16913"/>
                    <a:pt x="11242" y="1"/>
                    <a:pt x="11242" y="1"/>
                  </a:cubicBez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5731;p111">
              <a:extLst>
                <a:ext uri="{FF2B5EF4-FFF2-40B4-BE49-F238E27FC236}">
                  <a16:creationId xmlns:a16="http://schemas.microsoft.com/office/drawing/2014/main" id="{C8A25DC6-554A-8DAA-5394-39B890C01A18}"/>
                </a:ext>
              </a:extLst>
            </p:cNvPr>
            <p:cNvSpPr/>
            <p:nvPr/>
          </p:nvSpPr>
          <p:spPr>
            <a:xfrm>
              <a:off x="5968386" y="2902759"/>
              <a:ext cx="403362" cy="1387887"/>
            </a:xfrm>
            <a:custGeom>
              <a:avLst/>
              <a:gdLst/>
              <a:ahLst/>
              <a:cxnLst/>
              <a:rect l="l" t="t" r="r" b="b"/>
              <a:pathLst>
                <a:path w="18147" h="61980" extrusionOk="0">
                  <a:moveTo>
                    <a:pt x="8640" y="1"/>
                  </a:moveTo>
                  <a:cubicBezTo>
                    <a:pt x="8640" y="1"/>
                    <a:pt x="2469" y="5571"/>
                    <a:pt x="4437" y="28854"/>
                  </a:cubicBezTo>
                  <a:cubicBezTo>
                    <a:pt x="0" y="39395"/>
                    <a:pt x="5237" y="61878"/>
                    <a:pt x="5237" y="61878"/>
                  </a:cubicBezTo>
                  <a:cubicBezTo>
                    <a:pt x="5473" y="61950"/>
                    <a:pt x="5667" y="61980"/>
                    <a:pt x="5832" y="61980"/>
                  </a:cubicBezTo>
                  <a:cubicBezTo>
                    <a:pt x="6439" y="61980"/>
                    <a:pt x="6652" y="61573"/>
                    <a:pt x="7072" y="61311"/>
                  </a:cubicBezTo>
                  <a:cubicBezTo>
                    <a:pt x="7105" y="50103"/>
                    <a:pt x="9207" y="38261"/>
                    <a:pt x="11275" y="28421"/>
                  </a:cubicBezTo>
                  <a:cubicBezTo>
                    <a:pt x="13210" y="19081"/>
                    <a:pt x="18146" y="1"/>
                    <a:pt x="18146" y="1"/>
                  </a:cubicBez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5732;p111">
              <a:extLst>
                <a:ext uri="{FF2B5EF4-FFF2-40B4-BE49-F238E27FC236}">
                  <a16:creationId xmlns:a16="http://schemas.microsoft.com/office/drawing/2014/main" id="{53411094-F629-3701-A3D4-0E72E9EFFEA1}"/>
                </a:ext>
              </a:extLst>
            </p:cNvPr>
            <p:cNvSpPr/>
            <p:nvPr/>
          </p:nvSpPr>
          <p:spPr>
            <a:xfrm>
              <a:off x="6030668" y="2910977"/>
              <a:ext cx="455997" cy="618503"/>
            </a:xfrm>
            <a:custGeom>
              <a:avLst/>
              <a:gdLst/>
              <a:ahLst/>
              <a:cxnLst/>
              <a:rect l="l" t="t" r="r" b="b"/>
              <a:pathLst>
                <a:path w="20515" h="27621" extrusionOk="0">
                  <a:moveTo>
                    <a:pt x="18547" y="0"/>
                  </a:moveTo>
                  <a:cubicBezTo>
                    <a:pt x="18547" y="0"/>
                    <a:pt x="9140" y="234"/>
                    <a:pt x="5304" y="234"/>
                  </a:cubicBezTo>
                  <a:cubicBezTo>
                    <a:pt x="1134" y="5238"/>
                    <a:pt x="0" y="21249"/>
                    <a:pt x="767" y="24751"/>
                  </a:cubicBezTo>
                  <a:cubicBezTo>
                    <a:pt x="1101" y="25118"/>
                    <a:pt x="1501" y="25419"/>
                    <a:pt x="1935" y="25652"/>
                  </a:cubicBezTo>
                  <a:cubicBezTo>
                    <a:pt x="1968" y="23484"/>
                    <a:pt x="2602" y="22483"/>
                    <a:pt x="2602" y="22483"/>
                  </a:cubicBezTo>
                  <a:lnTo>
                    <a:pt x="2602" y="22483"/>
                  </a:lnTo>
                  <a:cubicBezTo>
                    <a:pt x="2502" y="23717"/>
                    <a:pt x="2602" y="24952"/>
                    <a:pt x="2936" y="26152"/>
                  </a:cubicBezTo>
                  <a:cubicBezTo>
                    <a:pt x="4891" y="26962"/>
                    <a:pt x="7912" y="27620"/>
                    <a:pt x="11699" y="27620"/>
                  </a:cubicBezTo>
                  <a:cubicBezTo>
                    <a:pt x="14306" y="27620"/>
                    <a:pt x="17277" y="27308"/>
                    <a:pt x="20515" y="26519"/>
                  </a:cubicBezTo>
                  <a:cubicBezTo>
                    <a:pt x="20515" y="17213"/>
                    <a:pt x="18680" y="1535"/>
                    <a:pt x="18547" y="0"/>
                  </a:cubicBezTo>
                  <a:close/>
                </a:path>
              </a:pathLst>
            </a:custGeom>
            <a:solidFill>
              <a:srgbClr val="534D5D"/>
            </a:solidFill>
            <a:ln>
              <a:solidFill>
                <a:srgbClr val="FF6825"/>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5733;p111">
              <a:extLst>
                <a:ext uri="{FF2B5EF4-FFF2-40B4-BE49-F238E27FC236}">
                  <a16:creationId xmlns:a16="http://schemas.microsoft.com/office/drawing/2014/main" id="{322B37A2-D1CB-EBC4-5708-98404CCED6D1}"/>
                </a:ext>
              </a:extLst>
            </p:cNvPr>
            <p:cNvSpPr/>
            <p:nvPr/>
          </p:nvSpPr>
          <p:spPr>
            <a:xfrm>
              <a:off x="6052895" y="4288362"/>
              <a:ext cx="125341" cy="191232"/>
            </a:xfrm>
            <a:custGeom>
              <a:avLst/>
              <a:gdLst/>
              <a:ahLst/>
              <a:cxnLst/>
              <a:rect l="l" t="t" r="r" b="b"/>
              <a:pathLst>
                <a:path w="5639" h="8540" extrusionOk="0">
                  <a:moveTo>
                    <a:pt x="1435" y="0"/>
                  </a:moveTo>
                  <a:cubicBezTo>
                    <a:pt x="1435" y="0"/>
                    <a:pt x="268" y="300"/>
                    <a:pt x="134" y="2035"/>
                  </a:cubicBezTo>
                  <a:cubicBezTo>
                    <a:pt x="1" y="3769"/>
                    <a:pt x="501" y="8540"/>
                    <a:pt x="501" y="8540"/>
                  </a:cubicBezTo>
                  <a:lnTo>
                    <a:pt x="935" y="8540"/>
                  </a:lnTo>
                  <a:cubicBezTo>
                    <a:pt x="935" y="8540"/>
                    <a:pt x="801" y="4236"/>
                    <a:pt x="968" y="3436"/>
                  </a:cubicBezTo>
                  <a:cubicBezTo>
                    <a:pt x="1102" y="5704"/>
                    <a:pt x="2736" y="8540"/>
                    <a:pt x="4871" y="8540"/>
                  </a:cubicBezTo>
                  <a:cubicBezTo>
                    <a:pt x="5638" y="8540"/>
                    <a:pt x="3970" y="5104"/>
                    <a:pt x="3703" y="3002"/>
                  </a:cubicBezTo>
                  <a:cubicBezTo>
                    <a:pt x="3437" y="901"/>
                    <a:pt x="3337" y="167"/>
                    <a:pt x="3337" y="167"/>
                  </a:cubicBezTo>
                  <a:lnTo>
                    <a:pt x="1435" y="0"/>
                  </a:lnTo>
                  <a:close/>
                </a:path>
              </a:pathLst>
            </a:custGeom>
            <a:solidFill>
              <a:srgbClr val="FF68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5734;p111">
              <a:extLst>
                <a:ext uri="{FF2B5EF4-FFF2-40B4-BE49-F238E27FC236}">
                  <a16:creationId xmlns:a16="http://schemas.microsoft.com/office/drawing/2014/main" id="{FBF11374-32D6-5ECB-B9E7-AA5C4FDF317B}"/>
                </a:ext>
              </a:extLst>
            </p:cNvPr>
            <p:cNvSpPr/>
            <p:nvPr/>
          </p:nvSpPr>
          <p:spPr>
            <a:xfrm>
              <a:off x="6084792" y="4257729"/>
              <a:ext cx="61926" cy="173676"/>
            </a:xfrm>
            <a:custGeom>
              <a:avLst/>
              <a:gdLst/>
              <a:ahLst/>
              <a:cxnLst/>
              <a:rect l="l" t="t" r="r" b="b"/>
              <a:pathLst>
                <a:path w="2786" h="7756" extrusionOk="0">
                  <a:moveTo>
                    <a:pt x="1868" y="0"/>
                  </a:moveTo>
                  <a:lnTo>
                    <a:pt x="0" y="1368"/>
                  </a:lnTo>
                  <a:cubicBezTo>
                    <a:pt x="100" y="3703"/>
                    <a:pt x="934" y="6705"/>
                    <a:pt x="2002" y="7673"/>
                  </a:cubicBezTo>
                  <a:cubicBezTo>
                    <a:pt x="2083" y="7730"/>
                    <a:pt x="2173" y="7755"/>
                    <a:pt x="2261" y="7755"/>
                  </a:cubicBezTo>
                  <a:cubicBezTo>
                    <a:pt x="2532" y="7755"/>
                    <a:pt x="2786" y="7516"/>
                    <a:pt x="2735" y="7239"/>
                  </a:cubicBezTo>
                  <a:cubicBezTo>
                    <a:pt x="2202" y="4837"/>
                    <a:pt x="1902" y="2436"/>
                    <a:pt x="1868" y="0"/>
                  </a:cubicBez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5735;p111">
              <a:extLst>
                <a:ext uri="{FF2B5EF4-FFF2-40B4-BE49-F238E27FC236}">
                  <a16:creationId xmlns:a16="http://schemas.microsoft.com/office/drawing/2014/main" id="{7831CA7D-5D49-3342-F4EE-7F4ABCF6D06B}"/>
                </a:ext>
              </a:extLst>
            </p:cNvPr>
            <p:cNvSpPr/>
            <p:nvPr/>
          </p:nvSpPr>
          <p:spPr>
            <a:xfrm>
              <a:off x="6469594" y="4288362"/>
              <a:ext cx="125319" cy="191232"/>
            </a:xfrm>
            <a:custGeom>
              <a:avLst/>
              <a:gdLst/>
              <a:ahLst/>
              <a:cxnLst/>
              <a:rect l="l" t="t" r="r" b="b"/>
              <a:pathLst>
                <a:path w="5638" h="8540" extrusionOk="0">
                  <a:moveTo>
                    <a:pt x="1435" y="0"/>
                  </a:moveTo>
                  <a:cubicBezTo>
                    <a:pt x="1435" y="0"/>
                    <a:pt x="267" y="300"/>
                    <a:pt x="134" y="2035"/>
                  </a:cubicBezTo>
                  <a:cubicBezTo>
                    <a:pt x="1" y="3769"/>
                    <a:pt x="501" y="8540"/>
                    <a:pt x="501" y="8540"/>
                  </a:cubicBezTo>
                  <a:lnTo>
                    <a:pt x="935" y="8540"/>
                  </a:lnTo>
                  <a:cubicBezTo>
                    <a:pt x="935" y="8540"/>
                    <a:pt x="801" y="4236"/>
                    <a:pt x="968" y="3436"/>
                  </a:cubicBezTo>
                  <a:cubicBezTo>
                    <a:pt x="1101" y="5704"/>
                    <a:pt x="2736" y="8540"/>
                    <a:pt x="4871" y="8540"/>
                  </a:cubicBezTo>
                  <a:cubicBezTo>
                    <a:pt x="5638" y="8540"/>
                    <a:pt x="3970" y="5104"/>
                    <a:pt x="3703" y="3002"/>
                  </a:cubicBezTo>
                  <a:cubicBezTo>
                    <a:pt x="3603" y="1968"/>
                    <a:pt x="3403" y="967"/>
                    <a:pt x="3169" y="0"/>
                  </a:cubicBezTo>
                  <a:close/>
                </a:path>
              </a:pathLst>
            </a:custGeom>
            <a:solidFill>
              <a:srgbClr val="FF68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5736;p111">
              <a:extLst>
                <a:ext uri="{FF2B5EF4-FFF2-40B4-BE49-F238E27FC236}">
                  <a16:creationId xmlns:a16="http://schemas.microsoft.com/office/drawing/2014/main" id="{0ED6C7CD-B5E7-1DBB-B11F-0634347FD3E9}"/>
                </a:ext>
              </a:extLst>
            </p:cNvPr>
            <p:cNvSpPr/>
            <p:nvPr/>
          </p:nvSpPr>
          <p:spPr>
            <a:xfrm>
              <a:off x="6491088" y="4250810"/>
              <a:ext cx="72306" cy="181021"/>
            </a:xfrm>
            <a:custGeom>
              <a:avLst/>
              <a:gdLst/>
              <a:ahLst/>
              <a:cxnLst/>
              <a:rect l="l" t="t" r="r" b="b"/>
              <a:pathLst>
                <a:path w="3253" h="8084" extrusionOk="0">
                  <a:moveTo>
                    <a:pt x="1692" y="0"/>
                  </a:moveTo>
                  <a:cubicBezTo>
                    <a:pt x="1202" y="0"/>
                    <a:pt x="1" y="1177"/>
                    <a:pt x="1" y="1177"/>
                  </a:cubicBezTo>
                  <a:cubicBezTo>
                    <a:pt x="101" y="3512"/>
                    <a:pt x="1402" y="7014"/>
                    <a:pt x="2503" y="7982"/>
                  </a:cubicBezTo>
                  <a:cubicBezTo>
                    <a:pt x="2591" y="8052"/>
                    <a:pt x="2686" y="8083"/>
                    <a:pt x="2777" y="8083"/>
                  </a:cubicBezTo>
                  <a:cubicBezTo>
                    <a:pt x="3030" y="8083"/>
                    <a:pt x="3252" y="7843"/>
                    <a:pt x="3203" y="7548"/>
                  </a:cubicBezTo>
                  <a:cubicBezTo>
                    <a:pt x="2369" y="4079"/>
                    <a:pt x="2436" y="1677"/>
                    <a:pt x="1869" y="109"/>
                  </a:cubicBezTo>
                  <a:cubicBezTo>
                    <a:pt x="1836" y="33"/>
                    <a:pt x="1774" y="0"/>
                    <a:pt x="1692" y="0"/>
                  </a:cubicBez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5737;p111">
              <a:extLst>
                <a:ext uri="{FF2B5EF4-FFF2-40B4-BE49-F238E27FC236}">
                  <a16:creationId xmlns:a16="http://schemas.microsoft.com/office/drawing/2014/main" id="{CB252418-6385-684C-D9FB-F081D04329AC}"/>
                </a:ext>
              </a:extLst>
            </p:cNvPr>
            <p:cNvSpPr/>
            <p:nvPr/>
          </p:nvSpPr>
          <p:spPr>
            <a:xfrm>
              <a:off x="6090726" y="2453834"/>
              <a:ext cx="373711" cy="219626"/>
            </a:xfrm>
            <a:custGeom>
              <a:avLst/>
              <a:gdLst/>
              <a:ahLst/>
              <a:cxnLst/>
              <a:rect l="l" t="t" r="r" b="b"/>
              <a:pathLst>
                <a:path w="16813" h="9808" extrusionOk="0">
                  <a:moveTo>
                    <a:pt x="7768" y="1"/>
                  </a:moveTo>
                  <a:cubicBezTo>
                    <a:pt x="6797" y="1"/>
                    <a:pt x="5821" y="34"/>
                    <a:pt x="4837" y="101"/>
                  </a:cubicBezTo>
                  <a:cubicBezTo>
                    <a:pt x="4303" y="101"/>
                    <a:pt x="3736" y="168"/>
                    <a:pt x="3236" y="201"/>
                  </a:cubicBezTo>
                  <a:cubicBezTo>
                    <a:pt x="1334" y="401"/>
                    <a:pt x="0" y="2136"/>
                    <a:pt x="667" y="3870"/>
                  </a:cubicBezTo>
                  <a:cubicBezTo>
                    <a:pt x="1401" y="5805"/>
                    <a:pt x="1935" y="7773"/>
                    <a:pt x="2235" y="9808"/>
                  </a:cubicBezTo>
                  <a:lnTo>
                    <a:pt x="16679" y="9808"/>
                  </a:lnTo>
                  <a:cubicBezTo>
                    <a:pt x="16812" y="8073"/>
                    <a:pt x="16812" y="6339"/>
                    <a:pt x="16745" y="4604"/>
                  </a:cubicBezTo>
                  <a:cubicBezTo>
                    <a:pt x="16679" y="2469"/>
                    <a:pt x="14877" y="601"/>
                    <a:pt x="12609" y="301"/>
                  </a:cubicBezTo>
                  <a:cubicBezTo>
                    <a:pt x="11975" y="234"/>
                    <a:pt x="11308" y="134"/>
                    <a:pt x="10674" y="101"/>
                  </a:cubicBezTo>
                  <a:cubicBezTo>
                    <a:pt x="9707" y="34"/>
                    <a:pt x="8740" y="1"/>
                    <a:pt x="7768" y="1"/>
                  </a:cubicBez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5738;p111">
              <a:extLst>
                <a:ext uri="{FF2B5EF4-FFF2-40B4-BE49-F238E27FC236}">
                  <a16:creationId xmlns:a16="http://schemas.microsoft.com/office/drawing/2014/main" id="{2DFE29C1-0549-FD7B-3B9D-B8862BCDEFDE}"/>
                </a:ext>
              </a:extLst>
            </p:cNvPr>
            <p:cNvSpPr/>
            <p:nvPr/>
          </p:nvSpPr>
          <p:spPr>
            <a:xfrm>
              <a:off x="6090726" y="2453834"/>
              <a:ext cx="373711" cy="219626"/>
            </a:xfrm>
            <a:custGeom>
              <a:avLst/>
              <a:gdLst/>
              <a:ahLst/>
              <a:cxnLst/>
              <a:rect l="l" t="t" r="r" b="b"/>
              <a:pathLst>
                <a:path w="16813" h="9808" extrusionOk="0">
                  <a:moveTo>
                    <a:pt x="7768" y="1"/>
                  </a:moveTo>
                  <a:cubicBezTo>
                    <a:pt x="6797" y="1"/>
                    <a:pt x="5821" y="34"/>
                    <a:pt x="4837" y="101"/>
                  </a:cubicBezTo>
                  <a:cubicBezTo>
                    <a:pt x="4303" y="101"/>
                    <a:pt x="3736" y="168"/>
                    <a:pt x="3236" y="201"/>
                  </a:cubicBezTo>
                  <a:cubicBezTo>
                    <a:pt x="1334" y="401"/>
                    <a:pt x="0" y="2136"/>
                    <a:pt x="667" y="3870"/>
                  </a:cubicBezTo>
                  <a:cubicBezTo>
                    <a:pt x="1401" y="5805"/>
                    <a:pt x="1935" y="7773"/>
                    <a:pt x="2235" y="9808"/>
                  </a:cubicBezTo>
                  <a:lnTo>
                    <a:pt x="16679" y="9808"/>
                  </a:lnTo>
                  <a:cubicBezTo>
                    <a:pt x="16812" y="8073"/>
                    <a:pt x="16812" y="6339"/>
                    <a:pt x="16745" y="4604"/>
                  </a:cubicBezTo>
                  <a:cubicBezTo>
                    <a:pt x="16679" y="2469"/>
                    <a:pt x="14877" y="601"/>
                    <a:pt x="12609" y="301"/>
                  </a:cubicBezTo>
                  <a:cubicBezTo>
                    <a:pt x="11975" y="234"/>
                    <a:pt x="11308" y="134"/>
                    <a:pt x="10674" y="101"/>
                  </a:cubicBezTo>
                  <a:cubicBezTo>
                    <a:pt x="9707" y="34"/>
                    <a:pt x="8740" y="1"/>
                    <a:pt x="776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5739;p111">
              <a:extLst>
                <a:ext uri="{FF2B5EF4-FFF2-40B4-BE49-F238E27FC236}">
                  <a16:creationId xmlns:a16="http://schemas.microsoft.com/office/drawing/2014/main" id="{41CDC79B-DF4B-E775-D8D5-7DC82957654C}"/>
                </a:ext>
              </a:extLst>
            </p:cNvPr>
            <p:cNvSpPr/>
            <p:nvPr/>
          </p:nvSpPr>
          <p:spPr>
            <a:xfrm>
              <a:off x="6092949" y="2450834"/>
              <a:ext cx="412253" cy="560999"/>
            </a:xfrm>
            <a:custGeom>
              <a:avLst/>
              <a:gdLst/>
              <a:ahLst/>
              <a:cxnLst/>
              <a:rect l="l" t="t" r="r" b="b"/>
              <a:pathLst>
                <a:path w="18547" h="25053" extrusionOk="0">
                  <a:moveTo>
                    <a:pt x="4548" y="0"/>
                  </a:moveTo>
                  <a:cubicBezTo>
                    <a:pt x="414" y="0"/>
                    <a:pt x="37" y="3337"/>
                    <a:pt x="1" y="3337"/>
                  </a:cubicBezTo>
                  <a:cubicBezTo>
                    <a:pt x="0" y="3337"/>
                    <a:pt x="0" y="3337"/>
                    <a:pt x="0" y="3337"/>
                  </a:cubicBezTo>
                  <a:lnTo>
                    <a:pt x="0" y="3337"/>
                  </a:lnTo>
                  <a:cubicBezTo>
                    <a:pt x="2302" y="8007"/>
                    <a:pt x="3069" y="18248"/>
                    <a:pt x="3069" y="18248"/>
                  </a:cubicBezTo>
                  <a:lnTo>
                    <a:pt x="701" y="22684"/>
                  </a:lnTo>
                  <a:lnTo>
                    <a:pt x="9140" y="25053"/>
                  </a:lnTo>
                  <a:lnTo>
                    <a:pt x="10875" y="20650"/>
                  </a:lnTo>
                  <a:lnTo>
                    <a:pt x="12309" y="24853"/>
                  </a:lnTo>
                  <a:lnTo>
                    <a:pt x="16679" y="23518"/>
                  </a:lnTo>
                  <a:lnTo>
                    <a:pt x="15945" y="17747"/>
                  </a:lnTo>
                  <a:cubicBezTo>
                    <a:pt x="18547" y="5672"/>
                    <a:pt x="15945" y="1369"/>
                    <a:pt x="15945" y="1369"/>
                  </a:cubicBezTo>
                  <a:cubicBezTo>
                    <a:pt x="14246" y="331"/>
                    <a:pt x="11747" y="301"/>
                    <a:pt x="11467" y="301"/>
                  </a:cubicBezTo>
                  <a:cubicBezTo>
                    <a:pt x="11450" y="301"/>
                    <a:pt x="11442" y="302"/>
                    <a:pt x="11442" y="302"/>
                  </a:cubicBezTo>
                  <a:cubicBezTo>
                    <a:pt x="12075" y="3637"/>
                    <a:pt x="10875" y="7540"/>
                    <a:pt x="10875" y="7540"/>
                  </a:cubicBezTo>
                  <a:lnTo>
                    <a:pt x="4670" y="1"/>
                  </a:lnTo>
                  <a:cubicBezTo>
                    <a:pt x="4629" y="1"/>
                    <a:pt x="4588" y="0"/>
                    <a:pt x="45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5740;p111">
              <a:extLst>
                <a:ext uri="{FF2B5EF4-FFF2-40B4-BE49-F238E27FC236}">
                  <a16:creationId xmlns:a16="http://schemas.microsoft.com/office/drawing/2014/main" id="{77B8FDD3-400F-A98F-B187-F6860BA363FD}"/>
                </a:ext>
              </a:extLst>
            </p:cNvPr>
            <p:cNvSpPr/>
            <p:nvPr/>
          </p:nvSpPr>
          <p:spPr>
            <a:xfrm>
              <a:off x="6168567" y="2442638"/>
              <a:ext cx="248415" cy="236801"/>
            </a:xfrm>
            <a:custGeom>
              <a:avLst/>
              <a:gdLst/>
              <a:ahLst/>
              <a:cxnLst/>
              <a:rect l="l" t="t" r="r" b="b"/>
              <a:pathLst>
                <a:path w="11176" h="10575" extrusionOk="0">
                  <a:moveTo>
                    <a:pt x="2169" y="0"/>
                  </a:moveTo>
                  <a:lnTo>
                    <a:pt x="1602" y="101"/>
                  </a:lnTo>
                  <a:cubicBezTo>
                    <a:pt x="1602" y="101"/>
                    <a:pt x="1" y="2502"/>
                    <a:pt x="67" y="4771"/>
                  </a:cubicBezTo>
                  <a:lnTo>
                    <a:pt x="3303" y="4771"/>
                  </a:lnTo>
                  <a:lnTo>
                    <a:pt x="2002" y="6538"/>
                  </a:lnTo>
                  <a:cubicBezTo>
                    <a:pt x="2002" y="6538"/>
                    <a:pt x="6172" y="7172"/>
                    <a:pt x="8373" y="10575"/>
                  </a:cubicBezTo>
                  <a:lnTo>
                    <a:pt x="7806" y="8607"/>
                  </a:lnTo>
                  <a:lnTo>
                    <a:pt x="10908" y="6538"/>
                  </a:lnTo>
                  <a:lnTo>
                    <a:pt x="9207" y="4804"/>
                  </a:lnTo>
                  <a:lnTo>
                    <a:pt x="11175" y="4203"/>
                  </a:lnTo>
                  <a:cubicBezTo>
                    <a:pt x="10308" y="2369"/>
                    <a:pt x="8740" y="934"/>
                    <a:pt x="6805" y="301"/>
                  </a:cubicBezTo>
                  <a:lnTo>
                    <a:pt x="6805" y="301"/>
                  </a:lnTo>
                  <a:cubicBezTo>
                    <a:pt x="8673" y="2402"/>
                    <a:pt x="7406" y="7439"/>
                    <a:pt x="7406" y="7439"/>
                  </a:cubicBezTo>
                  <a:cubicBezTo>
                    <a:pt x="4337" y="3736"/>
                    <a:pt x="2536" y="768"/>
                    <a:pt x="21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5741;p111">
              <a:extLst>
                <a:ext uri="{FF2B5EF4-FFF2-40B4-BE49-F238E27FC236}">
                  <a16:creationId xmlns:a16="http://schemas.microsoft.com/office/drawing/2014/main" id="{A746A5DA-1DF2-B104-BFF2-5ECFCA180249}"/>
                </a:ext>
              </a:extLst>
            </p:cNvPr>
            <p:cNvSpPr/>
            <p:nvPr/>
          </p:nvSpPr>
          <p:spPr>
            <a:xfrm>
              <a:off x="6187483" y="2308193"/>
              <a:ext cx="202048" cy="246519"/>
            </a:xfrm>
            <a:custGeom>
              <a:avLst/>
              <a:gdLst/>
              <a:ahLst/>
              <a:cxnLst/>
              <a:rect l="l" t="t" r="r" b="b"/>
              <a:pathLst>
                <a:path w="9090" h="11009" extrusionOk="0">
                  <a:moveTo>
                    <a:pt x="884" y="0"/>
                  </a:moveTo>
                  <a:lnTo>
                    <a:pt x="884" y="0"/>
                  </a:lnTo>
                  <a:cubicBezTo>
                    <a:pt x="1418" y="1902"/>
                    <a:pt x="2018" y="5337"/>
                    <a:pt x="817" y="6605"/>
                  </a:cubicBezTo>
                  <a:cubicBezTo>
                    <a:pt x="817" y="6605"/>
                    <a:pt x="0" y="8118"/>
                    <a:pt x="4216" y="8118"/>
                  </a:cubicBezTo>
                  <a:cubicBezTo>
                    <a:pt x="4427" y="8118"/>
                    <a:pt x="4650" y="8114"/>
                    <a:pt x="4887" y="8106"/>
                  </a:cubicBezTo>
                  <a:cubicBezTo>
                    <a:pt x="5321" y="9140"/>
                    <a:pt x="6155" y="11008"/>
                    <a:pt x="6155" y="11008"/>
                  </a:cubicBezTo>
                  <a:cubicBezTo>
                    <a:pt x="6155" y="11008"/>
                    <a:pt x="6221" y="8806"/>
                    <a:pt x="5888" y="8039"/>
                  </a:cubicBezTo>
                  <a:cubicBezTo>
                    <a:pt x="9090" y="7772"/>
                    <a:pt x="6655" y="6572"/>
                    <a:pt x="6655" y="6572"/>
                  </a:cubicBezTo>
                  <a:cubicBezTo>
                    <a:pt x="4520" y="6071"/>
                    <a:pt x="4453" y="4537"/>
                    <a:pt x="4720" y="3069"/>
                  </a:cubicBezTo>
                  <a:lnTo>
                    <a:pt x="884" y="0"/>
                  </a:ln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5742;p111">
              <a:extLst>
                <a:ext uri="{FF2B5EF4-FFF2-40B4-BE49-F238E27FC236}">
                  <a16:creationId xmlns:a16="http://schemas.microsoft.com/office/drawing/2014/main" id="{27C9E227-A2C4-30E3-80DF-E6188E4CE739}"/>
                </a:ext>
              </a:extLst>
            </p:cNvPr>
            <p:cNvSpPr/>
            <p:nvPr/>
          </p:nvSpPr>
          <p:spPr>
            <a:xfrm>
              <a:off x="6240495" y="2336565"/>
              <a:ext cx="51923" cy="63528"/>
            </a:xfrm>
            <a:custGeom>
              <a:avLst/>
              <a:gdLst/>
              <a:ahLst/>
              <a:cxnLst/>
              <a:rect l="l" t="t" r="r" b="b"/>
              <a:pathLst>
                <a:path w="2336" h="2837" extrusionOk="0">
                  <a:moveTo>
                    <a:pt x="67" y="1"/>
                  </a:moveTo>
                  <a:cubicBezTo>
                    <a:pt x="0" y="334"/>
                    <a:pt x="34" y="668"/>
                    <a:pt x="100" y="1001"/>
                  </a:cubicBezTo>
                  <a:cubicBezTo>
                    <a:pt x="234" y="1835"/>
                    <a:pt x="1401" y="2736"/>
                    <a:pt x="2235" y="2836"/>
                  </a:cubicBezTo>
                  <a:cubicBezTo>
                    <a:pt x="2235" y="2503"/>
                    <a:pt x="2268" y="2136"/>
                    <a:pt x="2335" y="1802"/>
                  </a:cubicBezTo>
                  <a:lnTo>
                    <a:pt x="67"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5743;p111">
              <a:extLst>
                <a:ext uri="{FF2B5EF4-FFF2-40B4-BE49-F238E27FC236}">
                  <a16:creationId xmlns:a16="http://schemas.microsoft.com/office/drawing/2014/main" id="{95A765D0-F318-33F2-6B71-3F9458900A9E}"/>
                </a:ext>
              </a:extLst>
            </p:cNvPr>
            <p:cNvSpPr/>
            <p:nvPr/>
          </p:nvSpPr>
          <p:spPr>
            <a:xfrm>
              <a:off x="6159143" y="2115237"/>
              <a:ext cx="220764" cy="263582"/>
            </a:xfrm>
            <a:custGeom>
              <a:avLst/>
              <a:gdLst/>
              <a:ahLst/>
              <a:cxnLst/>
              <a:rect l="l" t="t" r="r" b="b"/>
              <a:pathLst>
                <a:path w="9932" h="11771" extrusionOk="0">
                  <a:moveTo>
                    <a:pt x="4432" y="1"/>
                  </a:moveTo>
                  <a:cubicBezTo>
                    <a:pt x="2022" y="1"/>
                    <a:pt x="0" y="2258"/>
                    <a:pt x="591" y="4848"/>
                  </a:cubicBezTo>
                  <a:cubicBezTo>
                    <a:pt x="1158" y="7883"/>
                    <a:pt x="1325" y="9184"/>
                    <a:pt x="3093" y="10652"/>
                  </a:cubicBezTo>
                  <a:cubicBezTo>
                    <a:pt x="4011" y="11417"/>
                    <a:pt x="5049" y="11771"/>
                    <a:pt x="6025" y="11771"/>
                  </a:cubicBezTo>
                  <a:cubicBezTo>
                    <a:pt x="7815" y="11771"/>
                    <a:pt x="9394" y="10580"/>
                    <a:pt x="9631" y="8550"/>
                  </a:cubicBezTo>
                  <a:cubicBezTo>
                    <a:pt x="9931" y="5782"/>
                    <a:pt x="8931" y="1279"/>
                    <a:pt x="5795" y="245"/>
                  </a:cubicBezTo>
                  <a:cubicBezTo>
                    <a:pt x="5337" y="78"/>
                    <a:pt x="4878" y="1"/>
                    <a:pt x="4432" y="1"/>
                  </a:cubicBez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5744;p111">
              <a:extLst>
                <a:ext uri="{FF2B5EF4-FFF2-40B4-BE49-F238E27FC236}">
                  <a16:creationId xmlns:a16="http://schemas.microsoft.com/office/drawing/2014/main" id="{A0931E7D-5061-7F5F-0710-AE78CD0145F2}"/>
                </a:ext>
              </a:extLst>
            </p:cNvPr>
            <p:cNvSpPr/>
            <p:nvPr/>
          </p:nvSpPr>
          <p:spPr>
            <a:xfrm>
              <a:off x="6115932" y="2132726"/>
              <a:ext cx="148013" cy="142797"/>
            </a:xfrm>
            <a:custGeom>
              <a:avLst/>
              <a:gdLst/>
              <a:ahLst/>
              <a:cxnLst/>
              <a:rect l="l" t="t" r="r" b="b"/>
              <a:pathLst>
                <a:path w="6659" h="6377" extrusionOk="0">
                  <a:moveTo>
                    <a:pt x="4288" y="0"/>
                  </a:moveTo>
                  <a:cubicBezTo>
                    <a:pt x="4065" y="0"/>
                    <a:pt x="3786" y="78"/>
                    <a:pt x="3436" y="264"/>
                  </a:cubicBezTo>
                  <a:cubicBezTo>
                    <a:pt x="1401" y="1365"/>
                    <a:pt x="0" y="6235"/>
                    <a:pt x="3436" y="6368"/>
                  </a:cubicBezTo>
                  <a:cubicBezTo>
                    <a:pt x="3545" y="6374"/>
                    <a:pt x="3648" y="6376"/>
                    <a:pt x="3743" y="6376"/>
                  </a:cubicBezTo>
                  <a:cubicBezTo>
                    <a:pt x="6658" y="6376"/>
                    <a:pt x="3489" y="3964"/>
                    <a:pt x="5104" y="1865"/>
                  </a:cubicBezTo>
                  <a:cubicBezTo>
                    <a:pt x="5104" y="1865"/>
                    <a:pt x="5380" y="0"/>
                    <a:pt x="4288" y="0"/>
                  </a:cubicBezTo>
                  <a:close/>
                </a:path>
              </a:pathLst>
            </a:custGeom>
            <a:solidFill>
              <a:srgbClr val="FF68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5745;p111">
              <a:extLst>
                <a:ext uri="{FF2B5EF4-FFF2-40B4-BE49-F238E27FC236}">
                  <a16:creationId xmlns:a16="http://schemas.microsoft.com/office/drawing/2014/main" id="{61E82EB0-3E14-E795-01BB-063D5297B60A}"/>
                </a:ext>
              </a:extLst>
            </p:cNvPr>
            <p:cNvSpPr/>
            <p:nvPr/>
          </p:nvSpPr>
          <p:spPr>
            <a:xfrm>
              <a:off x="6187756" y="2122533"/>
              <a:ext cx="157971" cy="82539"/>
            </a:xfrm>
            <a:custGeom>
              <a:avLst/>
              <a:gdLst/>
              <a:ahLst/>
              <a:cxnLst/>
              <a:rect l="l" t="t" r="r" b="b"/>
              <a:pathLst>
                <a:path w="7107" h="3686" extrusionOk="0">
                  <a:moveTo>
                    <a:pt x="3410" y="1"/>
                  </a:moveTo>
                  <a:cubicBezTo>
                    <a:pt x="2343" y="1"/>
                    <a:pt x="1155" y="401"/>
                    <a:pt x="1" y="1419"/>
                  </a:cubicBezTo>
                  <a:cubicBezTo>
                    <a:pt x="330" y="3012"/>
                    <a:pt x="601" y="3685"/>
                    <a:pt x="1526" y="3685"/>
                  </a:cubicBezTo>
                  <a:cubicBezTo>
                    <a:pt x="1822" y="3685"/>
                    <a:pt x="2184" y="3617"/>
                    <a:pt x="2636" y="3488"/>
                  </a:cubicBezTo>
                  <a:cubicBezTo>
                    <a:pt x="2336" y="3054"/>
                    <a:pt x="2236" y="2554"/>
                    <a:pt x="2269" y="2053"/>
                  </a:cubicBezTo>
                  <a:lnTo>
                    <a:pt x="2269" y="2053"/>
                  </a:lnTo>
                  <a:cubicBezTo>
                    <a:pt x="2469" y="2554"/>
                    <a:pt x="2836" y="2954"/>
                    <a:pt x="3303" y="3187"/>
                  </a:cubicBezTo>
                  <a:cubicBezTo>
                    <a:pt x="3804" y="2987"/>
                    <a:pt x="4337" y="2820"/>
                    <a:pt x="4838" y="2720"/>
                  </a:cubicBezTo>
                  <a:cubicBezTo>
                    <a:pt x="4738" y="2454"/>
                    <a:pt x="4704" y="2120"/>
                    <a:pt x="4771" y="1820"/>
                  </a:cubicBezTo>
                  <a:lnTo>
                    <a:pt x="4771" y="1820"/>
                  </a:lnTo>
                  <a:cubicBezTo>
                    <a:pt x="4904" y="2187"/>
                    <a:pt x="5138" y="2454"/>
                    <a:pt x="5438" y="2654"/>
                  </a:cubicBezTo>
                  <a:cubicBezTo>
                    <a:pt x="6039" y="2687"/>
                    <a:pt x="6572" y="2787"/>
                    <a:pt x="7106" y="2954"/>
                  </a:cubicBezTo>
                  <a:cubicBezTo>
                    <a:pt x="7106" y="1521"/>
                    <a:pt x="5489" y="1"/>
                    <a:pt x="3410" y="1"/>
                  </a:cubicBezTo>
                  <a:close/>
                </a:path>
              </a:pathLst>
            </a:custGeom>
            <a:solidFill>
              <a:srgbClr val="FF68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5746;p111">
              <a:extLst>
                <a:ext uri="{FF2B5EF4-FFF2-40B4-BE49-F238E27FC236}">
                  <a16:creationId xmlns:a16="http://schemas.microsoft.com/office/drawing/2014/main" id="{78AC2A2A-077D-63C1-E618-E38666C550D1}"/>
                </a:ext>
              </a:extLst>
            </p:cNvPr>
            <p:cNvSpPr/>
            <p:nvPr/>
          </p:nvSpPr>
          <p:spPr>
            <a:xfrm>
              <a:off x="6277571" y="2224445"/>
              <a:ext cx="14848" cy="20355"/>
            </a:xfrm>
            <a:custGeom>
              <a:avLst/>
              <a:gdLst/>
              <a:ahLst/>
              <a:cxnLst/>
              <a:rect l="l" t="t" r="r" b="b"/>
              <a:pathLst>
                <a:path w="668" h="909" extrusionOk="0">
                  <a:moveTo>
                    <a:pt x="304" y="1"/>
                  </a:moveTo>
                  <a:cubicBezTo>
                    <a:pt x="291" y="1"/>
                    <a:pt x="279" y="2"/>
                    <a:pt x="267" y="4"/>
                  </a:cubicBezTo>
                  <a:cubicBezTo>
                    <a:pt x="100" y="4"/>
                    <a:pt x="0" y="204"/>
                    <a:pt x="33" y="471"/>
                  </a:cubicBezTo>
                  <a:cubicBezTo>
                    <a:pt x="95" y="718"/>
                    <a:pt x="214" y="908"/>
                    <a:pt x="364" y="908"/>
                  </a:cubicBezTo>
                  <a:cubicBezTo>
                    <a:pt x="376" y="908"/>
                    <a:pt x="388" y="907"/>
                    <a:pt x="400" y="905"/>
                  </a:cubicBezTo>
                  <a:cubicBezTo>
                    <a:pt x="567" y="905"/>
                    <a:pt x="667" y="705"/>
                    <a:pt x="634" y="438"/>
                  </a:cubicBezTo>
                  <a:cubicBezTo>
                    <a:pt x="603" y="191"/>
                    <a:pt x="457" y="1"/>
                    <a:pt x="304"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5747;p111">
              <a:extLst>
                <a:ext uri="{FF2B5EF4-FFF2-40B4-BE49-F238E27FC236}">
                  <a16:creationId xmlns:a16="http://schemas.microsoft.com/office/drawing/2014/main" id="{43429151-91F9-3018-787E-27D97DEF2303}"/>
                </a:ext>
              </a:extLst>
            </p:cNvPr>
            <p:cNvSpPr/>
            <p:nvPr/>
          </p:nvSpPr>
          <p:spPr>
            <a:xfrm>
              <a:off x="6346521" y="2220057"/>
              <a:ext cx="15581" cy="20937"/>
            </a:xfrm>
            <a:custGeom>
              <a:avLst/>
              <a:gdLst/>
              <a:ahLst/>
              <a:cxnLst/>
              <a:rect l="l" t="t" r="r" b="b"/>
              <a:pathLst>
                <a:path w="701" h="935" extrusionOk="0">
                  <a:moveTo>
                    <a:pt x="300" y="0"/>
                  </a:moveTo>
                  <a:cubicBezTo>
                    <a:pt x="134" y="0"/>
                    <a:pt x="0" y="234"/>
                    <a:pt x="67" y="500"/>
                  </a:cubicBezTo>
                  <a:cubicBezTo>
                    <a:pt x="100" y="734"/>
                    <a:pt x="267" y="934"/>
                    <a:pt x="434" y="934"/>
                  </a:cubicBezTo>
                  <a:cubicBezTo>
                    <a:pt x="601" y="934"/>
                    <a:pt x="701" y="701"/>
                    <a:pt x="667" y="434"/>
                  </a:cubicBezTo>
                  <a:cubicBezTo>
                    <a:pt x="634" y="200"/>
                    <a:pt x="467" y="0"/>
                    <a:pt x="300"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5748;p111">
              <a:extLst>
                <a:ext uri="{FF2B5EF4-FFF2-40B4-BE49-F238E27FC236}">
                  <a16:creationId xmlns:a16="http://schemas.microsoft.com/office/drawing/2014/main" id="{FF4E2EB0-79AF-41D8-B637-467860D512D6}"/>
                </a:ext>
              </a:extLst>
            </p:cNvPr>
            <p:cNvSpPr/>
            <p:nvPr/>
          </p:nvSpPr>
          <p:spPr>
            <a:xfrm>
              <a:off x="6350966" y="2215556"/>
              <a:ext cx="13359" cy="7300"/>
            </a:xfrm>
            <a:custGeom>
              <a:avLst/>
              <a:gdLst/>
              <a:ahLst/>
              <a:cxnLst/>
              <a:rect l="l" t="t" r="r" b="b"/>
              <a:pathLst>
                <a:path w="601" h="326" extrusionOk="0">
                  <a:moveTo>
                    <a:pt x="601" y="1"/>
                  </a:moveTo>
                  <a:lnTo>
                    <a:pt x="0" y="234"/>
                  </a:lnTo>
                  <a:cubicBezTo>
                    <a:pt x="81" y="300"/>
                    <a:pt x="155" y="326"/>
                    <a:pt x="222" y="326"/>
                  </a:cubicBezTo>
                  <a:cubicBezTo>
                    <a:pt x="459" y="326"/>
                    <a:pt x="601" y="1"/>
                    <a:pt x="60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5749;p111">
              <a:extLst>
                <a:ext uri="{FF2B5EF4-FFF2-40B4-BE49-F238E27FC236}">
                  <a16:creationId xmlns:a16="http://schemas.microsoft.com/office/drawing/2014/main" id="{CEB9BA69-4A5B-69CB-0A0C-991BE3A564C1}"/>
                </a:ext>
              </a:extLst>
            </p:cNvPr>
            <p:cNvSpPr/>
            <p:nvPr/>
          </p:nvSpPr>
          <p:spPr>
            <a:xfrm>
              <a:off x="6329472" y="2241710"/>
              <a:ext cx="25228" cy="41292"/>
            </a:xfrm>
            <a:custGeom>
              <a:avLst/>
              <a:gdLst/>
              <a:ahLst/>
              <a:cxnLst/>
              <a:rect l="l" t="t" r="r" b="b"/>
              <a:pathLst>
                <a:path w="1135" h="1844" extrusionOk="0">
                  <a:moveTo>
                    <a:pt x="0" y="0"/>
                  </a:moveTo>
                  <a:lnTo>
                    <a:pt x="267" y="1835"/>
                  </a:lnTo>
                  <a:cubicBezTo>
                    <a:pt x="314" y="1840"/>
                    <a:pt x="363" y="1843"/>
                    <a:pt x="411" y="1843"/>
                  </a:cubicBezTo>
                  <a:cubicBezTo>
                    <a:pt x="670" y="1843"/>
                    <a:pt x="938" y="1765"/>
                    <a:pt x="1134" y="1568"/>
                  </a:cubicBezTo>
                  <a:cubicBezTo>
                    <a:pt x="701" y="1101"/>
                    <a:pt x="300" y="567"/>
                    <a:pt x="0" y="0"/>
                  </a:cubicBezTo>
                  <a:close/>
                </a:path>
              </a:pathLst>
            </a:custGeom>
            <a:solidFill>
              <a:srgbClr val="ED89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5750;p111">
              <a:extLst>
                <a:ext uri="{FF2B5EF4-FFF2-40B4-BE49-F238E27FC236}">
                  <a16:creationId xmlns:a16="http://schemas.microsoft.com/office/drawing/2014/main" id="{97808719-1621-B72B-5A94-871833DC3E6E}"/>
                </a:ext>
              </a:extLst>
            </p:cNvPr>
            <p:cNvSpPr/>
            <p:nvPr/>
          </p:nvSpPr>
          <p:spPr>
            <a:xfrm>
              <a:off x="6273103" y="2287279"/>
              <a:ext cx="43766" cy="19258"/>
            </a:xfrm>
            <a:custGeom>
              <a:avLst/>
              <a:gdLst/>
              <a:ahLst/>
              <a:cxnLst/>
              <a:rect l="l" t="t" r="r" b="b"/>
              <a:pathLst>
                <a:path w="1969" h="860" extrusionOk="0">
                  <a:moveTo>
                    <a:pt x="34" y="0"/>
                  </a:moveTo>
                  <a:cubicBezTo>
                    <a:pt x="1" y="34"/>
                    <a:pt x="1" y="100"/>
                    <a:pt x="34" y="134"/>
                  </a:cubicBezTo>
                  <a:cubicBezTo>
                    <a:pt x="435" y="534"/>
                    <a:pt x="935" y="801"/>
                    <a:pt x="1502" y="834"/>
                  </a:cubicBezTo>
                  <a:cubicBezTo>
                    <a:pt x="1569" y="851"/>
                    <a:pt x="1635" y="859"/>
                    <a:pt x="1702" y="859"/>
                  </a:cubicBezTo>
                  <a:cubicBezTo>
                    <a:pt x="1769" y="859"/>
                    <a:pt x="1836" y="851"/>
                    <a:pt x="1902" y="834"/>
                  </a:cubicBezTo>
                  <a:cubicBezTo>
                    <a:pt x="1969" y="834"/>
                    <a:pt x="1969" y="801"/>
                    <a:pt x="1969" y="767"/>
                  </a:cubicBezTo>
                  <a:cubicBezTo>
                    <a:pt x="1969" y="701"/>
                    <a:pt x="1936" y="701"/>
                    <a:pt x="1902" y="701"/>
                  </a:cubicBezTo>
                  <a:cubicBezTo>
                    <a:pt x="1861" y="703"/>
                    <a:pt x="1819" y="704"/>
                    <a:pt x="1778" y="704"/>
                  </a:cubicBezTo>
                  <a:cubicBezTo>
                    <a:pt x="1157" y="704"/>
                    <a:pt x="574" y="469"/>
                    <a:pt x="168"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5751;p111">
              <a:extLst>
                <a:ext uri="{FF2B5EF4-FFF2-40B4-BE49-F238E27FC236}">
                  <a16:creationId xmlns:a16="http://schemas.microsoft.com/office/drawing/2014/main" id="{ACDB2411-33CB-0AA7-4604-FFC97C4BB7FE}"/>
                </a:ext>
              </a:extLst>
            </p:cNvPr>
            <p:cNvSpPr/>
            <p:nvPr/>
          </p:nvSpPr>
          <p:spPr>
            <a:xfrm>
              <a:off x="6157453" y="2248002"/>
              <a:ext cx="58125" cy="67424"/>
            </a:xfrm>
            <a:custGeom>
              <a:avLst/>
              <a:gdLst/>
              <a:ahLst/>
              <a:cxnLst/>
              <a:rect l="l" t="t" r="r" b="b"/>
              <a:pathLst>
                <a:path w="2615" h="3011" extrusionOk="0">
                  <a:moveTo>
                    <a:pt x="1054" y="1"/>
                  </a:moveTo>
                  <a:cubicBezTo>
                    <a:pt x="1004" y="1"/>
                    <a:pt x="952" y="7"/>
                    <a:pt x="901" y="20"/>
                  </a:cubicBezTo>
                  <a:cubicBezTo>
                    <a:pt x="200" y="186"/>
                    <a:pt x="0" y="1154"/>
                    <a:pt x="334" y="1854"/>
                  </a:cubicBezTo>
                  <a:cubicBezTo>
                    <a:pt x="601" y="2388"/>
                    <a:pt x="1068" y="2788"/>
                    <a:pt x="1635" y="2988"/>
                  </a:cubicBezTo>
                  <a:cubicBezTo>
                    <a:pt x="1698" y="3003"/>
                    <a:pt x="1758" y="3011"/>
                    <a:pt x="1815" y="3011"/>
                  </a:cubicBezTo>
                  <a:cubicBezTo>
                    <a:pt x="2385" y="3011"/>
                    <a:pt x="2614" y="2282"/>
                    <a:pt x="2402" y="1554"/>
                  </a:cubicBezTo>
                  <a:cubicBezTo>
                    <a:pt x="2217" y="877"/>
                    <a:pt x="1663" y="1"/>
                    <a:pt x="1054" y="1"/>
                  </a:cubicBez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5752;p111">
              <a:extLst>
                <a:ext uri="{FF2B5EF4-FFF2-40B4-BE49-F238E27FC236}">
                  <a16:creationId xmlns:a16="http://schemas.microsoft.com/office/drawing/2014/main" id="{6969D5A1-523F-34D9-A93D-D454B20D68B7}"/>
                </a:ext>
              </a:extLst>
            </p:cNvPr>
            <p:cNvSpPr/>
            <p:nvPr/>
          </p:nvSpPr>
          <p:spPr>
            <a:xfrm>
              <a:off x="6255321" y="2187610"/>
              <a:ext cx="31896" cy="16772"/>
            </a:xfrm>
            <a:custGeom>
              <a:avLst/>
              <a:gdLst/>
              <a:ahLst/>
              <a:cxnLst/>
              <a:rect l="l" t="t" r="r" b="b"/>
              <a:pathLst>
                <a:path w="1435" h="749" extrusionOk="0">
                  <a:moveTo>
                    <a:pt x="1100" y="0"/>
                  </a:moveTo>
                  <a:cubicBezTo>
                    <a:pt x="703" y="0"/>
                    <a:pt x="324" y="168"/>
                    <a:pt x="67" y="482"/>
                  </a:cubicBezTo>
                  <a:cubicBezTo>
                    <a:pt x="0" y="548"/>
                    <a:pt x="0" y="648"/>
                    <a:pt x="67" y="682"/>
                  </a:cubicBezTo>
                  <a:cubicBezTo>
                    <a:pt x="100" y="715"/>
                    <a:pt x="134" y="749"/>
                    <a:pt x="167" y="749"/>
                  </a:cubicBezTo>
                  <a:cubicBezTo>
                    <a:pt x="234" y="749"/>
                    <a:pt x="267" y="715"/>
                    <a:pt x="301" y="682"/>
                  </a:cubicBezTo>
                  <a:cubicBezTo>
                    <a:pt x="510" y="442"/>
                    <a:pt x="828" y="310"/>
                    <a:pt x="1157" y="310"/>
                  </a:cubicBezTo>
                  <a:cubicBezTo>
                    <a:pt x="1194" y="310"/>
                    <a:pt x="1231" y="311"/>
                    <a:pt x="1268" y="315"/>
                  </a:cubicBezTo>
                  <a:cubicBezTo>
                    <a:pt x="1368" y="315"/>
                    <a:pt x="1435" y="282"/>
                    <a:pt x="1435" y="181"/>
                  </a:cubicBezTo>
                  <a:cubicBezTo>
                    <a:pt x="1435" y="115"/>
                    <a:pt x="1401" y="48"/>
                    <a:pt x="1301" y="15"/>
                  </a:cubicBezTo>
                  <a:cubicBezTo>
                    <a:pt x="1234" y="5"/>
                    <a:pt x="1166" y="0"/>
                    <a:pt x="1100"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5753;p111">
              <a:extLst>
                <a:ext uri="{FF2B5EF4-FFF2-40B4-BE49-F238E27FC236}">
                  <a16:creationId xmlns:a16="http://schemas.microsoft.com/office/drawing/2014/main" id="{482A94BA-27F4-CD2D-B2E7-6951770C6A24}"/>
                </a:ext>
              </a:extLst>
            </p:cNvPr>
            <p:cNvSpPr/>
            <p:nvPr/>
          </p:nvSpPr>
          <p:spPr>
            <a:xfrm>
              <a:off x="6333918" y="2179638"/>
              <a:ext cx="32630" cy="18026"/>
            </a:xfrm>
            <a:custGeom>
              <a:avLst/>
              <a:gdLst/>
              <a:ahLst/>
              <a:cxnLst/>
              <a:rect l="l" t="t" r="r" b="b"/>
              <a:pathLst>
                <a:path w="1468" h="805" extrusionOk="0">
                  <a:moveTo>
                    <a:pt x="229" y="1"/>
                  </a:moveTo>
                  <a:cubicBezTo>
                    <a:pt x="197" y="1"/>
                    <a:pt x="165" y="2"/>
                    <a:pt x="134" y="4"/>
                  </a:cubicBezTo>
                  <a:cubicBezTo>
                    <a:pt x="67" y="4"/>
                    <a:pt x="0" y="70"/>
                    <a:pt x="0" y="171"/>
                  </a:cubicBezTo>
                  <a:cubicBezTo>
                    <a:pt x="34" y="237"/>
                    <a:pt x="100" y="304"/>
                    <a:pt x="200" y="304"/>
                  </a:cubicBezTo>
                  <a:cubicBezTo>
                    <a:pt x="227" y="302"/>
                    <a:pt x="254" y="300"/>
                    <a:pt x="281" y="300"/>
                  </a:cubicBezTo>
                  <a:cubicBezTo>
                    <a:pt x="625" y="300"/>
                    <a:pt x="985" y="493"/>
                    <a:pt x="1201" y="771"/>
                  </a:cubicBezTo>
                  <a:cubicBezTo>
                    <a:pt x="1234" y="804"/>
                    <a:pt x="1268" y="804"/>
                    <a:pt x="1334" y="804"/>
                  </a:cubicBezTo>
                  <a:cubicBezTo>
                    <a:pt x="1368" y="804"/>
                    <a:pt x="1401" y="804"/>
                    <a:pt x="1435" y="771"/>
                  </a:cubicBezTo>
                  <a:cubicBezTo>
                    <a:pt x="1468" y="738"/>
                    <a:pt x="1468" y="638"/>
                    <a:pt x="1435" y="571"/>
                  </a:cubicBezTo>
                  <a:cubicBezTo>
                    <a:pt x="1122" y="227"/>
                    <a:pt x="693" y="1"/>
                    <a:pt x="229" y="1"/>
                  </a:cubicBezTo>
                  <a:close/>
                </a:path>
              </a:pathLst>
            </a:custGeom>
            <a:solidFill>
              <a:srgbClr val="FF68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5754;p111">
              <a:extLst>
                <a:ext uri="{FF2B5EF4-FFF2-40B4-BE49-F238E27FC236}">
                  <a16:creationId xmlns:a16="http://schemas.microsoft.com/office/drawing/2014/main" id="{1E82628F-C90E-49DE-0A1C-787B4534A725}"/>
                </a:ext>
              </a:extLst>
            </p:cNvPr>
            <p:cNvSpPr/>
            <p:nvPr/>
          </p:nvSpPr>
          <p:spPr>
            <a:xfrm>
              <a:off x="6282016" y="2219295"/>
              <a:ext cx="13359" cy="7300"/>
            </a:xfrm>
            <a:custGeom>
              <a:avLst/>
              <a:gdLst/>
              <a:ahLst/>
              <a:cxnLst/>
              <a:rect l="l" t="t" r="r" b="b"/>
              <a:pathLst>
                <a:path w="601" h="326" extrusionOk="0">
                  <a:moveTo>
                    <a:pt x="601" y="1"/>
                  </a:moveTo>
                  <a:lnTo>
                    <a:pt x="0" y="234"/>
                  </a:lnTo>
                  <a:cubicBezTo>
                    <a:pt x="73" y="300"/>
                    <a:pt x="143" y="326"/>
                    <a:pt x="208" y="326"/>
                  </a:cubicBezTo>
                  <a:cubicBezTo>
                    <a:pt x="438" y="326"/>
                    <a:pt x="601" y="1"/>
                    <a:pt x="60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5755;p111">
              <a:extLst>
                <a:ext uri="{FF2B5EF4-FFF2-40B4-BE49-F238E27FC236}">
                  <a16:creationId xmlns:a16="http://schemas.microsoft.com/office/drawing/2014/main" id="{FED13FF2-BDB6-B659-E82D-0256945C7A3A}"/>
                </a:ext>
              </a:extLst>
            </p:cNvPr>
            <p:cNvSpPr/>
            <p:nvPr/>
          </p:nvSpPr>
          <p:spPr>
            <a:xfrm>
              <a:off x="6504447" y="3080533"/>
              <a:ext cx="85287" cy="117583"/>
            </a:xfrm>
            <a:custGeom>
              <a:avLst/>
              <a:gdLst/>
              <a:ahLst/>
              <a:cxnLst/>
              <a:rect l="l" t="t" r="r" b="b"/>
              <a:pathLst>
                <a:path w="3837" h="5251" extrusionOk="0">
                  <a:moveTo>
                    <a:pt x="1201" y="1"/>
                  </a:moveTo>
                  <a:cubicBezTo>
                    <a:pt x="267" y="1301"/>
                    <a:pt x="200" y="3370"/>
                    <a:pt x="200" y="3370"/>
                  </a:cubicBezTo>
                  <a:lnTo>
                    <a:pt x="100" y="3970"/>
                  </a:lnTo>
                  <a:cubicBezTo>
                    <a:pt x="0" y="4470"/>
                    <a:pt x="367" y="4971"/>
                    <a:pt x="868" y="5071"/>
                  </a:cubicBezTo>
                  <a:lnTo>
                    <a:pt x="2035" y="5238"/>
                  </a:lnTo>
                  <a:cubicBezTo>
                    <a:pt x="2091" y="5246"/>
                    <a:pt x="2146" y="5250"/>
                    <a:pt x="2200" y="5250"/>
                  </a:cubicBezTo>
                  <a:cubicBezTo>
                    <a:pt x="2569" y="5250"/>
                    <a:pt x="2899" y="5057"/>
                    <a:pt x="3103" y="4737"/>
                  </a:cubicBezTo>
                  <a:lnTo>
                    <a:pt x="3636" y="3937"/>
                  </a:lnTo>
                  <a:cubicBezTo>
                    <a:pt x="3803" y="3636"/>
                    <a:pt x="3836" y="3236"/>
                    <a:pt x="3703" y="2903"/>
                  </a:cubicBezTo>
                  <a:lnTo>
                    <a:pt x="3069" y="1335"/>
                  </a:lnTo>
                  <a:cubicBezTo>
                    <a:pt x="2802" y="701"/>
                    <a:pt x="2269" y="234"/>
                    <a:pt x="1601" y="101"/>
                  </a:cubicBezTo>
                  <a:lnTo>
                    <a:pt x="1201" y="1"/>
                  </a:ln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5756;p111">
              <a:extLst>
                <a:ext uri="{FF2B5EF4-FFF2-40B4-BE49-F238E27FC236}">
                  <a16:creationId xmlns:a16="http://schemas.microsoft.com/office/drawing/2014/main" id="{C021F3F4-244B-4EF9-E187-816C2F1E8275}"/>
                </a:ext>
              </a:extLst>
            </p:cNvPr>
            <p:cNvSpPr/>
            <p:nvPr/>
          </p:nvSpPr>
          <p:spPr>
            <a:xfrm>
              <a:off x="6139649" y="2893041"/>
              <a:ext cx="307718" cy="38403"/>
            </a:xfrm>
            <a:custGeom>
              <a:avLst/>
              <a:gdLst/>
              <a:ahLst/>
              <a:cxnLst/>
              <a:rect l="l" t="t" r="r" b="b"/>
              <a:pathLst>
                <a:path w="13844" h="1715" extrusionOk="0">
                  <a:moveTo>
                    <a:pt x="701" y="1"/>
                  </a:moveTo>
                  <a:cubicBezTo>
                    <a:pt x="568" y="1"/>
                    <a:pt x="468" y="68"/>
                    <a:pt x="401" y="201"/>
                  </a:cubicBezTo>
                  <a:cubicBezTo>
                    <a:pt x="301" y="435"/>
                    <a:pt x="201" y="668"/>
                    <a:pt x="101" y="935"/>
                  </a:cubicBezTo>
                  <a:cubicBezTo>
                    <a:pt x="1" y="1102"/>
                    <a:pt x="134" y="1302"/>
                    <a:pt x="334" y="1335"/>
                  </a:cubicBezTo>
                  <a:cubicBezTo>
                    <a:pt x="2574" y="1590"/>
                    <a:pt x="4822" y="1715"/>
                    <a:pt x="7070" y="1715"/>
                  </a:cubicBezTo>
                  <a:cubicBezTo>
                    <a:pt x="9242" y="1715"/>
                    <a:pt x="11413" y="1598"/>
                    <a:pt x="13577" y="1369"/>
                  </a:cubicBezTo>
                  <a:cubicBezTo>
                    <a:pt x="13744" y="1335"/>
                    <a:pt x="13844" y="1202"/>
                    <a:pt x="13844" y="1035"/>
                  </a:cubicBezTo>
                  <a:cubicBezTo>
                    <a:pt x="13810" y="801"/>
                    <a:pt x="13777" y="535"/>
                    <a:pt x="13744" y="268"/>
                  </a:cubicBezTo>
                  <a:cubicBezTo>
                    <a:pt x="13744" y="101"/>
                    <a:pt x="13610" y="1"/>
                    <a:pt x="13444" y="1"/>
                  </a:cubicBezTo>
                  <a:cubicBezTo>
                    <a:pt x="11325" y="234"/>
                    <a:pt x="9199" y="351"/>
                    <a:pt x="7072" y="351"/>
                  </a:cubicBezTo>
                  <a:cubicBezTo>
                    <a:pt x="4946" y="351"/>
                    <a:pt x="2819" y="234"/>
                    <a:pt x="7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5757;p111">
              <a:extLst>
                <a:ext uri="{FF2B5EF4-FFF2-40B4-BE49-F238E27FC236}">
                  <a16:creationId xmlns:a16="http://schemas.microsoft.com/office/drawing/2014/main" id="{47684E0F-ED6B-70D5-9286-57B47A89AC5E}"/>
                </a:ext>
              </a:extLst>
            </p:cNvPr>
            <p:cNvSpPr/>
            <p:nvPr/>
          </p:nvSpPr>
          <p:spPr>
            <a:xfrm>
              <a:off x="6302021" y="2438898"/>
              <a:ext cx="64526" cy="59788"/>
            </a:xfrm>
            <a:custGeom>
              <a:avLst/>
              <a:gdLst/>
              <a:ahLst/>
              <a:cxnLst/>
              <a:rect l="l" t="t" r="r" b="b"/>
              <a:pathLst>
                <a:path w="2903" h="2670" extrusionOk="0">
                  <a:moveTo>
                    <a:pt x="1" y="1"/>
                  </a:moveTo>
                  <a:lnTo>
                    <a:pt x="1" y="1"/>
                  </a:lnTo>
                  <a:cubicBezTo>
                    <a:pt x="1" y="1"/>
                    <a:pt x="935" y="1001"/>
                    <a:pt x="735" y="2202"/>
                  </a:cubicBezTo>
                  <a:lnTo>
                    <a:pt x="2903" y="2669"/>
                  </a:lnTo>
                  <a:cubicBezTo>
                    <a:pt x="2669" y="1202"/>
                    <a:pt x="1469" y="10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5758;p111">
              <a:extLst>
                <a:ext uri="{FF2B5EF4-FFF2-40B4-BE49-F238E27FC236}">
                  <a16:creationId xmlns:a16="http://schemas.microsoft.com/office/drawing/2014/main" id="{8048C837-EC4D-39C5-067B-436FFFE30D9A}"/>
                </a:ext>
              </a:extLst>
            </p:cNvPr>
            <p:cNvSpPr/>
            <p:nvPr/>
          </p:nvSpPr>
          <p:spPr>
            <a:xfrm>
              <a:off x="6179681" y="2432181"/>
              <a:ext cx="116428" cy="85920"/>
            </a:xfrm>
            <a:custGeom>
              <a:avLst/>
              <a:gdLst/>
              <a:ahLst/>
              <a:cxnLst/>
              <a:rect l="l" t="t" r="r" b="b"/>
              <a:pathLst>
                <a:path w="5238" h="3837" extrusionOk="0">
                  <a:moveTo>
                    <a:pt x="1702" y="0"/>
                  </a:moveTo>
                  <a:lnTo>
                    <a:pt x="401" y="968"/>
                  </a:lnTo>
                  <a:cubicBezTo>
                    <a:pt x="401" y="968"/>
                    <a:pt x="1" y="2469"/>
                    <a:pt x="1735" y="3837"/>
                  </a:cubicBezTo>
                  <a:lnTo>
                    <a:pt x="5238" y="2569"/>
                  </a:lnTo>
                  <a:cubicBezTo>
                    <a:pt x="5238" y="2569"/>
                    <a:pt x="2336" y="901"/>
                    <a:pt x="17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5759;p111">
              <a:extLst>
                <a:ext uri="{FF2B5EF4-FFF2-40B4-BE49-F238E27FC236}">
                  <a16:creationId xmlns:a16="http://schemas.microsoft.com/office/drawing/2014/main" id="{7A38D979-9E52-F1E3-F674-348FFC0A021A}"/>
                </a:ext>
              </a:extLst>
            </p:cNvPr>
            <p:cNvSpPr/>
            <p:nvPr/>
          </p:nvSpPr>
          <p:spPr>
            <a:xfrm>
              <a:off x="6076634" y="2486124"/>
              <a:ext cx="514589" cy="296544"/>
            </a:xfrm>
            <a:custGeom>
              <a:avLst/>
              <a:gdLst/>
              <a:ahLst/>
              <a:cxnLst/>
              <a:rect l="l" t="t" r="r" b="b"/>
              <a:pathLst>
                <a:path w="23151" h="13243" extrusionOk="0">
                  <a:moveTo>
                    <a:pt x="1794" y="0"/>
                  </a:moveTo>
                  <a:cubicBezTo>
                    <a:pt x="1627" y="0"/>
                    <a:pt x="1461" y="29"/>
                    <a:pt x="1301" y="93"/>
                  </a:cubicBezTo>
                  <a:cubicBezTo>
                    <a:pt x="300" y="494"/>
                    <a:pt x="0" y="2128"/>
                    <a:pt x="401" y="3129"/>
                  </a:cubicBezTo>
                  <a:cubicBezTo>
                    <a:pt x="501" y="3329"/>
                    <a:pt x="534" y="3462"/>
                    <a:pt x="601" y="3596"/>
                  </a:cubicBezTo>
                  <a:lnTo>
                    <a:pt x="801" y="4029"/>
                  </a:lnTo>
                  <a:cubicBezTo>
                    <a:pt x="934" y="4263"/>
                    <a:pt x="1068" y="4530"/>
                    <a:pt x="1201" y="4797"/>
                  </a:cubicBezTo>
                  <a:cubicBezTo>
                    <a:pt x="1501" y="5297"/>
                    <a:pt x="1802" y="5797"/>
                    <a:pt x="2102" y="6264"/>
                  </a:cubicBezTo>
                  <a:cubicBezTo>
                    <a:pt x="2769" y="7198"/>
                    <a:pt x="3469" y="8099"/>
                    <a:pt x="4270" y="8966"/>
                  </a:cubicBezTo>
                  <a:cubicBezTo>
                    <a:pt x="5037" y="9800"/>
                    <a:pt x="5904" y="10567"/>
                    <a:pt x="6838" y="11268"/>
                  </a:cubicBezTo>
                  <a:cubicBezTo>
                    <a:pt x="7039" y="11435"/>
                    <a:pt x="7305" y="11601"/>
                    <a:pt x="7539" y="11768"/>
                  </a:cubicBezTo>
                  <a:lnTo>
                    <a:pt x="7906" y="12002"/>
                  </a:lnTo>
                  <a:lnTo>
                    <a:pt x="8073" y="12135"/>
                  </a:lnTo>
                  <a:lnTo>
                    <a:pt x="8340" y="12302"/>
                  </a:lnTo>
                  <a:cubicBezTo>
                    <a:pt x="8973" y="12636"/>
                    <a:pt x="9640" y="12869"/>
                    <a:pt x="10341" y="13002"/>
                  </a:cubicBezTo>
                  <a:cubicBezTo>
                    <a:pt x="11358" y="13148"/>
                    <a:pt x="12349" y="13242"/>
                    <a:pt x="13359" y="13242"/>
                  </a:cubicBezTo>
                  <a:cubicBezTo>
                    <a:pt x="13509" y="13242"/>
                    <a:pt x="13659" y="13240"/>
                    <a:pt x="13810" y="13236"/>
                  </a:cubicBezTo>
                  <a:cubicBezTo>
                    <a:pt x="14944" y="13203"/>
                    <a:pt x="16012" y="13136"/>
                    <a:pt x="17079" y="13002"/>
                  </a:cubicBezTo>
                  <a:cubicBezTo>
                    <a:pt x="19114" y="12769"/>
                    <a:pt x="21149" y="12435"/>
                    <a:pt x="23150" y="11968"/>
                  </a:cubicBezTo>
                  <a:lnTo>
                    <a:pt x="22983" y="9600"/>
                  </a:lnTo>
                  <a:cubicBezTo>
                    <a:pt x="22983" y="9600"/>
                    <a:pt x="18914" y="10200"/>
                    <a:pt x="16912" y="10200"/>
                  </a:cubicBezTo>
                  <a:cubicBezTo>
                    <a:pt x="15912" y="10167"/>
                    <a:pt x="14878" y="10167"/>
                    <a:pt x="13877" y="10100"/>
                  </a:cubicBezTo>
                  <a:cubicBezTo>
                    <a:pt x="12943" y="10034"/>
                    <a:pt x="12009" y="9900"/>
                    <a:pt x="11075" y="9667"/>
                  </a:cubicBezTo>
                  <a:cubicBezTo>
                    <a:pt x="10741" y="9600"/>
                    <a:pt x="10408" y="9467"/>
                    <a:pt x="10141" y="9300"/>
                  </a:cubicBezTo>
                  <a:lnTo>
                    <a:pt x="9640" y="8900"/>
                  </a:lnTo>
                  <a:cubicBezTo>
                    <a:pt x="9474" y="8733"/>
                    <a:pt x="9274" y="8599"/>
                    <a:pt x="9107" y="8433"/>
                  </a:cubicBezTo>
                  <a:cubicBezTo>
                    <a:pt x="8373" y="7799"/>
                    <a:pt x="7706" y="7132"/>
                    <a:pt x="7105" y="6398"/>
                  </a:cubicBezTo>
                  <a:cubicBezTo>
                    <a:pt x="6472" y="5664"/>
                    <a:pt x="5904" y="4897"/>
                    <a:pt x="5371" y="4096"/>
                  </a:cubicBezTo>
                  <a:cubicBezTo>
                    <a:pt x="5104" y="3696"/>
                    <a:pt x="4870" y="3296"/>
                    <a:pt x="4637" y="2862"/>
                  </a:cubicBezTo>
                  <a:cubicBezTo>
                    <a:pt x="4503" y="2662"/>
                    <a:pt x="4403" y="2462"/>
                    <a:pt x="4303" y="2261"/>
                  </a:cubicBezTo>
                  <a:lnTo>
                    <a:pt x="4137" y="1928"/>
                  </a:lnTo>
                  <a:lnTo>
                    <a:pt x="4036" y="1694"/>
                  </a:lnTo>
                  <a:lnTo>
                    <a:pt x="3970" y="1561"/>
                  </a:lnTo>
                  <a:cubicBezTo>
                    <a:pt x="3605" y="804"/>
                    <a:pt x="2676" y="0"/>
                    <a:pt x="17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5760;p111">
              <a:extLst>
                <a:ext uri="{FF2B5EF4-FFF2-40B4-BE49-F238E27FC236}">
                  <a16:creationId xmlns:a16="http://schemas.microsoft.com/office/drawing/2014/main" id="{5624FD52-5BA9-9C6F-6E35-2D74B7B3F13E}"/>
                </a:ext>
              </a:extLst>
            </p:cNvPr>
            <p:cNvSpPr/>
            <p:nvPr/>
          </p:nvSpPr>
          <p:spPr>
            <a:xfrm>
              <a:off x="6563016" y="2692874"/>
              <a:ext cx="33386" cy="68723"/>
            </a:xfrm>
            <a:custGeom>
              <a:avLst/>
              <a:gdLst/>
              <a:ahLst/>
              <a:cxnLst/>
              <a:rect l="l" t="t" r="r" b="b"/>
              <a:pathLst>
                <a:path w="1502" h="3069" extrusionOk="0">
                  <a:moveTo>
                    <a:pt x="1301" y="0"/>
                  </a:moveTo>
                  <a:lnTo>
                    <a:pt x="1" y="33"/>
                  </a:lnTo>
                  <a:lnTo>
                    <a:pt x="234" y="3069"/>
                  </a:lnTo>
                  <a:lnTo>
                    <a:pt x="1502" y="2835"/>
                  </a:lnTo>
                  <a:lnTo>
                    <a:pt x="13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5761;p111">
              <a:extLst>
                <a:ext uri="{FF2B5EF4-FFF2-40B4-BE49-F238E27FC236}">
                  <a16:creationId xmlns:a16="http://schemas.microsoft.com/office/drawing/2014/main" id="{26A31D36-E0BD-C127-0F05-45109D7E08B1}"/>
                </a:ext>
              </a:extLst>
            </p:cNvPr>
            <p:cNvSpPr/>
            <p:nvPr/>
          </p:nvSpPr>
          <p:spPr>
            <a:xfrm>
              <a:off x="6500735" y="3066336"/>
              <a:ext cx="70461" cy="41852"/>
            </a:xfrm>
            <a:custGeom>
              <a:avLst/>
              <a:gdLst/>
              <a:ahLst/>
              <a:cxnLst/>
              <a:rect l="l" t="t" r="r" b="b"/>
              <a:pathLst>
                <a:path w="3170" h="1869" extrusionOk="0">
                  <a:moveTo>
                    <a:pt x="2969" y="1"/>
                  </a:moveTo>
                  <a:lnTo>
                    <a:pt x="1" y="668"/>
                  </a:lnTo>
                  <a:lnTo>
                    <a:pt x="401" y="1869"/>
                  </a:lnTo>
                  <a:lnTo>
                    <a:pt x="3169" y="1268"/>
                  </a:lnTo>
                  <a:lnTo>
                    <a:pt x="296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Google Shape;1663;p58">
            <a:extLst>
              <a:ext uri="{FF2B5EF4-FFF2-40B4-BE49-F238E27FC236}">
                <a16:creationId xmlns:a16="http://schemas.microsoft.com/office/drawing/2014/main" id="{E6A9795C-4344-8E34-1D9B-B57ED63FF28D}"/>
              </a:ext>
            </a:extLst>
          </p:cNvPr>
          <p:cNvSpPr txBox="1">
            <a:spLocks/>
          </p:cNvSpPr>
          <p:nvPr/>
        </p:nvSpPr>
        <p:spPr>
          <a:xfrm>
            <a:off x="1457829" y="2783063"/>
            <a:ext cx="4739771" cy="2752115"/>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sz="8800" dirty="0">
                <a:solidFill>
                  <a:schemeClr val="bg1"/>
                </a:solidFill>
                <a:latin typeface="Arial Black" panose="020B0A04020102020204" pitchFamily="34" charset="0"/>
              </a:rPr>
              <a:t>Thank</a:t>
            </a:r>
          </a:p>
          <a:p>
            <a:pPr>
              <a:spcBef>
                <a:spcPts val="0"/>
              </a:spcBef>
            </a:pPr>
            <a:r>
              <a:rPr lang="en-US" sz="8800" dirty="0">
                <a:solidFill>
                  <a:schemeClr val="bg1"/>
                </a:solidFill>
                <a:latin typeface="Arial Black" panose="020B0A04020102020204" pitchFamily="34" charset="0"/>
              </a:rPr>
              <a:t>You</a:t>
            </a:r>
          </a:p>
        </p:txBody>
      </p:sp>
    </p:spTree>
    <p:extLst>
      <p:ext uri="{BB962C8B-B14F-4D97-AF65-F5344CB8AC3E}">
        <p14:creationId xmlns:p14="http://schemas.microsoft.com/office/powerpoint/2010/main" val="1379788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5782</TotalTime>
  <Words>942</Words>
  <Application>Microsoft Office PowerPoint</Application>
  <PresentationFormat>Widescreen</PresentationFormat>
  <Paragraphs>100</Paragraphs>
  <Slides>16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Arial Black</vt:lpstr>
      <vt:lpstr>Britannic Bold</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dc:creator>
  <cp:lastModifiedBy>Admin</cp:lastModifiedBy>
  <cp:revision>9</cp:revision>
  <dcterms:created xsi:type="dcterms:W3CDTF">2026-03-29T21:17:09Z</dcterms:created>
  <dcterms:modified xsi:type="dcterms:W3CDTF">2026-04-03T08:57:34Z</dcterms:modified>
</cp:coreProperties>
</file>